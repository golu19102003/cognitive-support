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58" r:id="rId5"/>
    <p:sldId id="275" r:id="rId6"/>
    <p:sldId id="260" r:id="rId7"/>
    <p:sldId id="268" r:id="rId8"/>
    <p:sldId id="276" r:id="rId9"/>
    <p:sldId id="270" r:id="rId10"/>
    <p:sldId id="271" r:id="rId11"/>
    <p:sldId id="272" r:id="rId12"/>
    <p:sldId id="273" r:id="rId13"/>
    <p:sldId id="267" r:id="rId14"/>
    <p:sldId id="266" r:id="rId15"/>
    <p:sldId id="277" r:id="rId16"/>
    <p:sldId id="264" r:id="rId17"/>
    <p:sldId id="265" r:id="rId18"/>
  </p:sldIdLst>
  <p:sldSz cx="18288000" cy="10287000"/>
  <p:notesSz cx="6858000" cy="9144000"/>
  <p:embeddedFontLst>
    <p:embeddedFont>
      <p:font typeface="Arial Black" panose="020B0A04020102020204" pitchFamily="34" charset="0"/>
      <p:bold r:id="rId19"/>
    </p:embeddedFont>
    <p:embeddedFont>
      <p:font typeface="Lucida Sans" panose="020B0602030504020204" pitchFamily="34" charset="0"/>
      <p:regular r:id="rId20"/>
      <p:bold r:id="rId21"/>
      <p:italic r:id="rId22"/>
      <p:boldItalic r:id="rId23"/>
    </p:embeddedFont>
    <p:embeddedFont>
      <p:font typeface="Poppins" panose="00000500000000000000" pitchFamily="2"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FEEE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22" autoAdjust="0"/>
  </p:normalViewPr>
  <p:slideViewPr>
    <p:cSldViewPr>
      <p:cViewPr varScale="1">
        <p:scale>
          <a:sx n="55" d="100"/>
          <a:sy n="55" d="100"/>
        </p:scale>
        <p:origin x="68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9000">
              <a:schemeClr val="accent1">
                <a:lumMod val="5000"/>
                <a:lumOff val="95000"/>
                <a:alpha val="22000"/>
              </a:schemeClr>
            </a:gs>
            <a:gs pos="100000">
              <a:srgbClr val="FF0000">
                <a:alpha val="54000"/>
                <a:lumMod val="84000"/>
                <a:lumOff val="16000"/>
              </a:srgb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png"/><Relationship Id="rId5" Type="http://schemas.openxmlformats.org/officeDocument/2006/relationships/image" Target="../media/image10.svg"/><Relationship Id="rId10"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1.png"/><Relationship Id="rId5" Type="http://schemas.openxmlformats.org/officeDocument/2006/relationships/image" Target="../media/image28.svg"/><Relationship Id="rId10" Type="http://schemas.openxmlformats.org/officeDocument/2006/relationships/image" Target="../media/image2.png"/><Relationship Id="rId4" Type="http://schemas.openxmlformats.org/officeDocument/2006/relationships/image" Target="../media/image27.png"/><Relationship Id="rId9" Type="http://schemas.openxmlformats.org/officeDocument/2006/relationships/image" Target="../media/image32.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Box 12"/>
          <p:cNvSpPr txBox="1"/>
          <p:nvPr/>
        </p:nvSpPr>
        <p:spPr>
          <a:xfrm>
            <a:off x="3632948" y="1604114"/>
            <a:ext cx="11328092" cy="2539862"/>
          </a:xfrm>
          <a:prstGeom prst="rect">
            <a:avLst/>
          </a:prstGeom>
        </p:spPr>
        <p:txBody>
          <a:bodyPr wrap="square" lIns="0" tIns="0" rIns="0" bIns="0" rtlCol="0" anchor="t">
            <a:spAutoFit/>
          </a:bodyPr>
          <a:lstStyle/>
          <a:p>
            <a:pPr algn="ctr">
              <a:lnSpc>
                <a:spcPts val="22457"/>
              </a:lnSpc>
            </a:pPr>
            <a:r>
              <a:rPr lang="en-US" sz="11100" dirty="0">
                <a:solidFill>
                  <a:srgbClr val="000000"/>
                </a:solidFill>
                <a:latin typeface="Telegraf Bold Bold"/>
              </a:rPr>
              <a:t>Pitch Deck</a:t>
            </a:r>
          </a:p>
        </p:txBody>
      </p:sp>
      <p:sp>
        <p:nvSpPr>
          <p:cNvPr id="13" name="TextBox 13"/>
          <p:cNvSpPr txBox="1"/>
          <p:nvPr/>
        </p:nvSpPr>
        <p:spPr>
          <a:xfrm>
            <a:off x="1095374" y="3935878"/>
            <a:ext cx="16230600" cy="750570"/>
          </a:xfrm>
          <a:prstGeom prst="rect">
            <a:avLst/>
          </a:prstGeom>
        </p:spPr>
        <p:txBody>
          <a:bodyPr lIns="0" tIns="0" rIns="0" bIns="0" rtlCol="0" anchor="t">
            <a:spAutoFit/>
          </a:bodyPr>
          <a:lstStyle/>
          <a:p>
            <a:pPr algn="ctr">
              <a:lnSpc>
                <a:spcPts val="5880"/>
              </a:lnSpc>
            </a:pPr>
            <a:r>
              <a:rPr lang="en-US" sz="4200" spc="1058" dirty="0">
                <a:solidFill>
                  <a:srgbClr val="000000"/>
                </a:solidFill>
                <a:latin typeface="Poppins"/>
              </a:rPr>
              <a:t>PRESENTATION</a:t>
            </a:r>
          </a:p>
        </p:txBody>
      </p:sp>
      <p:sp>
        <p:nvSpPr>
          <p:cNvPr id="17" name="TextBox 12">
            <a:extLst>
              <a:ext uri="{FF2B5EF4-FFF2-40B4-BE49-F238E27FC236}">
                <a16:creationId xmlns:a16="http://schemas.microsoft.com/office/drawing/2014/main" id="{0BC9AEEC-AF4C-9961-99B2-A2F752CEA014}"/>
              </a:ext>
            </a:extLst>
          </p:cNvPr>
          <p:cNvSpPr txBox="1"/>
          <p:nvPr/>
        </p:nvSpPr>
        <p:spPr>
          <a:xfrm>
            <a:off x="1828800" y="3981984"/>
            <a:ext cx="15497174" cy="2299476"/>
          </a:xfrm>
          <a:prstGeom prst="rect">
            <a:avLst/>
          </a:prstGeom>
        </p:spPr>
        <p:txBody>
          <a:bodyPr wrap="square" lIns="0" tIns="0" rIns="0" bIns="0" rtlCol="0" anchor="ctr">
            <a:spAutoFit/>
          </a:bodyPr>
          <a:lstStyle/>
          <a:p>
            <a:pPr algn="ctr">
              <a:lnSpc>
                <a:spcPts val="22457"/>
              </a:lnSpc>
            </a:pPr>
            <a:r>
              <a:rPr lang="en-US" sz="4000" dirty="0" err="1">
                <a:latin typeface="+mj-lt"/>
                <a:cs typeface="Times New Roman" panose="02020603050405020304" pitchFamily="18" charset="0"/>
              </a:rPr>
              <a:t>Prihub</a:t>
            </a:r>
            <a:r>
              <a:rPr lang="en-US" sz="4000" dirty="0">
                <a:latin typeface="+mj-lt"/>
                <a:cs typeface="Times New Roman" panose="02020603050405020304" pitchFamily="18" charset="0"/>
              </a:rPr>
              <a:t>: A Full Stack Platform for Individuals with Cognitive Disabilities</a:t>
            </a:r>
            <a:endParaRPr lang="en-US" sz="4000" dirty="0">
              <a:solidFill>
                <a:srgbClr val="000000"/>
              </a:solidFill>
              <a:latin typeface="+mj-lt"/>
              <a:cs typeface="Times New Roman" panose="02020603050405020304" pitchFamily="18" charset="0"/>
            </a:endParaRPr>
          </a:p>
        </p:txBody>
      </p:sp>
      <p:sp>
        <p:nvSpPr>
          <p:cNvPr id="34" name="TextBox 33">
            <a:extLst>
              <a:ext uri="{FF2B5EF4-FFF2-40B4-BE49-F238E27FC236}">
                <a16:creationId xmlns:a16="http://schemas.microsoft.com/office/drawing/2014/main" id="{710144DB-86B4-10FF-0EF5-9BDB8ED4A0F9}"/>
              </a:ext>
            </a:extLst>
          </p:cNvPr>
          <p:cNvSpPr txBox="1"/>
          <p:nvPr/>
        </p:nvSpPr>
        <p:spPr>
          <a:xfrm>
            <a:off x="457200" y="7886700"/>
            <a:ext cx="7543800" cy="523220"/>
          </a:xfrm>
          <a:prstGeom prst="rect">
            <a:avLst/>
          </a:prstGeom>
          <a:solidFill>
            <a:srgbClr val="FF0000"/>
          </a:solidFill>
        </p:spPr>
        <p:txBody>
          <a:bodyPr wrap="square" rtlCol="0">
            <a:spAutoFit/>
          </a:bodyPr>
          <a:lstStyle/>
          <a:p>
            <a:r>
              <a:rPr lang="en-IN" sz="2800" dirty="0">
                <a:solidFill>
                  <a:schemeClr val="bg1"/>
                </a:solidFill>
              </a:rPr>
              <a:t>PELHEIBA KHANGEBAM – 22EARCS121</a:t>
            </a:r>
            <a:endParaRPr lang="en-IN" dirty="0">
              <a:solidFill>
                <a:schemeClr val="bg1"/>
              </a:solidFill>
            </a:endParaRPr>
          </a:p>
        </p:txBody>
      </p:sp>
      <p:sp>
        <p:nvSpPr>
          <p:cNvPr id="35" name="TextBox 34">
            <a:extLst>
              <a:ext uri="{FF2B5EF4-FFF2-40B4-BE49-F238E27FC236}">
                <a16:creationId xmlns:a16="http://schemas.microsoft.com/office/drawing/2014/main" id="{9D33645A-26E3-9EA7-BBF2-EF2931180128}"/>
              </a:ext>
            </a:extLst>
          </p:cNvPr>
          <p:cNvSpPr txBox="1"/>
          <p:nvPr/>
        </p:nvSpPr>
        <p:spPr>
          <a:xfrm>
            <a:off x="10287002" y="8183714"/>
            <a:ext cx="7617757" cy="1384995"/>
          </a:xfrm>
          <a:prstGeom prst="rect">
            <a:avLst/>
          </a:prstGeom>
          <a:solidFill>
            <a:srgbClr val="00B0F0"/>
          </a:solidFill>
        </p:spPr>
        <p:txBody>
          <a:bodyPr wrap="square" rtlCol="0">
            <a:spAutoFit/>
          </a:bodyPr>
          <a:lstStyle/>
          <a:p>
            <a:pPr algn="ctr"/>
            <a:endParaRPr lang="en-IN" sz="2800" b="1" dirty="0">
              <a:solidFill>
                <a:schemeClr val="bg1"/>
              </a:solidFill>
            </a:endParaRPr>
          </a:p>
          <a:p>
            <a:pPr algn="ctr"/>
            <a:r>
              <a:rPr lang="en-IN" sz="2800" b="1" dirty="0">
                <a:solidFill>
                  <a:schemeClr val="bg1"/>
                </a:solidFill>
              </a:rPr>
              <a:t>Name of Mentor: Dr. Vishal Shrivastava </a:t>
            </a:r>
          </a:p>
          <a:p>
            <a:pPr algn="ctr"/>
            <a:r>
              <a:rPr lang="en-IN" sz="2800" b="1" dirty="0">
                <a:solidFill>
                  <a:schemeClr val="bg1"/>
                </a:solidFill>
              </a:rPr>
              <a:t>                    </a:t>
            </a:r>
            <a:endParaRPr lang="en-IN" b="1" dirty="0">
              <a:solidFill>
                <a:schemeClr val="bg1"/>
              </a:solidFill>
            </a:endParaRPr>
          </a:p>
        </p:txBody>
      </p:sp>
      <p:sp>
        <p:nvSpPr>
          <p:cNvPr id="36" name="TextBox 35">
            <a:extLst>
              <a:ext uri="{FF2B5EF4-FFF2-40B4-BE49-F238E27FC236}">
                <a16:creationId xmlns:a16="http://schemas.microsoft.com/office/drawing/2014/main" id="{D7EB9E2E-760D-3AE6-52EA-64851A041ACD}"/>
              </a:ext>
            </a:extLst>
          </p:cNvPr>
          <p:cNvSpPr txBox="1"/>
          <p:nvPr/>
        </p:nvSpPr>
        <p:spPr>
          <a:xfrm>
            <a:off x="457200" y="7144838"/>
            <a:ext cx="7543800" cy="523220"/>
          </a:xfrm>
          <a:prstGeom prst="rect">
            <a:avLst/>
          </a:prstGeom>
          <a:solidFill>
            <a:srgbClr val="FF0000"/>
          </a:solidFill>
        </p:spPr>
        <p:txBody>
          <a:bodyPr wrap="square" rtlCol="0">
            <a:spAutoFit/>
          </a:bodyPr>
          <a:lstStyle/>
          <a:p>
            <a:r>
              <a:rPr lang="en-IN" sz="2800" dirty="0">
                <a:solidFill>
                  <a:schemeClr val="bg1"/>
                </a:solidFill>
              </a:rPr>
              <a:t>KETAN CHOWDHURY –  22EARCS082  </a:t>
            </a:r>
            <a:endParaRPr lang="en-IN" dirty="0">
              <a:solidFill>
                <a:schemeClr val="bg1"/>
              </a:solidFill>
            </a:endParaRPr>
          </a:p>
        </p:txBody>
      </p:sp>
      <p:sp>
        <p:nvSpPr>
          <p:cNvPr id="37" name="TextBox 36">
            <a:extLst>
              <a:ext uri="{FF2B5EF4-FFF2-40B4-BE49-F238E27FC236}">
                <a16:creationId xmlns:a16="http://schemas.microsoft.com/office/drawing/2014/main" id="{D560416E-419E-763D-0538-46FD2A734A7A}"/>
              </a:ext>
            </a:extLst>
          </p:cNvPr>
          <p:cNvSpPr txBox="1"/>
          <p:nvPr/>
        </p:nvSpPr>
        <p:spPr>
          <a:xfrm>
            <a:off x="457200" y="8665680"/>
            <a:ext cx="7543800" cy="523220"/>
          </a:xfrm>
          <a:prstGeom prst="rect">
            <a:avLst/>
          </a:prstGeom>
          <a:solidFill>
            <a:srgbClr val="FF0000"/>
          </a:solidFill>
        </p:spPr>
        <p:txBody>
          <a:bodyPr wrap="square" rtlCol="0">
            <a:spAutoFit/>
          </a:bodyPr>
          <a:lstStyle/>
          <a:p>
            <a:r>
              <a:rPr lang="en-IN" sz="2800" dirty="0">
                <a:solidFill>
                  <a:schemeClr val="bg1"/>
                </a:solidFill>
              </a:rPr>
              <a:t>PRANJAL KHANDELWAL – 22EARCS125</a:t>
            </a:r>
          </a:p>
        </p:txBody>
      </p:sp>
      <p:sp>
        <p:nvSpPr>
          <p:cNvPr id="38" name="TextBox 37">
            <a:extLst>
              <a:ext uri="{FF2B5EF4-FFF2-40B4-BE49-F238E27FC236}">
                <a16:creationId xmlns:a16="http://schemas.microsoft.com/office/drawing/2014/main" id="{16C417FF-22E7-BE3E-1FD7-7E6D344DC218}"/>
              </a:ext>
            </a:extLst>
          </p:cNvPr>
          <p:cNvSpPr txBox="1"/>
          <p:nvPr/>
        </p:nvSpPr>
        <p:spPr>
          <a:xfrm>
            <a:off x="457200" y="9444660"/>
            <a:ext cx="7543800" cy="523220"/>
          </a:xfrm>
          <a:prstGeom prst="rect">
            <a:avLst/>
          </a:prstGeom>
          <a:solidFill>
            <a:srgbClr val="FF0000"/>
          </a:solidFill>
        </p:spPr>
        <p:txBody>
          <a:bodyPr wrap="square" rtlCol="0">
            <a:spAutoFit/>
          </a:bodyPr>
          <a:lstStyle/>
          <a:p>
            <a:r>
              <a:rPr lang="en-IN" sz="2800" dirty="0">
                <a:solidFill>
                  <a:schemeClr val="bg1"/>
                </a:solidFill>
              </a:rPr>
              <a:t>VISHAKHA TOMAR – 22EARCS185</a:t>
            </a:r>
            <a:endParaRPr lang="en-IN" dirty="0">
              <a:solidFill>
                <a:schemeClr val="bg1"/>
              </a:solidFill>
            </a:endParaRPr>
          </a:p>
        </p:txBody>
      </p:sp>
      <p:pic>
        <p:nvPicPr>
          <p:cNvPr id="3" name="Picture 2">
            <a:extLst>
              <a:ext uri="{FF2B5EF4-FFF2-40B4-BE49-F238E27FC236}">
                <a16:creationId xmlns:a16="http://schemas.microsoft.com/office/drawing/2014/main" id="{E441B8DF-5005-E38A-2198-705991EB616D}"/>
              </a:ext>
            </a:extLst>
          </p:cNvPr>
          <p:cNvPicPr>
            <a:picLocks noChangeAspect="1"/>
          </p:cNvPicPr>
          <p:nvPr/>
        </p:nvPicPr>
        <p:blipFill>
          <a:blip r:embed="rId2" cstate="print"/>
          <a:stretch>
            <a:fillRect/>
          </a:stretch>
        </p:blipFill>
        <p:spPr>
          <a:xfrm>
            <a:off x="1" y="289561"/>
            <a:ext cx="3352799" cy="886633"/>
          </a:xfrm>
          <a:prstGeom prst="rect">
            <a:avLst/>
          </a:prstGeom>
        </p:spPr>
      </p:pic>
      <p:pic>
        <p:nvPicPr>
          <p:cNvPr id="14" name="Picture 13">
            <a:extLst>
              <a:ext uri="{FF2B5EF4-FFF2-40B4-BE49-F238E27FC236}">
                <a16:creationId xmlns:a16="http://schemas.microsoft.com/office/drawing/2014/main" id="{FE04FD0E-5B6F-9E95-7BE5-A2E28EC145EA}"/>
              </a:ext>
            </a:extLst>
          </p:cNvPr>
          <p:cNvPicPr>
            <a:picLocks noChangeAspect="1"/>
          </p:cNvPicPr>
          <p:nvPr/>
        </p:nvPicPr>
        <p:blipFill>
          <a:blip r:embed="rId3" cstate="print"/>
          <a:stretch>
            <a:fillRect/>
          </a:stretch>
        </p:blipFill>
        <p:spPr>
          <a:xfrm>
            <a:off x="14572328" y="0"/>
            <a:ext cx="3715672" cy="13495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533401" y="2661321"/>
            <a:ext cx="4305028" cy="5864024"/>
            <a:chOff x="0" y="0"/>
            <a:chExt cx="1334464" cy="1679886"/>
          </a:xfrm>
        </p:grpSpPr>
        <p:sp>
          <p:nvSpPr>
            <p:cNvPr id="3" name="Freeform 3"/>
            <p:cNvSpPr/>
            <p:nvPr/>
          </p:nvSpPr>
          <p:spPr>
            <a:xfrm>
              <a:off x="0" y="0"/>
              <a:ext cx="1334464" cy="1679886"/>
            </a:xfrm>
            <a:custGeom>
              <a:avLst/>
              <a:gdLst/>
              <a:ahLst/>
              <a:cxnLst/>
              <a:rect l="l" t="t" r="r" b="b"/>
              <a:pathLst>
                <a:path w="1334464" h="1679886">
                  <a:moveTo>
                    <a:pt x="77927" y="0"/>
                  </a:moveTo>
                  <a:lnTo>
                    <a:pt x="1256537" y="0"/>
                  </a:lnTo>
                  <a:cubicBezTo>
                    <a:pt x="1277204" y="0"/>
                    <a:pt x="1297025" y="8210"/>
                    <a:pt x="1311639" y="22824"/>
                  </a:cubicBezTo>
                  <a:cubicBezTo>
                    <a:pt x="1326254" y="37438"/>
                    <a:pt x="1334464" y="57259"/>
                    <a:pt x="1334464" y="77927"/>
                  </a:cubicBezTo>
                  <a:lnTo>
                    <a:pt x="1334464" y="1601960"/>
                  </a:lnTo>
                  <a:cubicBezTo>
                    <a:pt x="1334464" y="1622627"/>
                    <a:pt x="1326254" y="1642448"/>
                    <a:pt x="1311639" y="1657062"/>
                  </a:cubicBezTo>
                  <a:cubicBezTo>
                    <a:pt x="1297025" y="1671676"/>
                    <a:pt x="1277204" y="1679886"/>
                    <a:pt x="1256537" y="1679886"/>
                  </a:cubicBezTo>
                  <a:lnTo>
                    <a:pt x="77927" y="1679886"/>
                  </a:lnTo>
                  <a:cubicBezTo>
                    <a:pt x="57259" y="1679886"/>
                    <a:pt x="37438" y="1671676"/>
                    <a:pt x="22824" y="1657062"/>
                  </a:cubicBezTo>
                  <a:cubicBezTo>
                    <a:pt x="8210" y="1642448"/>
                    <a:pt x="0" y="1622627"/>
                    <a:pt x="0" y="1601960"/>
                  </a:cubicBezTo>
                  <a:lnTo>
                    <a:pt x="0" y="77927"/>
                  </a:lnTo>
                  <a:cubicBezTo>
                    <a:pt x="0" y="57259"/>
                    <a:pt x="8210" y="37438"/>
                    <a:pt x="22824" y="22824"/>
                  </a:cubicBezTo>
                  <a:cubicBezTo>
                    <a:pt x="37438" y="8210"/>
                    <a:pt x="57259" y="0"/>
                    <a:pt x="77927" y="0"/>
                  </a:cubicBezTo>
                  <a:close/>
                </a:path>
              </a:pathLst>
            </a:custGeom>
            <a:solidFill>
              <a:srgbClr val="F5F5F5"/>
            </a:solidFill>
          </p:spPr>
          <p:txBody>
            <a:bodyPr/>
            <a:lstStyle/>
            <a:p>
              <a:endParaRPr lang="en-IN"/>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5" name="Group 5"/>
          <p:cNvGrpSpPr/>
          <p:nvPr/>
        </p:nvGrpSpPr>
        <p:grpSpPr>
          <a:xfrm>
            <a:off x="5156473" y="2724785"/>
            <a:ext cx="4028744" cy="5864024"/>
            <a:chOff x="0" y="0"/>
            <a:chExt cx="1334464" cy="1679886"/>
          </a:xfrm>
        </p:grpSpPr>
        <p:sp>
          <p:nvSpPr>
            <p:cNvPr id="6" name="Freeform 6"/>
            <p:cNvSpPr/>
            <p:nvPr/>
          </p:nvSpPr>
          <p:spPr>
            <a:xfrm>
              <a:off x="0" y="0"/>
              <a:ext cx="1334464" cy="1679886"/>
            </a:xfrm>
            <a:custGeom>
              <a:avLst/>
              <a:gdLst/>
              <a:ahLst/>
              <a:cxnLst/>
              <a:rect l="l" t="t" r="r" b="b"/>
              <a:pathLst>
                <a:path w="1334464" h="1679886">
                  <a:moveTo>
                    <a:pt x="77927" y="0"/>
                  </a:moveTo>
                  <a:lnTo>
                    <a:pt x="1256537" y="0"/>
                  </a:lnTo>
                  <a:cubicBezTo>
                    <a:pt x="1277204" y="0"/>
                    <a:pt x="1297025" y="8210"/>
                    <a:pt x="1311639" y="22824"/>
                  </a:cubicBezTo>
                  <a:cubicBezTo>
                    <a:pt x="1326254" y="37438"/>
                    <a:pt x="1334464" y="57259"/>
                    <a:pt x="1334464" y="77927"/>
                  </a:cubicBezTo>
                  <a:lnTo>
                    <a:pt x="1334464" y="1601960"/>
                  </a:lnTo>
                  <a:cubicBezTo>
                    <a:pt x="1334464" y="1622627"/>
                    <a:pt x="1326254" y="1642448"/>
                    <a:pt x="1311639" y="1657062"/>
                  </a:cubicBezTo>
                  <a:cubicBezTo>
                    <a:pt x="1297025" y="1671676"/>
                    <a:pt x="1277204" y="1679886"/>
                    <a:pt x="1256537" y="1679886"/>
                  </a:cubicBezTo>
                  <a:lnTo>
                    <a:pt x="77927" y="1679886"/>
                  </a:lnTo>
                  <a:cubicBezTo>
                    <a:pt x="57259" y="1679886"/>
                    <a:pt x="37438" y="1671676"/>
                    <a:pt x="22824" y="1657062"/>
                  </a:cubicBezTo>
                  <a:cubicBezTo>
                    <a:pt x="8210" y="1642448"/>
                    <a:pt x="0" y="1622627"/>
                    <a:pt x="0" y="1601960"/>
                  </a:cubicBezTo>
                  <a:lnTo>
                    <a:pt x="0" y="77927"/>
                  </a:lnTo>
                  <a:cubicBezTo>
                    <a:pt x="0" y="57259"/>
                    <a:pt x="8210" y="37438"/>
                    <a:pt x="22824" y="22824"/>
                  </a:cubicBezTo>
                  <a:cubicBezTo>
                    <a:pt x="37438" y="8210"/>
                    <a:pt x="57259" y="0"/>
                    <a:pt x="77927" y="0"/>
                  </a:cubicBezTo>
                  <a:close/>
                </a:path>
              </a:pathLst>
            </a:custGeom>
            <a:solidFill>
              <a:srgbClr val="F5F5F5"/>
            </a:solidFill>
          </p:spPr>
          <p:txBody>
            <a:bodyPr/>
            <a:lstStyle/>
            <a:p>
              <a:endParaRPr lang="en-IN"/>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 name="Group 8"/>
          <p:cNvGrpSpPr/>
          <p:nvPr/>
        </p:nvGrpSpPr>
        <p:grpSpPr>
          <a:xfrm>
            <a:off x="13831268" y="2766675"/>
            <a:ext cx="4037125" cy="5858141"/>
            <a:chOff x="0" y="0"/>
            <a:chExt cx="1334464" cy="1679886"/>
          </a:xfrm>
        </p:grpSpPr>
        <p:sp>
          <p:nvSpPr>
            <p:cNvPr id="9" name="Freeform 9"/>
            <p:cNvSpPr/>
            <p:nvPr/>
          </p:nvSpPr>
          <p:spPr>
            <a:xfrm>
              <a:off x="0" y="0"/>
              <a:ext cx="1334464" cy="1679886"/>
            </a:xfrm>
            <a:custGeom>
              <a:avLst/>
              <a:gdLst/>
              <a:ahLst/>
              <a:cxnLst/>
              <a:rect l="l" t="t" r="r" b="b"/>
              <a:pathLst>
                <a:path w="1334464" h="1679886">
                  <a:moveTo>
                    <a:pt x="77927" y="0"/>
                  </a:moveTo>
                  <a:lnTo>
                    <a:pt x="1256537" y="0"/>
                  </a:lnTo>
                  <a:cubicBezTo>
                    <a:pt x="1277204" y="0"/>
                    <a:pt x="1297025" y="8210"/>
                    <a:pt x="1311639" y="22824"/>
                  </a:cubicBezTo>
                  <a:cubicBezTo>
                    <a:pt x="1326254" y="37438"/>
                    <a:pt x="1334464" y="57259"/>
                    <a:pt x="1334464" y="77927"/>
                  </a:cubicBezTo>
                  <a:lnTo>
                    <a:pt x="1334464" y="1601960"/>
                  </a:lnTo>
                  <a:cubicBezTo>
                    <a:pt x="1334464" y="1622627"/>
                    <a:pt x="1326254" y="1642448"/>
                    <a:pt x="1311639" y="1657062"/>
                  </a:cubicBezTo>
                  <a:cubicBezTo>
                    <a:pt x="1297025" y="1671676"/>
                    <a:pt x="1277204" y="1679886"/>
                    <a:pt x="1256537" y="1679886"/>
                  </a:cubicBezTo>
                  <a:lnTo>
                    <a:pt x="77927" y="1679886"/>
                  </a:lnTo>
                  <a:cubicBezTo>
                    <a:pt x="57259" y="1679886"/>
                    <a:pt x="37438" y="1671676"/>
                    <a:pt x="22824" y="1657062"/>
                  </a:cubicBezTo>
                  <a:cubicBezTo>
                    <a:pt x="8210" y="1642448"/>
                    <a:pt x="0" y="1622627"/>
                    <a:pt x="0" y="1601960"/>
                  </a:cubicBezTo>
                  <a:lnTo>
                    <a:pt x="0" y="77927"/>
                  </a:lnTo>
                  <a:cubicBezTo>
                    <a:pt x="0" y="57259"/>
                    <a:pt x="8210" y="37438"/>
                    <a:pt x="22824" y="22824"/>
                  </a:cubicBezTo>
                  <a:cubicBezTo>
                    <a:pt x="37438" y="8210"/>
                    <a:pt x="57259" y="0"/>
                    <a:pt x="77927" y="0"/>
                  </a:cubicBezTo>
                  <a:close/>
                </a:path>
              </a:pathLst>
            </a:custGeom>
            <a:solidFill>
              <a:srgbClr val="F5F5F5"/>
            </a:solidFill>
          </p:spPr>
          <p:txBody>
            <a:bodyPr/>
            <a:lstStyle/>
            <a:p>
              <a:endParaRPr lang="en-IN"/>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a:off x="1755511" y="2704599"/>
            <a:ext cx="1887522" cy="1882744"/>
            <a:chOff x="0" y="0"/>
            <a:chExt cx="406400" cy="405371"/>
          </a:xfrm>
        </p:grpSpPr>
        <p:sp>
          <p:nvSpPr>
            <p:cNvPr id="12" name="Freeform 12"/>
            <p:cNvSpPr/>
            <p:nvPr/>
          </p:nvSpPr>
          <p:spPr>
            <a:xfrm>
              <a:off x="0" y="0"/>
              <a:ext cx="406400" cy="405371"/>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4" name="Group 14"/>
          <p:cNvGrpSpPr/>
          <p:nvPr/>
        </p:nvGrpSpPr>
        <p:grpSpPr>
          <a:xfrm>
            <a:off x="6267682" y="2755958"/>
            <a:ext cx="1887522" cy="1882744"/>
            <a:chOff x="0" y="0"/>
            <a:chExt cx="406400" cy="405371"/>
          </a:xfrm>
        </p:grpSpPr>
        <p:sp>
          <p:nvSpPr>
            <p:cNvPr id="15" name="Freeform 15"/>
            <p:cNvSpPr/>
            <p:nvPr/>
          </p:nvSpPr>
          <p:spPr>
            <a:xfrm>
              <a:off x="0" y="0"/>
              <a:ext cx="406400" cy="405371"/>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16" name="TextBox 16"/>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19" name="TextBox 19"/>
          <p:cNvSpPr txBox="1"/>
          <p:nvPr/>
        </p:nvSpPr>
        <p:spPr>
          <a:xfrm>
            <a:off x="10744581" y="644900"/>
            <a:ext cx="3775044" cy="3952002"/>
          </a:xfrm>
          <a:prstGeom prst="rect">
            <a:avLst/>
          </a:prstGeom>
        </p:spPr>
        <p:txBody>
          <a:bodyPr lIns="50800" tIns="50800" rIns="50800" bIns="50800" rtlCol="0" anchor="ctr"/>
          <a:lstStyle/>
          <a:p>
            <a:pPr algn="ctr">
              <a:lnSpc>
                <a:spcPts val="3360"/>
              </a:lnSpc>
            </a:pPr>
            <a:endParaRPr/>
          </a:p>
        </p:txBody>
      </p:sp>
      <p:sp>
        <p:nvSpPr>
          <p:cNvPr id="20" name="TextBox 20"/>
          <p:cNvSpPr txBox="1"/>
          <p:nvPr/>
        </p:nvSpPr>
        <p:spPr>
          <a:xfrm>
            <a:off x="-609600" y="5105400"/>
            <a:ext cx="6399975" cy="641201"/>
          </a:xfrm>
          <a:prstGeom prst="rect">
            <a:avLst/>
          </a:prstGeom>
        </p:spPr>
        <p:txBody>
          <a:bodyPr wrap="square" lIns="0" tIns="0" rIns="0" bIns="0" rtlCol="0" anchor="t">
            <a:spAutoFit/>
          </a:bodyPr>
          <a:lstStyle/>
          <a:p>
            <a:pPr marL="0" lvl="0" indent="0" algn="ctr">
              <a:lnSpc>
                <a:spcPts val="5040"/>
              </a:lnSpc>
            </a:pPr>
            <a:r>
              <a:rPr lang="en-US" sz="4200" u="none" dirty="0">
                <a:solidFill>
                  <a:srgbClr val="1A1A1A"/>
                </a:solidFill>
                <a:latin typeface="Telegraf Bold Bold"/>
              </a:rPr>
              <a:t>Problem 1</a:t>
            </a:r>
          </a:p>
        </p:txBody>
      </p:sp>
      <p:sp>
        <p:nvSpPr>
          <p:cNvPr id="21" name="TextBox 21"/>
          <p:cNvSpPr txBox="1"/>
          <p:nvPr/>
        </p:nvSpPr>
        <p:spPr>
          <a:xfrm>
            <a:off x="762000" y="6017027"/>
            <a:ext cx="3743856" cy="1748492"/>
          </a:xfrm>
          <a:prstGeom prst="rect">
            <a:avLst/>
          </a:prstGeom>
        </p:spPr>
        <p:txBody>
          <a:bodyPr wrap="square" lIns="0" tIns="0" rIns="0" bIns="0" rtlCol="0" anchor="t">
            <a:spAutoFit/>
          </a:bodyPr>
          <a:lstStyle/>
          <a:p>
            <a:pPr lvl="0" algn="ctr">
              <a:lnSpc>
                <a:spcPts val="3359"/>
              </a:lnSpc>
            </a:pPr>
            <a:r>
              <a:rPr lang="en-US" sz="3200" dirty="0"/>
              <a:t>Individuals with cognitive disabilities face barriers in digital access</a:t>
            </a:r>
            <a:endParaRPr lang="en-US" sz="3200" u="none" dirty="0">
              <a:solidFill>
                <a:srgbClr val="1A1A1A"/>
              </a:solidFill>
              <a:latin typeface="Poppins"/>
            </a:endParaRPr>
          </a:p>
        </p:txBody>
      </p:sp>
      <p:sp>
        <p:nvSpPr>
          <p:cNvPr id="22" name="TextBox 22"/>
          <p:cNvSpPr txBox="1"/>
          <p:nvPr/>
        </p:nvSpPr>
        <p:spPr>
          <a:xfrm>
            <a:off x="4668964" y="5105400"/>
            <a:ext cx="5047708" cy="641201"/>
          </a:xfrm>
          <a:prstGeom prst="rect">
            <a:avLst/>
          </a:prstGeom>
        </p:spPr>
        <p:txBody>
          <a:bodyPr wrap="square" lIns="0" tIns="0" rIns="0" bIns="0" rtlCol="0" anchor="t">
            <a:spAutoFit/>
          </a:bodyPr>
          <a:lstStyle/>
          <a:p>
            <a:pPr marL="0" lvl="0" indent="0" algn="ctr">
              <a:lnSpc>
                <a:spcPts val="5040"/>
              </a:lnSpc>
            </a:pPr>
            <a:r>
              <a:rPr lang="en-US" sz="4200" u="none" dirty="0">
                <a:solidFill>
                  <a:srgbClr val="1A1A1A"/>
                </a:solidFill>
                <a:latin typeface="Telegraf Bold Bold"/>
              </a:rPr>
              <a:t>Problem 2</a:t>
            </a:r>
          </a:p>
        </p:txBody>
      </p:sp>
      <p:sp>
        <p:nvSpPr>
          <p:cNvPr id="23" name="TextBox 23"/>
          <p:cNvSpPr txBox="1"/>
          <p:nvPr/>
        </p:nvSpPr>
        <p:spPr>
          <a:xfrm>
            <a:off x="5256838" y="5894766"/>
            <a:ext cx="3710888" cy="1748492"/>
          </a:xfrm>
          <a:prstGeom prst="rect">
            <a:avLst/>
          </a:prstGeom>
        </p:spPr>
        <p:txBody>
          <a:bodyPr wrap="square" lIns="0" tIns="0" rIns="0" bIns="0" rtlCol="0" anchor="t">
            <a:spAutoFit/>
          </a:bodyPr>
          <a:lstStyle/>
          <a:p>
            <a:pPr lvl="0" algn="ctr">
              <a:lnSpc>
                <a:spcPts val="3359"/>
              </a:lnSpc>
            </a:pPr>
            <a:r>
              <a:rPr lang="en-US" sz="3200" dirty="0"/>
              <a:t>Complex interfaces, unclear language, and inconsistent layouts </a:t>
            </a:r>
          </a:p>
          <a:p>
            <a:pPr lvl="0" algn="ctr">
              <a:lnSpc>
                <a:spcPts val="3359"/>
              </a:lnSpc>
            </a:pPr>
            <a:r>
              <a:rPr lang="en-US" sz="3200" dirty="0"/>
              <a:t>are major issues</a:t>
            </a:r>
            <a:endParaRPr lang="en-US" sz="3200" dirty="0">
              <a:solidFill>
                <a:srgbClr val="1A1A1A"/>
              </a:solidFill>
              <a:latin typeface="Poppins"/>
            </a:endParaRPr>
          </a:p>
        </p:txBody>
      </p:sp>
      <p:sp>
        <p:nvSpPr>
          <p:cNvPr id="24" name="TextBox 24"/>
          <p:cNvSpPr txBox="1"/>
          <p:nvPr/>
        </p:nvSpPr>
        <p:spPr>
          <a:xfrm>
            <a:off x="14362723" y="5061474"/>
            <a:ext cx="3087078" cy="641201"/>
          </a:xfrm>
          <a:prstGeom prst="rect">
            <a:avLst/>
          </a:prstGeom>
        </p:spPr>
        <p:txBody>
          <a:bodyPr wrap="square" lIns="0" tIns="0" rIns="0" bIns="0" rtlCol="0" anchor="t">
            <a:spAutoFit/>
          </a:bodyPr>
          <a:lstStyle/>
          <a:p>
            <a:pPr marL="0" lvl="0" indent="0" algn="ctr">
              <a:lnSpc>
                <a:spcPts val="5040"/>
              </a:lnSpc>
            </a:pPr>
            <a:r>
              <a:rPr lang="en-US" sz="4200" u="none" dirty="0">
                <a:solidFill>
                  <a:srgbClr val="1A1A1A"/>
                </a:solidFill>
                <a:latin typeface="Telegraf Bold Bold"/>
              </a:rPr>
              <a:t>Problem 4</a:t>
            </a:r>
          </a:p>
        </p:txBody>
      </p:sp>
      <p:sp>
        <p:nvSpPr>
          <p:cNvPr id="26" name="TextBox 26"/>
          <p:cNvSpPr txBox="1"/>
          <p:nvPr/>
        </p:nvSpPr>
        <p:spPr>
          <a:xfrm>
            <a:off x="1929033" y="3226494"/>
            <a:ext cx="1543050" cy="914400"/>
          </a:xfrm>
          <a:prstGeom prst="rect">
            <a:avLst/>
          </a:prstGeom>
        </p:spPr>
        <p:txBody>
          <a:bodyPr lIns="0" tIns="0" rIns="0" bIns="0" rtlCol="0" anchor="t">
            <a:spAutoFit/>
          </a:bodyPr>
          <a:lstStyle/>
          <a:p>
            <a:pPr marL="0" lvl="0" indent="0" algn="ctr">
              <a:lnSpc>
                <a:spcPts val="6720"/>
              </a:lnSpc>
            </a:pPr>
            <a:r>
              <a:rPr lang="en-US" sz="5600" dirty="0">
                <a:solidFill>
                  <a:srgbClr val="F5F5F5"/>
                </a:solidFill>
                <a:latin typeface="Telegraf Bold Bold"/>
              </a:rPr>
              <a:t>01</a:t>
            </a:r>
          </a:p>
        </p:txBody>
      </p:sp>
      <p:sp>
        <p:nvSpPr>
          <p:cNvPr id="27" name="TextBox 27"/>
          <p:cNvSpPr txBox="1"/>
          <p:nvPr/>
        </p:nvSpPr>
        <p:spPr>
          <a:xfrm>
            <a:off x="5790374" y="3226494"/>
            <a:ext cx="2959070" cy="859210"/>
          </a:xfrm>
          <a:prstGeom prst="rect">
            <a:avLst/>
          </a:prstGeom>
        </p:spPr>
        <p:txBody>
          <a:bodyPr wrap="square" lIns="0" tIns="0" rIns="0" bIns="0" rtlCol="0" anchor="t">
            <a:spAutoFit/>
          </a:bodyPr>
          <a:lstStyle/>
          <a:p>
            <a:pPr marL="0" lvl="0" indent="0" algn="ctr">
              <a:lnSpc>
                <a:spcPts val="6720"/>
              </a:lnSpc>
            </a:pPr>
            <a:r>
              <a:rPr lang="en-US" sz="5600" dirty="0">
                <a:solidFill>
                  <a:srgbClr val="F5F5F5"/>
                </a:solidFill>
                <a:latin typeface="Telegraf Bold Bold"/>
              </a:rPr>
              <a:t>02</a:t>
            </a:r>
          </a:p>
        </p:txBody>
      </p:sp>
      <p:pic>
        <p:nvPicPr>
          <p:cNvPr id="40" name="Picture 39">
            <a:extLst>
              <a:ext uri="{FF2B5EF4-FFF2-40B4-BE49-F238E27FC236}">
                <a16:creationId xmlns:a16="http://schemas.microsoft.com/office/drawing/2014/main" id="{23D3F378-4766-39B7-F99A-99DF29A49BFA}"/>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41" name="Picture 40">
            <a:extLst>
              <a:ext uri="{FF2B5EF4-FFF2-40B4-BE49-F238E27FC236}">
                <a16:creationId xmlns:a16="http://schemas.microsoft.com/office/drawing/2014/main" id="{F5FF8B11-A12B-DDE6-E7C3-C40FA1731AF3}"/>
              </a:ext>
            </a:extLst>
          </p:cNvPr>
          <p:cNvPicPr>
            <a:picLocks noChangeAspect="1"/>
          </p:cNvPicPr>
          <p:nvPr/>
        </p:nvPicPr>
        <p:blipFill>
          <a:blip r:embed="rId3" cstate="print"/>
          <a:stretch>
            <a:fillRect/>
          </a:stretch>
        </p:blipFill>
        <p:spPr>
          <a:xfrm>
            <a:off x="1" y="289561"/>
            <a:ext cx="3200400" cy="846332"/>
          </a:xfrm>
          <a:prstGeom prst="rect">
            <a:avLst/>
          </a:prstGeom>
        </p:spPr>
      </p:pic>
      <p:grpSp>
        <p:nvGrpSpPr>
          <p:cNvPr id="30" name="Group 2">
            <a:extLst>
              <a:ext uri="{FF2B5EF4-FFF2-40B4-BE49-F238E27FC236}">
                <a16:creationId xmlns:a16="http://schemas.microsoft.com/office/drawing/2014/main" id="{4235915C-82DC-BF9C-BC69-E4AF0DCBEC34}"/>
              </a:ext>
            </a:extLst>
          </p:cNvPr>
          <p:cNvGrpSpPr/>
          <p:nvPr/>
        </p:nvGrpSpPr>
        <p:grpSpPr>
          <a:xfrm>
            <a:off x="9480366" y="2728249"/>
            <a:ext cx="4037125" cy="5864024"/>
            <a:chOff x="0" y="0"/>
            <a:chExt cx="1334464" cy="1679886"/>
          </a:xfrm>
        </p:grpSpPr>
        <p:sp>
          <p:nvSpPr>
            <p:cNvPr id="31" name="Freeform 3">
              <a:extLst>
                <a:ext uri="{FF2B5EF4-FFF2-40B4-BE49-F238E27FC236}">
                  <a16:creationId xmlns:a16="http://schemas.microsoft.com/office/drawing/2014/main" id="{44413462-59AB-004F-5F19-DA79F1E12624}"/>
                </a:ext>
              </a:extLst>
            </p:cNvPr>
            <p:cNvSpPr/>
            <p:nvPr/>
          </p:nvSpPr>
          <p:spPr>
            <a:xfrm>
              <a:off x="0" y="0"/>
              <a:ext cx="1334464" cy="1679886"/>
            </a:xfrm>
            <a:custGeom>
              <a:avLst/>
              <a:gdLst/>
              <a:ahLst/>
              <a:cxnLst/>
              <a:rect l="l" t="t" r="r" b="b"/>
              <a:pathLst>
                <a:path w="1334464" h="1679886">
                  <a:moveTo>
                    <a:pt x="77927" y="0"/>
                  </a:moveTo>
                  <a:lnTo>
                    <a:pt x="1256537" y="0"/>
                  </a:lnTo>
                  <a:cubicBezTo>
                    <a:pt x="1277204" y="0"/>
                    <a:pt x="1297025" y="8210"/>
                    <a:pt x="1311639" y="22824"/>
                  </a:cubicBezTo>
                  <a:cubicBezTo>
                    <a:pt x="1326254" y="37438"/>
                    <a:pt x="1334464" y="57259"/>
                    <a:pt x="1334464" y="77927"/>
                  </a:cubicBezTo>
                  <a:lnTo>
                    <a:pt x="1334464" y="1601960"/>
                  </a:lnTo>
                  <a:cubicBezTo>
                    <a:pt x="1334464" y="1622627"/>
                    <a:pt x="1326254" y="1642448"/>
                    <a:pt x="1311639" y="1657062"/>
                  </a:cubicBezTo>
                  <a:cubicBezTo>
                    <a:pt x="1297025" y="1671676"/>
                    <a:pt x="1277204" y="1679886"/>
                    <a:pt x="1256537" y="1679886"/>
                  </a:cubicBezTo>
                  <a:lnTo>
                    <a:pt x="77927" y="1679886"/>
                  </a:lnTo>
                  <a:cubicBezTo>
                    <a:pt x="57259" y="1679886"/>
                    <a:pt x="37438" y="1671676"/>
                    <a:pt x="22824" y="1657062"/>
                  </a:cubicBezTo>
                  <a:cubicBezTo>
                    <a:pt x="8210" y="1642448"/>
                    <a:pt x="0" y="1622627"/>
                    <a:pt x="0" y="1601960"/>
                  </a:cubicBezTo>
                  <a:lnTo>
                    <a:pt x="0" y="77927"/>
                  </a:lnTo>
                  <a:cubicBezTo>
                    <a:pt x="0" y="57259"/>
                    <a:pt x="8210" y="37438"/>
                    <a:pt x="22824" y="22824"/>
                  </a:cubicBezTo>
                  <a:cubicBezTo>
                    <a:pt x="37438" y="8210"/>
                    <a:pt x="57259" y="0"/>
                    <a:pt x="77927" y="0"/>
                  </a:cubicBezTo>
                  <a:close/>
                </a:path>
              </a:pathLst>
            </a:custGeom>
            <a:solidFill>
              <a:srgbClr val="F5F5F5"/>
            </a:solidFill>
          </p:spPr>
          <p:txBody>
            <a:bodyPr/>
            <a:lstStyle/>
            <a:p>
              <a:endParaRPr lang="en-IN" dirty="0"/>
            </a:p>
          </p:txBody>
        </p:sp>
        <p:sp>
          <p:nvSpPr>
            <p:cNvPr id="32" name="TextBox 4">
              <a:extLst>
                <a:ext uri="{FF2B5EF4-FFF2-40B4-BE49-F238E27FC236}">
                  <a16:creationId xmlns:a16="http://schemas.microsoft.com/office/drawing/2014/main" id="{59E16F0B-C979-2EA6-8387-1B3DEE9CA63F}"/>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33" name="Freeform 18"/>
          <p:cNvSpPr/>
          <p:nvPr/>
        </p:nvSpPr>
        <p:spPr>
          <a:xfrm>
            <a:off x="10520033" y="2766675"/>
            <a:ext cx="1887522" cy="1882744"/>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34" name="Freeform 18">
            <a:extLst>
              <a:ext uri="{FF2B5EF4-FFF2-40B4-BE49-F238E27FC236}">
                <a16:creationId xmlns:a16="http://schemas.microsoft.com/office/drawing/2014/main" id="{CC3628EC-6E33-D95E-8749-B60DCBD12E1A}"/>
              </a:ext>
            </a:extLst>
          </p:cNvPr>
          <p:cNvSpPr/>
          <p:nvPr/>
        </p:nvSpPr>
        <p:spPr>
          <a:xfrm>
            <a:off x="14869584" y="2742322"/>
            <a:ext cx="1887522" cy="1882744"/>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35" name="TextBox 34">
            <a:extLst>
              <a:ext uri="{FF2B5EF4-FFF2-40B4-BE49-F238E27FC236}">
                <a16:creationId xmlns:a16="http://schemas.microsoft.com/office/drawing/2014/main" id="{166A572B-EC76-159A-98B5-E47E85F5728B}"/>
              </a:ext>
            </a:extLst>
          </p:cNvPr>
          <p:cNvSpPr txBox="1"/>
          <p:nvPr/>
        </p:nvSpPr>
        <p:spPr>
          <a:xfrm>
            <a:off x="11016262" y="3226494"/>
            <a:ext cx="1161557" cy="954107"/>
          </a:xfrm>
          <a:prstGeom prst="rect">
            <a:avLst/>
          </a:prstGeom>
          <a:noFill/>
        </p:spPr>
        <p:txBody>
          <a:bodyPr wrap="square" rtlCol="0">
            <a:spAutoFit/>
          </a:bodyPr>
          <a:lstStyle/>
          <a:p>
            <a:r>
              <a:rPr lang="en-US" sz="5600" dirty="0">
                <a:solidFill>
                  <a:schemeClr val="bg1"/>
                </a:solidFill>
                <a:latin typeface="Telegraf Bold"/>
              </a:rPr>
              <a:t>03</a:t>
            </a:r>
            <a:endParaRPr lang="en-IN" sz="5600" dirty="0">
              <a:solidFill>
                <a:schemeClr val="bg1"/>
              </a:solidFill>
              <a:latin typeface="Telegraf Bold"/>
            </a:endParaRPr>
          </a:p>
        </p:txBody>
      </p:sp>
      <p:sp>
        <p:nvSpPr>
          <p:cNvPr id="37" name="TextBox 36">
            <a:extLst>
              <a:ext uri="{FF2B5EF4-FFF2-40B4-BE49-F238E27FC236}">
                <a16:creationId xmlns:a16="http://schemas.microsoft.com/office/drawing/2014/main" id="{11A5838A-9D88-C741-9894-00E37067782D}"/>
              </a:ext>
            </a:extLst>
          </p:cNvPr>
          <p:cNvSpPr txBox="1"/>
          <p:nvPr/>
        </p:nvSpPr>
        <p:spPr>
          <a:xfrm>
            <a:off x="15369540" y="3226494"/>
            <a:ext cx="920674" cy="954107"/>
          </a:xfrm>
          <a:prstGeom prst="rect">
            <a:avLst/>
          </a:prstGeom>
          <a:noFill/>
        </p:spPr>
        <p:txBody>
          <a:bodyPr wrap="square" rtlCol="0">
            <a:spAutoFit/>
          </a:bodyPr>
          <a:lstStyle/>
          <a:p>
            <a:r>
              <a:rPr lang="en-US" sz="5600" dirty="0">
                <a:solidFill>
                  <a:schemeClr val="bg1"/>
                </a:solidFill>
                <a:latin typeface="Telegraf Bold Bold" panose="020B0604020202020204"/>
              </a:rPr>
              <a:t>04</a:t>
            </a:r>
            <a:endParaRPr lang="en-IN" sz="5600" dirty="0">
              <a:solidFill>
                <a:schemeClr val="bg1"/>
              </a:solidFill>
              <a:latin typeface="Telegraf Bold Bold" panose="020B0604020202020204"/>
            </a:endParaRPr>
          </a:p>
        </p:txBody>
      </p:sp>
      <p:sp>
        <p:nvSpPr>
          <p:cNvPr id="42" name="TextBox 22">
            <a:extLst>
              <a:ext uri="{FF2B5EF4-FFF2-40B4-BE49-F238E27FC236}">
                <a16:creationId xmlns:a16="http://schemas.microsoft.com/office/drawing/2014/main" id="{01A69E8B-CA56-CA2C-6E5F-62A9C8B77DFC}"/>
              </a:ext>
            </a:extLst>
          </p:cNvPr>
          <p:cNvSpPr txBox="1"/>
          <p:nvPr/>
        </p:nvSpPr>
        <p:spPr>
          <a:xfrm flipH="1">
            <a:off x="9817353" y="5091056"/>
            <a:ext cx="3412115" cy="641201"/>
          </a:xfrm>
          <a:prstGeom prst="rect">
            <a:avLst/>
          </a:prstGeom>
        </p:spPr>
        <p:txBody>
          <a:bodyPr wrap="square" lIns="0" tIns="0" rIns="0" bIns="0" rtlCol="0" anchor="t">
            <a:spAutoFit/>
          </a:bodyPr>
          <a:lstStyle/>
          <a:p>
            <a:pPr marL="0" lvl="0" indent="0" algn="ctr">
              <a:lnSpc>
                <a:spcPts val="5040"/>
              </a:lnSpc>
            </a:pPr>
            <a:r>
              <a:rPr lang="en-US" sz="4200" u="none" dirty="0">
                <a:solidFill>
                  <a:srgbClr val="1A1A1A"/>
                </a:solidFill>
                <a:latin typeface="Telegraf Bold Bold"/>
              </a:rPr>
              <a:t>Problem 3</a:t>
            </a:r>
          </a:p>
        </p:txBody>
      </p:sp>
      <p:sp>
        <p:nvSpPr>
          <p:cNvPr id="44" name="TextBox 43">
            <a:extLst>
              <a:ext uri="{FF2B5EF4-FFF2-40B4-BE49-F238E27FC236}">
                <a16:creationId xmlns:a16="http://schemas.microsoft.com/office/drawing/2014/main" id="{6E9F8FE3-7E21-B0B8-D6F3-05C34A892304}"/>
              </a:ext>
            </a:extLst>
          </p:cNvPr>
          <p:cNvSpPr txBox="1"/>
          <p:nvPr/>
        </p:nvSpPr>
        <p:spPr>
          <a:xfrm>
            <a:off x="9635119" y="6322684"/>
            <a:ext cx="3746247" cy="1404808"/>
          </a:xfrm>
          <a:prstGeom prst="rect">
            <a:avLst/>
          </a:prstGeom>
          <a:noFill/>
        </p:spPr>
        <p:txBody>
          <a:bodyPr wrap="square">
            <a:spAutoFit/>
          </a:bodyPr>
          <a:lstStyle/>
          <a:p>
            <a:pPr lvl="0" algn="ctr">
              <a:lnSpc>
                <a:spcPts val="3359"/>
              </a:lnSpc>
            </a:pPr>
            <a:r>
              <a:rPr lang="en-US" sz="3200" dirty="0"/>
              <a:t>Lack of reliable and guided support </a:t>
            </a:r>
          </a:p>
          <a:p>
            <a:pPr lvl="0" algn="ctr">
              <a:lnSpc>
                <a:spcPts val="3359"/>
              </a:lnSpc>
            </a:pPr>
            <a:r>
              <a:rPr lang="en-US" sz="3200" dirty="0"/>
              <a:t>online</a:t>
            </a:r>
            <a:endParaRPr lang="en-US" sz="3200" dirty="0">
              <a:solidFill>
                <a:srgbClr val="1A1A1A"/>
              </a:solidFill>
              <a:latin typeface="Poppins"/>
            </a:endParaRPr>
          </a:p>
        </p:txBody>
      </p:sp>
      <p:sp>
        <p:nvSpPr>
          <p:cNvPr id="45" name="TextBox 44">
            <a:extLst>
              <a:ext uri="{FF2B5EF4-FFF2-40B4-BE49-F238E27FC236}">
                <a16:creationId xmlns:a16="http://schemas.microsoft.com/office/drawing/2014/main" id="{7ECFEA1C-69C7-6F9C-0DE5-0953FFFAA81C}"/>
              </a:ext>
            </a:extLst>
          </p:cNvPr>
          <p:cNvSpPr txBox="1"/>
          <p:nvPr/>
        </p:nvSpPr>
        <p:spPr>
          <a:xfrm>
            <a:off x="14362723" y="6017027"/>
            <a:ext cx="3087078" cy="2062103"/>
          </a:xfrm>
          <a:prstGeom prst="rect">
            <a:avLst/>
          </a:prstGeom>
          <a:noFill/>
        </p:spPr>
        <p:txBody>
          <a:bodyPr wrap="square" rtlCol="0">
            <a:spAutoFit/>
          </a:bodyPr>
          <a:lstStyle/>
          <a:p>
            <a:pPr algn="ctr"/>
            <a:r>
              <a:rPr lang="en-US" sz="3200" dirty="0"/>
              <a:t>Existing platforms are not tailored to their needs</a:t>
            </a:r>
            <a:endParaRPr lang="en-IN" sz="3200" dirty="0"/>
          </a:p>
        </p:txBody>
      </p:sp>
      <p:sp>
        <p:nvSpPr>
          <p:cNvPr id="28" name="TextBox 27">
            <a:extLst>
              <a:ext uri="{FF2B5EF4-FFF2-40B4-BE49-F238E27FC236}">
                <a16:creationId xmlns:a16="http://schemas.microsoft.com/office/drawing/2014/main" id="{002218B0-EEAD-6836-1A0B-C18542DCD3A1}"/>
              </a:ext>
            </a:extLst>
          </p:cNvPr>
          <p:cNvSpPr txBox="1"/>
          <p:nvPr/>
        </p:nvSpPr>
        <p:spPr>
          <a:xfrm>
            <a:off x="1929033" y="558108"/>
            <a:ext cx="15063567" cy="1631216"/>
          </a:xfrm>
          <a:prstGeom prst="rect">
            <a:avLst/>
          </a:prstGeom>
          <a:noFill/>
        </p:spPr>
        <p:txBody>
          <a:bodyPr wrap="square" rtlCol="0">
            <a:spAutoFit/>
          </a:bodyPr>
          <a:lstStyle/>
          <a:p>
            <a:pPr algn="ctr"/>
            <a:r>
              <a:rPr lang="en-IN" sz="10000" dirty="0">
                <a:solidFill>
                  <a:schemeClr val="accent6">
                    <a:lumMod val="60000"/>
                    <a:lumOff val="40000"/>
                  </a:schemeClr>
                </a:solidFill>
                <a:latin typeface="+mj-lt"/>
              </a:rPr>
              <a:t>The </a:t>
            </a:r>
            <a:r>
              <a:rPr lang="en-IN" sz="10000" dirty="0">
                <a:latin typeface="+mj-lt"/>
              </a:rPr>
              <a:t>Challenges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9290070" y="980363"/>
            <a:ext cx="7113705" cy="1798272"/>
            <a:chOff x="0" y="0"/>
            <a:chExt cx="2187552" cy="678980"/>
          </a:xfrm>
        </p:grpSpPr>
        <p:sp>
          <p:nvSpPr>
            <p:cNvPr id="3" name="Freeform 3"/>
            <p:cNvSpPr/>
            <p:nvPr/>
          </p:nvSpPr>
          <p:spPr>
            <a:xfrm>
              <a:off x="0" y="0"/>
              <a:ext cx="2187552" cy="678980"/>
            </a:xfrm>
            <a:custGeom>
              <a:avLst/>
              <a:gdLst/>
              <a:ahLst/>
              <a:cxnLst/>
              <a:rect l="l" t="t" r="r" b="b"/>
              <a:pathLst>
                <a:path w="2187552" h="678980">
                  <a:moveTo>
                    <a:pt x="49545" y="0"/>
                  </a:moveTo>
                  <a:lnTo>
                    <a:pt x="2138007" y="0"/>
                  </a:lnTo>
                  <a:cubicBezTo>
                    <a:pt x="2151147" y="0"/>
                    <a:pt x="2163749" y="5220"/>
                    <a:pt x="2173040" y="14511"/>
                  </a:cubicBezTo>
                  <a:cubicBezTo>
                    <a:pt x="2182332" y="23803"/>
                    <a:pt x="2187552" y="36405"/>
                    <a:pt x="2187552" y="49545"/>
                  </a:cubicBezTo>
                  <a:lnTo>
                    <a:pt x="2187552" y="629435"/>
                  </a:lnTo>
                  <a:cubicBezTo>
                    <a:pt x="2187552" y="642575"/>
                    <a:pt x="2182332" y="655177"/>
                    <a:pt x="2173040" y="664468"/>
                  </a:cubicBezTo>
                  <a:cubicBezTo>
                    <a:pt x="2163749" y="673760"/>
                    <a:pt x="2151147" y="678980"/>
                    <a:pt x="2138007" y="678980"/>
                  </a:cubicBezTo>
                  <a:lnTo>
                    <a:pt x="49545" y="678980"/>
                  </a:lnTo>
                  <a:cubicBezTo>
                    <a:pt x="36405" y="678980"/>
                    <a:pt x="23803" y="673760"/>
                    <a:pt x="14511" y="664468"/>
                  </a:cubicBezTo>
                  <a:cubicBezTo>
                    <a:pt x="5220" y="655177"/>
                    <a:pt x="0" y="642575"/>
                    <a:pt x="0" y="629435"/>
                  </a:cubicBezTo>
                  <a:lnTo>
                    <a:pt x="0" y="49545"/>
                  </a:lnTo>
                  <a:cubicBezTo>
                    <a:pt x="0" y="36405"/>
                    <a:pt x="5220" y="23803"/>
                    <a:pt x="14511" y="14511"/>
                  </a:cubicBezTo>
                  <a:cubicBezTo>
                    <a:pt x="23803" y="5220"/>
                    <a:pt x="36405" y="0"/>
                    <a:pt x="49545" y="0"/>
                  </a:cubicBezTo>
                  <a:close/>
                </a:path>
              </a:pathLst>
            </a:custGeom>
            <a:solidFill>
              <a:srgbClr val="F5F5F5"/>
            </a:solidFill>
          </p:spPr>
          <p:txBody>
            <a:bodyPr/>
            <a:lstStyle/>
            <a:p>
              <a:endParaRPr lang="en-IN" dirty="0"/>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a:off x="8401346" y="1557676"/>
            <a:ext cx="890185" cy="867671"/>
            <a:chOff x="0" y="0"/>
            <a:chExt cx="406400" cy="405371"/>
          </a:xfrm>
        </p:grpSpPr>
        <p:sp>
          <p:nvSpPr>
            <p:cNvPr id="12" name="Freeform 12"/>
            <p:cNvSpPr/>
            <p:nvPr/>
          </p:nvSpPr>
          <p:spPr>
            <a:xfrm>
              <a:off x="0" y="0"/>
              <a:ext cx="406400" cy="405371"/>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20" name="Group 20"/>
          <p:cNvGrpSpPr/>
          <p:nvPr/>
        </p:nvGrpSpPr>
        <p:grpSpPr>
          <a:xfrm>
            <a:off x="1028701" y="1218174"/>
            <a:ext cx="6616756" cy="8040125"/>
            <a:chOff x="0" y="0"/>
            <a:chExt cx="1869559" cy="2286203"/>
          </a:xfrm>
        </p:grpSpPr>
        <p:sp>
          <p:nvSpPr>
            <p:cNvPr id="21" name="Freeform 21"/>
            <p:cNvSpPr/>
            <p:nvPr/>
          </p:nvSpPr>
          <p:spPr>
            <a:xfrm>
              <a:off x="0" y="0"/>
              <a:ext cx="1869559" cy="2286203"/>
            </a:xfrm>
            <a:custGeom>
              <a:avLst/>
              <a:gdLst/>
              <a:ahLst/>
              <a:cxnLst/>
              <a:rect l="l" t="t" r="r" b="b"/>
              <a:pathLst>
                <a:path w="1869559" h="2286203">
                  <a:moveTo>
                    <a:pt x="58670" y="0"/>
                  </a:moveTo>
                  <a:lnTo>
                    <a:pt x="1810889" y="0"/>
                  </a:lnTo>
                  <a:cubicBezTo>
                    <a:pt x="1843292" y="0"/>
                    <a:pt x="1869559" y="26267"/>
                    <a:pt x="1869559" y="58670"/>
                  </a:cubicBezTo>
                  <a:lnTo>
                    <a:pt x="1869559" y="2227533"/>
                  </a:lnTo>
                  <a:cubicBezTo>
                    <a:pt x="1869559" y="2243093"/>
                    <a:pt x="1863378" y="2258016"/>
                    <a:pt x="1852375" y="2269019"/>
                  </a:cubicBezTo>
                  <a:cubicBezTo>
                    <a:pt x="1841372" y="2280022"/>
                    <a:pt x="1826449" y="2286203"/>
                    <a:pt x="1810889" y="2286203"/>
                  </a:cubicBezTo>
                  <a:lnTo>
                    <a:pt x="58670" y="2286203"/>
                  </a:lnTo>
                  <a:cubicBezTo>
                    <a:pt x="43110" y="2286203"/>
                    <a:pt x="28187" y="2280022"/>
                    <a:pt x="17184" y="2269019"/>
                  </a:cubicBezTo>
                  <a:cubicBezTo>
                    <a:pt x="6181" y="2258016"/>
                    <a:pt x="0" y="2243093"/>
                    <a:pt x="0" y="2227533"/>
                  </a:cubicBezTo>
                  <a:lnTo>
                    <a:pt x="0" y="58670"/>
                  </a:lnTo>
                  <a:cubicBezTo>
                    <a:pt x="0" y="26267"/>
                    <a:pt x="26267" y="0"/>
                    <a:pt x="58670" y="0"/>
                  </a:cubicBezTo>
                  <a:close/>
                </a:path>
              </a:pathLst>
            </a:custGeom>
            <a:solidFill>
              <a:srgbClr val="F5F5F5"/>
            </a:solidFill>
          </p:spPr>
          <p:txBody>
            <a:bodyPr/>
            <a:lstStyle/>
            <a:p>
              <a:endParaRPr lang="en-IN" dirty="0"/>
            </a:p>
          </p:txBody>
        </p:sp>
        <p:sp>
          <p:nvSpPr>
            <p:cNvPr id="22" name="TextBox 22"/>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23" name="Freeform 23"/>
          <p:cNvSpPr/>
          <p:nvPr/>
        </p:nvSpPr>
        <p:spPr>
          <a:xfrm>
            <a:off x="2553542" y="1516729"/>
            <a:ext cx="3789739" cy="7394612"/>
          </a:xfrm>
          <a:custGeom>
            <a:avLst/>
            <a:gdLst/>
            <a:ahLst/>
            <a:cxnLst/>
            <a:rect l="l" t="t" r="r" b="b"/>
            <a:pathLst>
              <a:path w="3789739" h="7394612">
                <a:moveTo>
                  <a:pt x="0" y="0"/>
                </a:moveTo>
                <a:lnTo>
                  <a:pt x="3789739" y="0"/>
                </a:lnTo>
                <a:lnTo>
                  <a:pt x="3789739" y="7394612"/>
                </a:lnTo>
                <a:lnTo>
                  <a:pt x="0" y="7394612"/>
                </a:lnTo>
                <a:lnTo>
                  <a:pt x="0" y="0"/>
                </a:lnTo>
                <a:close/>
              </a:path>
            </a:pathLst>
          </a:custGeom>
          <a:blipFill>
            <a:blip r:embed="rId2"/>
            <a:stretch>
              <a:fillRect/>
            </a:stretch>
          </a:blipFill>
        </p:spPr>
        <p:txBody>
          <a:bodyPr/>
          <a:lstStyle/>
          <a:p>
            <a:endParaRPr lang="en-IN" dirty="0"/>
          </a:p>
        </p:txBody>
      </p:sp>
      <p:sp>
        <p:nvSpPr>
          <p:cNvPr id="28" name="TextBox 28"/>
          <p:cNvSpPr txBox="1"/>
          <p:nvPr/>
        </p:nvSpPr>
        <p:spPr>
          <a:xfrm>
            <a:off x="8554949" y="1672831"/>
            <a:ext cx="597965" cy="666849"/>
          </a:xfrm>
          <a:prstGeom prst="rect">
            <a:avLst/>
          </a:prstGeom>
        </p:spPr>
        <p:txBody>
          <a:bodyPr wrap="square" lIns="0" tIns="0" rIns="0" bIns="0" rtlCol="0" anchor="t">
            <a:spAutoFit/>
          </a:bodyPr>
          <a:lstStyle/>
          <a:p>
            <a:pPr marL="0" lvl="0" indent="0" algn="ctr">
              <a:lnSpc>
                <a:spcPts val="5208"/>
              </a:lnSpc>
            </a:pPr>
            <a:r>
              <a:rPr lang="en-US" sz="4340" dirty="0">
                <a:solidFill>
                  <a:srgbClr val="F5F5F5"/>
                </a:solidFill>
                <a:latin typeface="Telegraf Bold Bold"/>
              </a:rPr>
              <a:t>01</a:t>
            </a:r>
          </a:p>
        </p:txBody>
      </p:sp>
      <p:sp>
        <p:nvSpPr>
          <p:cNvPr id="31" name="TextBox 31"/>
          <p:cNvSpPr txBox="1"/>
          <p:nvPr/>
        </p:nvSpPr>
        <p:spPr>
          <a:xfrm>
            <a:off x="9546898" y="1117064"/>
            <a:ext cx="6616756" cy="1846659"/>
          </a:xfrm>
          <a:prstGeom prst="rect">
            <a:avLst/>
          </a:prstGeom>
        </p:spPr>
        <p:txBody>
          <a:bodyPr wrap="square" lIns="0" tIns="0" rIns="0" bIns="0" rtlCol="0" anchor="t">
            <a:spAutoFit/>
          </a:bodyPr>
          <a:lstStyle/>
          <a:p>
            <a:pPr marL="0" lvl="0" indent="0">
              <a:lnSpc>
                <a:spcPts val="4835"/>
              </a:lnSpc>
            </a:pPr>
            <a:r>
              <a:rPr lang="en-US" sz="4200" dirty="0">
                <a:solidFill>
                  <a:srgbClr val="1A1A1A"/>
                </a:solidFill>
                <a:latin typeface="Telegraf Bold Bold"/>
              </a:rPr>
              <a:t>Solution 1</a:t>
            </a:r>
          </a:p>
          <a:p>
            <a:pPr lvl="0">
              <a:lnSpc>
                <a:spcPts val="4835"/>
              </a:lnSpc>
            </a:pPr>
            <a:r>
              <a:rPr lang="en-IN" sz="3200" dirty="0">
                <a:latin typeface="+mj-lt"/>
              </a:rPr>
              <a:t>A full-stack accessible platform</a:t>
            </a:r>
            <a:endParaRPr lang="en-US" sz="3200" dirty="0">
              <a:solidFill>
                <a:srgbClr val="1A1A1A"/>
              </a:solidFill>
              <a:latin typeface="+mj-lt"/>
            </a:endParaRPr>
          </a:p>
          <a:p>
            <a:pPr marL="0" lvl="0" indent="0">
              <a:lnSpc>
                <a:spcPts val="4835"/>
              </a:lnSpc>
            </a:pPr>
            <a:endParaRPr lang="en-US" sz="4000" dirty="0">
              <a:solidFill>
                <a:srgbClr val="1A1A1A"/>
              </a:solidFill>
              <a:latin typeface="Telegraf Bold Bold"/>
            </a:endParaRPr>
          </a:p>
        </p:txBody>
      </p:sp>
      <p:pic>
        <p:nvPicPr>
          <p:cNvPr id="45" name="Picture 44">
            <a:extLst>
              <a:ext uri="{FF2B5EF4-FFF2-40B4-BE49-F238E27FC236}">
                <a16:creationId xmlns:a16="http://schemas.microsoft.com/office/drawing/2014/main" id="{9630748B-D555-C06F-5510-264054AE7D74}"/>
              </a:ext>
            </a:extLst>
          </p:cNvPr>
          <p:cNvPicPr>
            <a:picLocks noChangeAspect="1"/>
          </p:cNvPicPr>
          <p:nvPr/>
        </p:nvPicPr>
        <p:blipFill>
          <a:blip r:embed="rId3" cstate="print"/>
          <a:stretch>
            <a:fillRect/>
          </a:stretch>
        </p:blipFill>
        <p:spPr>
          <a:xfrm>
            <a:off x="15369540" y="0"/>
            <a:ext cx="2918460" cy="1060031"/>
          </a:xfrm>
          <a:prstGeom prst="rect">
            <a:avLst/>
          </a:prstGeom>
        </p:spPr>
      </p:pic>
      <p:pic>
        <p:nvPicPr>
          <p:cNvPr id="46" name="Picture 45">
            <a:extLst>
              <a:ext uri="{FF2B5EF4-FFF2-40B4-BE49-F238E27FC236}">
                <a16:creationId xmlns:a16="http://schemas.microsoft.com/office/drawing/2014/main" id="{A0F5C4D1-61D0-DAA0-5573-3E2288C34BBC}"/>
              </a:ext>
            </a:extLst>
          </p:cNvPr>
          <p:cNvPicPr>
            <a:picLocks noChangeAspect="1"/>
          </p:cNvPicPr>
          <p:nvPr/>
        </p:nvPicPr>
        <p:blipFill>
          <a:blip r:embed="rId4" cstate="print"/>
          <a:stretch>
            <a:fillRect/>
          </a:stretch>
        </p:blipFill>
        <p:spPr>
          <a:xfrm>
            <a:off x="1" y="289561"/>
            <a:ext cx="3200400" cy="846332"/>
          </a:xfrm>
          <a:prstGeom prst="rect">
            <a:avLst/>
          </a:prstGeom>
        </p:spPr>
      </p:pic>
      <p:grpSp>
        <p:nvGrpSpPr>
          <p:cNvPr id="38" name="Group 2">
            <a:extLst>
              <a:ext uri="{FF2B5EF4-FFF2-40B4-BE49-F238E27FC236}">
                <a16:creationId xmlns:a16="http://schemas.microsoft.com/office/drawing/2014/main" id="{A42771A3-6E28-D1C6-A685-3913A551D89A}"/>
              </a:ext>
            </a:extLst>
          </p:cNvPr>
          <p:cNvGrpSpPr/>
          <p:nvPr/>
        </p:nvGrpSpPr>
        <p:grpSpPr>
          <a:xfrm>
            <a:off x="9276360" y="2778635"/>
            <a:ext cx="7113705" cy="2509093"/>
            <a:chOff x="0" y="-38100"/>
            <a:chExt cx="2187552" cy="850900"/>
          </a:xfrm>
        </p:grpSpPr>
        <p:sp>
          <p:nvSpPr>
            <p:cNvPr id="40" name="Freeform 3">
              <a:extLst>
                <a:ext uri="{FF2B5EF4-FFF2-40B4-BE49-F238E27FC236}">
                  <a16:creationId xmlns:a16="http://schemas.microsoft.com/office/drawing/2014/main" id="{A9F5B622-AE43-A123-C3C2-365B8C60FB46}"/>
                </a:ext>
              </a:extLst>
            </p:cNvPr>
            <p:cNvSpPr/>
            <p:nvPr/>
          </p:nvSpPr>
          <p:spPr>
            <a:xfrm>
              <a:off x="0" y="0"/>
              <a:ext cx="2187552" cy="678980"/>
            </a:xfrm>
            <a:custGeom>
              <a:avLst/>
              <a:gdLst/>
              <a:ahLst/>
              <a:cxnLst/>
              <a:rect l="l" t="t" r="r" b="b"/>
              <a:pathLst>
                <a:path w="2187552" h="678980">
                  <a:moveTo>
                    <a:pt x="49545" y="0"/>
                  </a:moveTo>
                  <a:lnTo>
                    <a:pt x="2138007" y="0"/>
                  </a:lnTo>
                  <a:cubicBezTo>
                    <a:pt x="2151147" y="0"/>
                    <a:pt x="2163749" y="5220"/>
                    <a:pt x="2173040" y="14511"/>
                  </a:cubicBezTo>
                  <a:cubicBezTo>
                    <a:pt x="2182332" y="23803"/>
                    <a:pt x="2187552" y="36405"/>
                    <a:pt x="2187552" y="49545"/>
                  </a:cubicBezTo>
                  <a:lnTo>
                    <a:pt x="2187552" y="629435"/>
                  </a:lnTo>
                  <a:cubicBezTo>
                    <a:pt x="2187552" y="642575"/>
                    <a:pt x="2182332" y="655177"/>
                    <a:pt x="2173040" y="664468"/>
                  </a:cubicBezTo>
                  <a:cubicBezTo>
                    <a:pt x="2163749" y="673760"/>
                    <a:pt x="2151147" y="678980"/>
                    <a:pt x="2138007" y="678980"/>
                  </a:cubicBezTo>
                  <a:lnTo>
                    <a:pt x="49545" y="678980"/>
                  </a:lnTo>
                  <a:cubicBezTo>
                    <a:pt x="36405" y="678980"/>
                    <a:pt x="23803" y="673760"/>
                    <a:pt x="14511" y="664468"/>
                  </a:cubicBezTo>
                  <a:cubicBezTo>
                    <a:pt x="5220" y="655177"/>
                    <a:pt x="0" y="642575"/>
                    <a:pt x="0" y="629435"/>
                  </a:cubicBezTo>
                  <a:lnTo>
                    <a:pt x="0" y="49545"/>
                  </a:lnTo>
                  <a:cubicBezTo>
                    <a:pt x="0" y="36405"/>
                    <a:pt x="5220" y="23803"/>
                    <a:pt x="14511" y="14511"/>
                  </a:cubicBezTo>
                  <a:cubicBezTo>
                    <a:pt x="23803" y="5220"/>
                    <a:pt x="36405" y="0"/>
                    <a:pt x="49545" y="0"/>
                  </a:cubicBezTo>
                  <a:close/>
                </a:path>
              </a:pathLst>
            </a:custGeom>
            <a:solidFill>
              <a:srgbClr val="F5F5F5"/>
            </a:solidFill>
          </p:spPr>
          <p:txBody>
            <a:bodyPr/>
            <a:lstStyle/>
            <a:p>
              <a:endParaRPr lang="en-IN" dirty="0"/>
            </a:p>
          </p:txBody>
        </p:sp>
        <p:sp>
          <p:nvSpPr>
            <p:cNvPr id="41" name="TextBox 4">
              <a:extLst>
                <a:ext uri="{FF2B5EF4-FFF2-40B4-BE49-F238E27FC236}">
                  <a16:creationId xmlns:a16="http://schemas.microsoft.com/office/drawing/2014/main" id="{DB6DE9B8-84F2-CC5B-7A2A-A307C72D0B48}"/>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50" name="Group 2">
            <a:extLst>
              <a:ext uri="{FF2B5EF4-FFF2-40B4-BE49-F238E27FC236}">
                <a16:creationId xmlns:a16="http://schemas.microsoft.com/office/drawing/2014/main" id="{5AF52DFF-C5FB-19C8-5DE2-938EA24E0C2E}"/>
              </a:ext>
            </a:extLst>
          </p:cNvPr>
          <p:cNvGrpSpPr/>
          <p:nvPr/>
        </p:nvGrpSpPr>
        <p:grpSpPr>
          <a:xfrm>
            <a:off x="9230125" y="5001607"/>
            <a:ext cx="7173649" cy="4790094"/>
            <a:chOff x="0" y="0"/>
            <a:chExt cx="2187552" cy="678980"/>
          </a:xfrm>
        </p:grpSpPr>
        <p:sp>
          <p:nvSpPr>
            <p:cNvPr id="51" name="Freeform 3">
              <a:extLst>
                <a:ext uri="{FF2B5EF4-FFF2-40B4-BE49-F238E27FC236}">
                  <a16:creationId xmlns:a16="http://schemas.microsoft.com/office/drawing/2014/main" id="{CD315F5C-DA5A-2D25-8B88-70DEB78B95BA}"/>
                </a:ext>
              </a:extLst>
            </p:cNvPr>
            <p:cNvSpPr/>
            <p:nvPr/>
          </p:nvSpPr>
          <p:spPr>
            <a:xfrm>
              <a:off x="0" y="0"/>
              <a:ext cx="2187552" cy="678980"/>
            </a:xfrm>
            <a:custGeom>
              <a:avLst/>
              <a:gdLst/>
              <a:ahLst/>
              <a:cxnLst/>
              <a:rect l="l" t="t" r="r" b="b"/>
              <a:pathLst>
                <a:path w="2187552" h="678980">
                  <a:moveTo>
                    <a:pt x="49545" y="0"/>
                  </a:moveTo>
                  <a:lnTo>
                    <a:pt x="2138007" y="0"/>
                  </a:lnTo>
                  <a:cubicBezTo>
                    <a:pt x="2151147" y="0"/>
                    <a:pt x="2163749" y="5220"/>
                    <a:pt x="2173040" y="14511"/>
                  </a:cubicBezTo>
                  <a:cubicBezTo>
                    <a:pt x="2182332" y="23803"/>
                    <a:pt x="2187552" y="36405"/>
                    <a:pt x="2187552" y="49545"/>
                  </a:cubicBezTo>
                  <a:lnTo>
                    <a:pt x="2187552" y="629435"/>
                  </a:lnTo>
                  <a:cubicBezTo>
                    <a:pt x="2187552" y="642575"/>
                    <a:pt x="2182332" y="655177"/>
                    <a:pt x="2173040" y="664468"/>
                  </a:cubicBezTo>
                  <a:cubicBezTo>
                    <a:pt x="2163749" y="673760"/>
                    <a:pt x="2151147" y="678980"/>
                    <a:pt x="2138007" y="678980"/>
                  </a:cubicBezTo>
                  <a:lnTo>
                    <a:pt x="49545" y="678980"/>
                  </a:lnTo>
                  <a:cubicBezTo>
                    <a:pt x="36405" y="678980"/>
                    <a:pt x="23803" y="673760"/>
                    <a:pt x="14511" y="664468"/>
                  </a:cubicBezTo>
                  <a:cubicBezTo>
                    <a:pt x="5220" y="655177"/>
                    <a:pt x="0" y="642575"/>
                    <a:pt x="0" y="629435"/>
                  </a:cubicBezTo>
                  <a:lnTo>
                    <a:pt x="0" y="49545"/>
                  </a:lnTo>
                  <a:cubicBezTo>
                    <a:pt x="0" y="36405"/>
                    <a:pt x="5220" y="23803"/>
                    <a:pt x="14511" y="14511"/>
                  </a:cubicBezTo>
                  <a:cubicBezTo>
                    <a:pt x="23803" y="5220"/>
                    <a:pt x="36405" y="0"/>
                    <a:pt x="49545" y="0"/>
                  </a:cubicBezTo>
                  <a:close/>
                </a:path>
              </a:pathLst>
            </a:custGeom>
            <a:solidFill>
              <a:srgbClr val="F5F5F5"/>
            </a:solidFill>
          </p:spPr>
          <p:txBody>
            <a:bodyPr/>
            <a:lstStyle/>
            <a:p>
              <a:endParaRPr lang="en-IN" dirty="0"/>
            </a:p>
          </p:txBody>
        </p:sp>
        <p:sp>
          <p:nvSpPr>
            <p:cNvPr id="52" name="TextBox 4">
              <a:extLst>
                <a:ext uri="{FF2B5EF4-FFF2-40B4-BE49-F238E27FC236}">
                  <a16:creationId xmlns:a16="http://schemas.microsoft.com/office/drawing/2014/main" id="{66E07748-AE18-5F7B-068C-CC7527B61358}"/>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67" name="Rectangle: Rounded Corners 66">
            <a:extLst>
              <a:ext uri="{FF2B5EF4-FFF2-40B4-BE49-F238E27FC236}">
                <a16:creationId xmlns:a16="http://schemas.microsoft.com/office/drawing/2014/main" id="{7ECE14EA-A2B8-BD2D-D8E6-49FA4ED46030}"/>
              </a:ext>
            </a:extLst>
          </p:cNvPr>
          <p:cNvSpPr/>
          <p:nvPr/>
        </p:nvSpPr>
        <p:spPr>
          <a:xfrm>
            <a:off x="2819401" y="1600616"/>
            <a:ext cx="3281178" cy="602745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70" name="TextBox 26"/>
          <p:cNvSpPr txBox="1"/>
          <p:nvPr/>
        </p:nvSpPr>
        <p:spPr>
          <a:xfrm>
            <a:off x="1293376" y="7166790"/>
            <a:ext cx="3086101" cy="3230759"/>
          </a:xfrm>
          <a:prstGeom prst="rect">
            <a:avLst/>
          </a:prstGeom>
        </p:spPr>
        <p:txBody>
          <a:bodyPr lIns="50800" tIns="50800" rIns="50800" bIns="50800" rtlCol="0" anchor="ctr"/>
          <a:lstStyle/>
          <a:p>
            <a:pPr algn="ctr">
              <a:lnSpc>
                <a:spcPts val="3360"/>
              </a:lnSpc>
            </a:pPr>
            <a:endParaRPr/>
          </a:p>
        </p:txBody>
      </p:sp>
      <p:sp>
        <p:nvSpPr>
          <p:cNvPr id="71" name="Rectangle: Rounded Corners 70">
            <a:extLst>
              <a:ext uri="{FF2B5EF4-FFF2-40B4-BE49-F238E27FC236}">
                <a16:creationId xmlns:a16="http://schemas.microsoft.com/office/drawing/2014/main" id="{FAC5A7FD-FD7F-D400-4CE6-5D27C0C40079}"/>
              </a:ext>
            </a:extLst>
          </p:cNvPr>
          <p:cNvSpPr/>
          <p:nvPr/>
        </p:nvSpPr>
        <p:spPr>
          <a:xfrm>
            <a:off x="1656369" y="7258769"/>
            <a:ext cx="5446216" cy="1810057"/>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72" name="TextBox 37"/>
          <p:cNvSpPr txBox="1"/>
          <p:nvPr/>
        </p:nvSpPr>
        <p:spPr>
          <a:xfrm>
            <a:off x="4205709" y="7879491"/>
            <a:ext cx="3789739" cy="709681"/>
          </a:xfrm>
          <a:prstGeom prst="rect">
            <a:avLst/>
          </a:prstGeom>
        </p:spPr>
        <p:txBody>
          <a:bodyPr wrap="square" lIns="0" tIns="0" rIns="0" bIns="0" rtlCol="0" anchor="t">
            <a:spAutoFit/>
          </a:bodyPr>
          <a:lstStyle/>
          <a:p>
            <a:pPr>
              <a:lnSpc>
                <a:spcPts val="5880"/>
              </a:lnSpc>
            </a:pPr>
            <a:r>
              <a:rPr lang="en-US" sz="4200" dirty="0">
                <a:latin typeface="Telegraf Bold"/>
              </a:rPr>
              <a:t>PRIHUB</a:t>
            </a:r>
          </a:p>
        </p:txBody>
      </p:sp>
      <p:pic>
        <p:nvPicPr>
          <p:cNvPr id="73" name="Picture 72">
            <a:extLst>
              <a:ext uri="{FF2B5EF4-FFF2-40B4-BE49-F238E27FC236}">
                <a16:creationId xmlns:a16="http://schemas.microsoft.com/office/drawing/2014/main" id="{44AFCC2F-8FB1-50A4-D669-65DCEB3340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92551" y="7924691"/>
            <a:ext cx="690034" cy="690034"/>
          </a:xfrm>
          <a:prstGeom prst="rect">
            <a:avLst/>
          </a:prstGeom>
        </p:spPr>
      </p:pic>
      <p:pic>
        <p:nvPicPr>
          <p:cNvPr id="74" name="Picture 73">
            <a:extLst>
              <a:ext uri="{FF2B5EF4-FFF2-40B4-BE49-F238E27FC236}">
                <a16:creationId xmlns:a16="http://schemas.microsoft.com/office/drawing/2014/main" id="{8806FF6E-8C2D-A252-30C7-A65F7A1818FD}"/>
              </a:ext>
            </a:extLst>
          </p:cNvPr>
          <p:cNvPicPr>
            <a:picLocks noChangeAspect="1"/>
          </p:cNvPicPr>
          <p:nvPr/>
        </p:nvPicPr>
        <p:blipFill>
          <a:blip r:embed="rId6"/>
          <a:stretch>
            <a:fillRect/>
          </a:stretch>
        </p:blipFill>
        <p:spPr>
          <a:xfrm rot="20389410">
            <a:off x="3436574" y="4442031"/>
            <a:ext cx="2383408" cy="721969"/>
          </a:xfrm>
          <a:prstGeom prst="rect">
            <a:avLst/>
          </a:prstGeom>
        </p:spPr>
      </p:pic>
      <p:sp>
        <p:nvSpPr>
          <p:cNvPr id="76" name="TextBox 75">
            <a:extLst>
              <a:ext uri="{FF2B5EF4-FFF2-40B4-BE49-F238E27FC236}">
                <a16:creationId xmlns:a16="http://schemas.microsoft.com/office/drawing/2014/main" id="{7621F392-A649-8465-58B4-95BDC0067A96}"/>
              </a:ext>
            </a:extLst>
          </p:cNvPr>
          <p:cNvSpPr txBox="1"/>
          <p:nvPr/>
        </p:nvSpPr>
        <p:spPr>
          <a:xfrm>
            <a:off x="9437662" y="2957545"/>
            <a:ext cx="5465143" cy="1723549"/>
          </a:xfrm>
          <a:prstGeom prst="rect">
            <a:avLst/>
          </a:prstGeom>
          <a:noFill/>
        </p:spPr>
        <p:txBody>
          <a:bodyPr wrap="square" rtlCol="0">
            <a:spAutoFit/>
          </a:bodyPr>
          <a:lstStyle/>
          <a:p>
            <a:r>
              <a:rPr lang="en-IN" sz="4200" dirty="0"/>
              <a:t>Solution 2</a:t>
            </a:r>
          </a:p>
          <a:p>
            <a:r>
              <a:rPr lang="en-US" sz="3200" dirty="0"/>
              <a:t>Designed for users with cognitive disabilities</a:t>
            </a:r>
            <a:endParaRPr lang="en-IN" sz="3200" dirty="0"/>
          </a:p>
        </p:txBody>
      </p:sp>
      <p:sp>
        <p:nvSpPr>
          <p:cNvPr id="77" name="TextBox 76">
            <a:extLst>
              <a:ext uri="{FF2B5EF4-FFF2-40B4-BE49-F238E27FC236}">
                <a16:creationId xmlns:a16="http://schemas.microsoft.com/office/drawing/2014/main" id="{9E1D50DD-02C9-9B68-A507-0C30575B262B}"/>
              </a:ext>
            </a:extLst>
          </p:cNvPr>
          <p:cNvSpPr txBox="1"/>
          <p:nvPr/>
        </p:nvSpPr>
        <p:spPr>
          <a:xfrm>
            <a:off x="9442510" y="5157465"/>
            <a:ext cx="6932384" cy="4154984"/>
          </a:xfrm>
          <a:prstGeom prst="rect">
            <a:avLst/>
          </a:prstGeom>
          <a:noFill/>
        </p:spPr>
        <p:txBody>
          <a:bodyPr wrap="square" rtlCol="0">
            <a:spAutoFit/>
          </a:bodyPr>
          <a:lstStyle/>
          <a:p>
            <a:r>
              <a:rPr lang="en-IN" sz="4200" dirty="0"/>
              <a:t>Solution 3</a:t>
            </a:r>
          </a:p>
          <a:p>
            <a:r>
              <a:rPr lang="en-US" sz="3200" dirty="0"/>
              <a:t>Offers:</a:t>
            </a:r>
          </a:p>
          <a:p>
            <a:pPr marL="857250" indent="-857250">
              <a:buFont typeface="+mj-lt"/>
              <a:buAutoNum type="romanLcPeriod"/>
            </a:pPr>
            <a:r>
              <a:rPr lang="en-US" sz="3200" dirty="0"/>
              <a:t>Easy-to-read content</a:t>
            </a:r>
          </a:p>
          <a:p>
            <a:pPr marL="857250" indent="-857250">
              <a:buFont typeface="+mj-lt"/>
              <a:buAutoNum type="romanLcPeriod"/>
            </a:pPr>
            <a:r>
              <a:rPr lang="en-US" sz="3200" dirty="0"/>
              <a:t>Step-by-step guidance</a:t>
            </a:r>
          </a:p>
          <a:p>
            <a:pPr marL="857250" indent="-857250">
              <a:buFont typeface="+mj-lt"/>
              <a:buAutoNum type="romanLcPeriod"/>
            </a:pPr>
            <a:r>
              <a:rPr lang="en-US" sz="3200" dirty="0"/>
              <a:t>Visual aids</a:t>
            </a:r>
          </a:p>
          <a:p>
            <a:pPr marL="857250" indent="-857250">
              <a:buFont typeface="+mj-lt"/>
              <a:buAutoNum type="romanLcPeriod"/>
            </a:pPr>
            <a:r>
              <a:rPr lang="en-US" sz="3200" dirty="0"/>
              <a:t>Consistent UI/UX</a:t>
            </a:r>
          </a:p>
          <a:p>
            <a:pPr marL="857250" indent="-857250">
              <a:buFont typeface="+mj-lt"/>
              <a:buAutoNum type="romanLcPeriod"/>
            </a:pPr>
            <a:r>
              <a:rPr lang="en-US" sz="3200" dirty="0"/>
              <a:t>AI-powered chatbot for real-time help</a:t>
            </a:r>
          </a:p>
        </p:txBody>
      </p:sp>
      <p:grpSp>
        <p:nvGrpSpPr>
          <p:cNvPr id="80" name="Group 11">
            <a:extLst>
              <a:ext uri="{FF2B5EF4-FFF2-40B4-BE49-F238E27FC236}">
                <a16:creationId xmlns:a16="http://schemas.microsoft.com/office/drawing/2014/main" id="{C0483F7E-BC13-66AE-60DE-117AF2800871}"/>
              </a:ext>
            </a:extLst>
          </p:cNvPr>
          <p:cNvGrpSpPr/>
          <p:nvPr/>
        </p:nvGrpSpPr>
        <p:grpSpPr>
          <a:xfrm>
            <a:off x="8394637" y="3452440"/>
            <a:ext cx="890185" cy="867671"/>
            <a:chOff x="0" y="0"/>
            <a:chExt cx="406400" cy="405371"/>
          </a:xfrm>
        </p:grpSpPr>
        <p:sp>
          <p:nvSpPr>
            <p:cNvPr id="81" name="Freeform 12">
              <a:extLst>
                <a:ext uri="{FF2B5EF4-FFF2-40B4-BE49-F238E27FC236}">
                  <a16:creationId xmlns:a16="http://schemas.microsoft.com/office/drawing/2014/main" id="{FB6EC2C0-4EB4-F5A4-5BD9-456A76B4E2D9}"/>
                </a:ext>
              </a:extLst>
            </p:cNvPr>
            <p:cNvSpPr/>
            <p:nvPr/>
          </p:nvSpPr>
          <p:spPr>
            <a:xfrm>
              <a:off x="0" y="0"/>
              <a:ext cx="406400" cy="405371"/>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82" name="TextBox 13">
              <a:extLst>
                <a:ext uri="{FF2B5EF4-FFF2-40B4-BE49-F238E27FC236}">
                  <a16:creationId xmlns:a16="http://schemas.microsoft.com/office/drawing/2014/main" id="{47814FC7-CB34-54EB-2368-A4ABBF56BF35}"/>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3" name="Group 11">
            <a:extLst>
              <a:ext uri="{FF2B5EF4-FFF2-40B4-BE49-F238E27FC236}">
                <a16:creationId xmlns:a16="http://schemas.microsoft.com/office/drawing/2014/main" id="{804EB2BF-1803-C162-BB1B-173E3C4A8D11}"/>
              </a:ext>
            </a:extLst>
          </p:cNvPr>
          <p:cNvGrpSpPr/>
          <p:nvPr/>
        </p:nvGrpSpPr>
        <p:grpSpPr>
          <a:xfrm>
            <a:off x="8428956" y="6705804"/>
            <a:ext cx="890185" cy="867671"/>
            <a:chOff x="0" y="0"/>
            <a:chExt cx="406400" cy="405371"/>
          </a:xfrm>
        </p:grpSpPr>
        <p:sp>
          <p:nvSpPr>
            <p:cNvPr id="84" name="Freeform 12">
              <a:extLst>
                <a:ext uri="{FF2B5EF4-FFF2-40B4-BE49-F238E27FC236}">
                  <a16:creationId xmlns:a16="http://schemas.microsoft.com/office/drawing/2014/main" id="{16392430-14AB-4642-1578-8F04465F3CAD}"/>
                </a:ext>
              </a:extLst>
            </p:cNvPr>
            <p:cNvSpPr/>
            <p:nvPr/>
          </p:nvSpPr>
          <p:spPr>
            <a:xfrm>
              <a:off x="0" y="0"/>
              <a:ext cx="406400" cy="405371"/>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85" name="TextBox 13">
              <a:extLst>
                <a:ext uri="{FF2B5EF4-FFF2-40B4-BE49-F238E27FC236}">
                  <a16:creationId xmlns:a16="http://schemas.microsoft.com/office/drawing/2014/main" id="{3EE0E7B3-EA0F-BC1B-31E4-35BA190D8A3C}"/>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86" name="TextBox 85">
            <a:extLst>
              <a:ext uri="{FF2B5EF4-FFF2-40B4-BE49-F238E27FC236}">
                <a16:creationId xmlns:a16="http://schemas.microsoft.com/office/drawing/2014/main" id="{2E4AA087-9A4F-B7D2-68FA-E7688264B8CF}"/>
              </a:ext>
            </a:extLst>
          </p:cNvPr>
          <p:cNvSpPr txBox="1"/>
          <p:nvPr/>
        </p:nvSpPr>
        <p:spPr>
          <a:xfrm>
            <a:off x="8457348" y="3560921"/>
            <a:ext cx="772778" cy="707886"/>
          </a:xfrm>
          <a:prstGeom prst="rect">
            <a:avLst/>
          </a:prstGeom>
          <a:noFill/>
        </p:spPr>
        <p:txBody>
          <a:bodyPr wrap="square" rtlCol="0">
            <a:spAutoFit/>
          </a:bodyPr>
          <a:lstStyle/>
          <a:p>
            <a:r>
              <a:rPr lang="en-IN" sz="4000" dirty="0">
                <a:solidFill>
                  <a:schemeClr val="bg1"/>
                </a:solidFill>
              </a:rPr>
              <a:t>02</a:t>
            </a:r>
          </a:p>
        </p:txBody>
      </p:sp>
      <p:sp>
        <p:nvSpPr>
          <p:cNvPr id="87" name="TextBox 86">
            <a:extLst>
              <a:ext uri="{FF2B5EF4-FFF2-40B4-BE49-F238E27FC236}">
                <a16:creationId xmlns:a16="http://schemas.microsoft.com/office/drawing/2014/main" id="{B569B529-A983-F330-E1F0-D0CC0023FB8F}"/>
              </a:ext>
            </a:extLst>
          </p:cNvPr>
          <p:cNvSpPr txBox="1"/>
          <p:nvPr/>
        </p:nvSpPr>
        <p:spPr>
          <a:xfrm>
            <a:off x="8516470" y="6812847"/>
            <a:ext cx="735333" cy="707886"/>
          </a:xfrm>
          <a:prstGeom prst="rect">
            <a:avLst/>
          </a:prstGeom>
          <a:noFill/>
        </p:spPr>
        <p:txBody>
          <a:bodyPr wrap="square" rtlCol="0">
            <a:spAutoFit/>
          </a:bodyPr>
          <a:lstStyle/>
          <a:p>
            <a:r>
              <a:rPr lang="en-IN" sz="4000" dirty="0">
                <a:solidFill>
                  <a:schemeClr val="bg1"/>
                </a:solidFil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Group 5"/>
          <p:cNvGrpSpPr/>
          <p:nvPr/>
        </p:nvGrpSpPr>
        <p:grpSpPr>
          <a:xfrm>
            <a:off x="501460" y="1246254"/>
            <a:ext cx="5615932" cy="3937753"/>
            <a:chOff x="0" y="0"/>
            <a:chExt cx="2998640" cy="1133469"/>
          </a:xfrm>
        </p:grpSpPr>
        <p:sp>
          <p:nvSpPr>
            <p:cNvPr id="6" name="Freeform 6"/>
            <p:cNvSpPr/>
            <p:nvPr/>
          </p:nvSpPr>
          <p:spPr>
            <a:xfrm>
              <a:off x="0" y="0"/>
              <a:ext cx="2998640" cy="1133469"/>
            </a:xfrm>
            <a:custGeom>
              <a:avLst/>
              <a:gdLst/>
              <a:ahLst/>
              <a:cxnLst/>
              <a:rect l="l" t="t" r="r" b="b"/>
              <a:pathLst>
                <a:path w="2998640" h="1133469">
                  <a:moveTo>
                    <a:pt x="36144" y="0"/>
                  </a:moveTo>
                  <a:lnTo>
                    <a:pt x="2962496" y="0"/>
                  </a:lnTo>
                  <a:cubicBezTo>
                    <a:pt x="2972082" y="0"/>
                    <a:pt x="2981275" y="3808"/>
                    <a:pt x="2988054" y="10586"/>
                  </a:cubicBezTo>
                  <a:cubicBezTo>
                    <a:pt x="2994832" y="17365"/>
                    <a:pt x="2998640" y="26558"/>
                    <a:pt x="2998640" y="36144"/>
                  </a:cubicBezTo>
                  <a:lnTo>
                    <a:pt x="2998640" y="1097325"/>
                  </a:lnTo>
                  <a:cubicBezTo>
                    <a:pt x="2998640" y="1106911"/>
                    <a:pt x="2994832" y="1116104"/>
                    <a:pt x="2988054" y="1122883"/>
                  </a:cubicBezTo>
                  <a:cubicBezTo>
                    <a:pt x="2981275" y="1129661"/>
                    <a:pt x="2972082" y="1133469"/>
                    <a:pt x="2962496" y="1133469"/>
                  </a:cubicBezTo>
                  <a:lnTo>
                    <a:pt x="36144" y="1133469"/>
                  </a:lnTo>
                  <a:cubicBezTo>
                    <a:pt x="26558" y="1133469"/>
                    <a:pt x="17365" y="1129661"/>
                    <a:pt x="10586" y="1122883"/>
                  </a:cubicBezTo>
                  <a:cubicBezTo>
                    <a:pt x="3808" y="1116104"/>
                    <a:pt x="0" y="1106911"/>
                    <a:pt x="0" y="1097325"/>
                  </a:cubicBezTo>
                  <a:lnTo>
                    <a:pt x="0" y="36144"/>
                  </a:lnTo>
                  <a:cubicBezTo>
                    <a:pt x="0" y="26558"/>
                    <a:pt x="3808" y="17365"/>
                    <a:pt x="10586" y="10586"/>
                  </a:cubicBezTo>
                  <a:cubicBezTo>
                    <a:pt x="17365" y="3808"/>
                    <a:pt x="26558" y="0"/>
                    <a:pt x="36144" y="0"/>
                  </a:cubicBezTo>
                  <a:close/>
                </a:path>
              </a:pathLst>
            </a:custGeom>
            <a:solidFill>
              <a:srgbClr val="ECA406"/>
            </a:solidFill>
          </p:spPr>
          <p:txBody>
            <a:bodyPr/>
            <a:lstStyle/>
            <a:p>
              <a:endParaRPr lang="en-IN"/>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 name="Group 8"/>
          <p:cNvGrpSpPr/>
          <p:nvPr/>
        </p:nvGrpSpPr>
        <p:grpSpPr>
          <a:xfrm>
            <a:off x="12147331" y="5383810"/>
            <a:ext cx="5661073" cy="4613629"/>
            <a:chOff x="0" y="0"/>
            <a:chExt cx="1432647" cy="1133469"/>
          </a:xfrm>
        </p:grpSpPr>
        <p:sp>
          <p:nvSpPr>
            <p:cNvPr id="9" name="Freeform 9"/>
            <p:cNvSpPr/>
            <p:nvPr/>
          </p:nvSpPr>
          <p:spPr>
            <a:xfrm>
              <a:off x="0" y="0"/>
              <a:ext cx="1432647" cy="1133469"/>
            </a:xfrm>
            <a:custGeom>
              <a:avLst/>
              <a:gdLst/>
              <a:ahLst/>
              <a:cxnLst/>
              <a:rect l="l" t="t" r="r" b="b"/>
              <a:pathLst>
                <a:path w="1432647" h="1133469">
                  <a:moveTo>
                    <a:pt x="75652" y="0"/>
                  </a:moveTo>
                  <a:lnTo>
                    <a:pt x="1356995" y="0"/>
                  </a:lnTo>
                  <a:cubicBezTo>
                    <a:pt x="1377059" y="0"/>
                    <a:pt x="1396302" y="7970"/>
                    <a:pt x="1410489" y="22158"/>
                  </a:cubicBezTo>
                  <a:cubicBezTo>
                    <a:pt x="1424677" y="36346"/>
                    <a:pt x="1432647" y="55588"/>
                    <a:pt x="1432647" y="75652"/>
                  </a:cubicBezTo>
                  <a:lnTo>
                    <a:pt x="1432647" y="1057817"/>
                  </a:lnTo>
                  <a:cubicBezTo>
                    <a:pt x="1432647" y="1099598"/>
                    <a:pt x="1398777" y="1133469"/>
                    <a:pt x="1356995" y="1133469"/>
                  </a:cubicBezTo>
                  <a:lnTo>
                    <a:pt x="75652" y="1133469"/>
                  </a:lnTo>
                  <a:cubicBezTo>
                    <a:pt x="33871" y="1133469"/>
                    <a:pt x="0" y="1099598"/>
                    <a:pt x="0" y="1057817"/>
                  </a:cubicBezTo>
                  <a:lnTo>
                    <a:pt x="0" y="75652"/>
                  </a:lnTo>
                  <a:cubicBezTo>
                    <a:pt x="0" y="33871"/>
                    <a:pt x="33871" y="0"/>
                    <a:pt x="75652" y="0"/>
                  </a:cubicBezTo>
                  <a:close/>
                </a:path>
              </a:pathLst>
            </a:custGeom>
            <a:solidFill>
              <a:srgbClr val="DDDDDD"/>
            </a:solidFill>
          </p:spPr>
          <p:txBody>
            <a:bodyPr/>
            <a:lstStyle/>
            <a:p>
              <a:endParaRPr lang="en-IN"/>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a:off x="6442435" y="5383810"/>
            <a:ext cx="5379854" cy="4613629"/>
            <a:chOff x="0" y="0"/>
            <a:chExt cx="1432647" cy="1133469"/>
          </a:xfrm>
        </p:grpSpPr>
        <p:sp>
          <p:nvSpPr>
            <p:cNvPr id="12" name="Freeform 12"/>
            <p:cNvSpPr/>
            <p:nvPr/>
          </p:nvSpPr>
          <p:spPr>
            <a:xfrm>
              <a:off x="0" y="0"/>
              <a:ext cx="1432647" cy="1133469"/>
            </a:xfrm>
            <a:custGeom>
              <a:avLst/>
              <a:gdLst/>
              <a:ahLst/>
              <a:cxnLst/>
              <a:rect l="l" t="t" r="r" b="b"/>
              <a:pathLst>
                <a:path w="1432647" h="1133469">
                  <a:moveTo>
                    <a:pt x="75652" y="0"/>
                  </a:moveTo>
                  <a:lnTo>
                    <a:pt x="1356995" y="0"/>
                  </a:lnTo>
                  <a:cubicBezTo>
                    <a:pt x="1377059" y="0"/>
                    <a:pt x="1396302" y="7970"/>
                    <a:pt x="1410489" y="22158"/>
                  </a:cubicBezTo>
                  <a:cubicBezTo>
                    <a:pt x="1424677" y="36346"/>
                    <a:pt x="1432647" y="55588"/>
                    <a:pt x="1432647" y="75652"/>
                  </a:cubicBezTo>
                  <a:lnTo>
                    <a:pt x="1432647" y="1057817"/>
                  </a:lnTo>
                  <a:cubicBezTo>
                    <a:pt x="1432647" y="1099598"/>
                    <a:pt x="1398777" y="1133469"/>
                    <a:pt x="1356995" y="1133469"/>
                  </a:cubicBezTo>
                  <a:lnTo>
                    <a:pt x="75652" y="1133469"/>
                  </a:lnTo>
                  <a:cubicBezTo>
                    <a:pt x="33871" y="1133469"/>
                    <a:pt x="0" y="1099598"/>
                    <a:pt x="0" y="1057817"/>
                  </a:cubicBezTo>
                  <a:lnTo>
                    <a:pt x="0" y="75652"/>
                  </a:lnTo>
                  <a:cubicBezTo>
                    <a:pt x="0" y="33871"/>
                    <a:pt x="33871" y="0"/>
                    <a:pt x="75652" y="0"/>
                  </a:cubicBezTo>
                  <a:close/>
                </a:path>
              </a:pathLst>
            </a:custGeom>
            <a:solidFill>
              <a:srgbClr val="DDDDDD"/>
            </a:solidFill>
          </p:spPr>
          <p:txBody>
            <a:bodyPr/>
            <a:lstStyle/>
            <a:p>
              <a:endParaRPr lang="en-IN" sz="3600"/>
            </a:p>
          </p:txBody>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3360"/>
                </a:lnSpc>
              </a:pPr>
              <a:endParaRPr sz="3600"/>
            </a:p>
          </p:txBody>
        </p:sp>
      </p:grpSp>
      <p:grpSp>
        <p:nvGrpSpPr>
          <p:cNvPr id="14" name="Group 14"/>
          <p:cNvGrpSpPr/>
          <p:nvPr/>
        </p:nvGrpSpPr>
        <p:grpSpPr>
          <a:xfrm>
            <a:off x="479595" y="5383810"/>
            <a:ext cx="5637798" cy="4613629"/>
            <a:chOff x="0" y="0"/>
            <a:chExt cx="1432647" cy="1133469"/>
          </a:xfrm>
        </p:grpSpPr>
        <p:sp>
          <p:nvSpPr>
            <p:cNvPr id="15" name="Freeform 15"/>
            <p:cNvSpPr/>
            <p:nvPr/>
          </p:nvSpPr>
          <p:spPr>
            <a:xfrm>
              <a:off x="0" y="0"/>
              <a:ext cx="1432647" cy="1133469"/>
            </a:xfrm>
            <a:custGeom>
              <a:avLst/>
              <a:gdLst/>
              <a:ahLst/>
              <a:cxnLst/>
              <a:rect l="l" t="t" r="r" b="b"/>
              <a:pathLst>
                <a:path w="1432647" h="1133469">
                  <a:moveTo>
                    <a:pt x="75652" y="0"/>
                  </a:moveTo>
                  <a:lnTo>
                    <a:pt x="1356995" y="0"/>
                  </a:lnTo>
                  <a:cubicBezTo>
                    <a:pt x="1377059" y="0"/>
                    <a:pt x="1396302" y="7970"/>
                    <a:pt x="1410489" y="22158"/>
                  </a:cubicBezTo>
                  <a:cubicBezTo>
                    <a:pt x="1424677" y="36346"/>
                    <a:pt x="1432647" y="55588"/>
                    <a:pt x="1432647" y="75652"/>
                  </a:cubicBezTo>
                  <a:lnTo>
                    <a:pt x="1432647" y="1057817"/>
                  </a:lnTo>
                  <a:cubicBezTo>
                    <a:pt x="1432647" y="1099598"/>
                    <a:pt x="1398777" y="1133469"/>
                    <a:pt x="1356995" y="1133469"/>
                  </a:cubicBezTo>
                  <a:lnTo>
                    <a:pt x="75652" y="1133469"/>
                  </a:lnTo>
                  <a:cubicBezTo>
                    <a:pt x="33871" y="1133469"/>
                    <a:pt x="0" y="1099598"/>
                    <a:pt x="0" y="1057817"/>
                  </a:cubicBezTo>
                  <a:lnTo>
                    <a:pt x="0" y="75652"/>
                  </a:lnTo>
                  <a:cubicBezTo>
                    <a:pt x="0" y="33871"/>
                    <a:pt x="33871" y="0"/>
                    <a:pt x="75652" y="0"/>
                  </a:cubicBezTo>
                  <a:close/>
                </a:path>
              </a:pathLst>
            </a:custGeom>
            <a:solidFill>
              <a:srgbClr val="DDDDDD"/>
            </a:solidFill>
          </p:spPr>
          <p:txBody>
            <a:bodyPr/>
            <a:lstStyle/>
            <a:p>
              <a:endParaRPr lang="en-IN"/>
            </a:p>
          </p:txBody>
        </p:sp>
        <p:sp>
          <p:nvSpPr>
            <p:cNvPr id="16" name="TextBox 16"/>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17" name="TextBox 17"/>
          <p:cNvSpPr txBox="1"/>
          <p:nvPr/>
        </p:nvSpPr>
        <p:spPr>
          <a:xfrm>
            <a:off x="1219200" y="1527832"/>
            <a:ext cx="4544254" cy="2582758"/>
          </a:xfrm>
          <a:prstGeom prst="rect">
            <a:avLst/>
          </a:prstGeom>
        </p:spPr>
        <p:txBody>
          <a:bodyPr wrap="square" lIns="0" tIns="0" rIns="0" bIns="0" rtlCol="0" anchor="t">
            <a:spAutoFit/>
          </a:bodyPr>
          <a:lstStyle/>
          <a:p>
            <a:pPr algn="ctr">
              <a:lnSpc>
                <a:spcPts val="9999"/>
              </a:lnSpc>
            </a:pPr>
            <a:r>
              <a:rPr lang="en-US" sz="9999" dirty="0">
                <a:solidFill>
                  <a:srgbClr val="F5F5F5"/>
                </a:solidFill>
                <a:latin typeface="Telegraf Bold Bold"/>
              </a:rPr>
              <a:t>Key</a:t>
            </a:r>
          </a:p>
          <a:p>
            <a:pPr marL="0" lvl="0" indent="0" algn="ctr">
              <a:lnSpc>
                <a:spcPts val="9999"/>
              </a:lnSpc>
            </a:pPr>
            <a:r>
              <a:rPr lang="en-US" sz="9999" dirty="0">
                <a:solidFill>
                  <a:srgbClr val="F5F5F5"/>
                </a:solidFill>
                <a:latin typeface="Telegraf Bold Bold"/>
              </a:rPr>
              <a:t>Features</a:t>
            </a:r>
          </a:p>
        </p:txBody>
      </p:sp>
      <p:sp>
        <p:nvSpPr>
          <p:cNvPr id="20" name="TextBox 20"/>
          <p:cNvSpPr txBox="1"/>
          <p:nvPr/>
        </p:nvSpPr>
        <p:spPr>
          <a:xfrm>
            <a:off x="12298545" y="5735503"/>
            <a:ext cx="5379854" cy="4488408"/>
          </a:xfrm>
          <a:prstGeom prst="rect">
            <a:avLst/>
          </a:prstGeom>
        </p:spPr>
        <p:txBody>
          <a:bodyPr wrap="square" lIns="0" tIns="0" rIns="0" bIns="0" rtlCol="0" anchor="t">
            <a:spAutoFit/>
          </a:bodyPr>
          <a:lstStyle/>
          <a:p>
            <a:pPr marL="0" lvl="0" indent="0" algn="ctr">
              <a:lnSpc>
                <a:spcPts val="5040"/>
              </a:lnSpc>
            </a:pPr>
            <a:r>
              <a:rPr lang="en-US" sz="4200" dirty="0">
                <a:solidFill>
                  <a:srgbClr val="1A1A1A"/>
                </a:solidFill>
                <a:latin typeface="Telegraf Bold Bold"/>
              </a:rPr>
              <a:t>Feature 5</a:t>
            </a:r>
          </a:p>
          <a:p>
            <a:pPr lvl="0" algn="ctr">
              <a:lnSpc>
                <a:spcPts val="5040"/>
              </a:lnSpc>
            </a:pPr>
            <a:r>
              <a:rPr lang="en-IN" sz="3200" dirty="0"/>
              <a:t>Step-by-step instructional guides </a:t>
            </a:r>
            <a:r>
              <a:rPr lang="en-US" altLang="en-US" sz="3200" dirty="0">
                <a:latin typeface="+mj-lt"/>
              </a:rPr>
              <a:t>Break complex tasks </a:t>
            </a:r>
          </a:p>
          <a:p>
            <a:pPr lvl="0" algn="ctr">
              <a:lnSpc>
                <a:spcPts val="5040"/>
              </a:lnSpc>
            </a:pPr>
            <a:r>
              <a:rPr lang="en-US" altLang="en-US" sz="3200" dirty="0">
                <a:latin typeface="+mj-lt"/>
              </a:rPr>
              <a:t>into manageable steps, Offer real-time feedback or hints</a:t>
            </a:r>
          </a:p>
          <a:p>
            <a:pPr lvl="0" algn="ctr">
              <a:lnSpc>
                <a:spcPts val="5040"/>
              </a:lnSpc>
            </a:pPr>
            <a:endParaRPr lang="en-US" sz="3600" dirty="0">
              <a:solidFill>
                <a:srgbClr val="1A1A1A"/>
              </a:solidFill>
            </a:endParaRPr>
          </a:p>
          <a:p>
            <a:pPr marL="0" lvl="0" indent="0" algn="ctr">
              <a:lnSpc>
                <a:spcPts val="5040"/>
              </a:lnSpc>
            </a:pPr>
            <a:endParaRPr lang="en-US" sz="4200" dirty="0">
              <a:solidFill>
                <a:srgbClr val="1A1A1A"/>
              </a:solidFill>
              <a:latin typeface="Telegraf Bold Bold"/>
            </a:endParaRPr>
          </a:p>
        </p:txBody>
      </p:sp>
      <p:sp>
        <p:nvSpPr>
          <p:cNvPr id="22" name="TextBox 22"/>
          <p:cNvSpPr txBox="1"/>
          <p:nvPr/>
        </p:nvSpPr>
        <p:spPr>
          <a:xfrm>
            <a:off x="6973122" y="5571004"/>
            <a:ext cx="4495800" cy="3847207"/>
          </a:xfrm>
          <a:prstGeom prst="rect">
            <a:avLst/>
          </a:prstGeom>
        </p:spPr>
        <p:txBody>
          <a:bodyPr wrap="square" lIns="0" tIns="0" rIns="0" bIns="0" rtlCol="0" anchor="t">
            <a:spAutoFit/>
          </a:bodyPr>
          <a:lstStyle/>
          <a:p>
            <a:pPr marL="0" lvl="0" indent="0" algn="ctr">
              <a:lnSpc>
                <a:spcPts val="5040"/>
              </a:lnSpc>
            </a:pPr>
            <a:r>
              <a:rPr lang="en-US" sz="4200" dirty="0">
                <a:solidFill>
                  <a:srgbClr val="1A1A1A"/>
                </a:solidFill>
                <a:latin typeface="Telegraf Bold Bold"/>
              </a:rPr>
              <a:t>Feature 4</a:t>
            </a:r>
          </a:p>
          <a:p>
            <a:pPr algn="ctr">
              <a:lnSpc>
                <a:spcPts val="5040"/>
              </a:lnSpc>
            </a:pPr>
            <a:endParaRPr lang="en-IN" sz="3600" dirty="0"/>
          </a:p>
          <a:p>
            <a:pPr algn="ctr">
              <a:lnSpc>
                <a:spcPts val="5040"/>
              </a:lnSpc>
            </a:pPr>
            <a:r>
              <a:rPr lang="en-IN" sz="3200" dirty="0"/>
              <a:t>Visual learning support, Secure Firebase Authentication</a:t>
            </a:r>
            <a:endParaRPr lang="en-US" sz="3200" dirty="0">
              <a:solidFill>
                <a:srgbClr val="1A1A1A"/>
              </a:solidFill>
            </a:endParaRPr>
          </a:p>
          <a:p>
            <a:pPr marL="0" lvl="0" indent="0" algn="ctr">
              <a:lnSpc>
                <a:spcPts val="5040"/>
              </a:lnSpc>
            </a:pPr>
            <a:endParaRPr lang="en-US" sz="4200" dirty="0">
              <a:solidFill>
                <a:srgbClr val="1A1A1A"/>
              </a:solidFill>
              <a:latin typeface="Telegraf Bold Bold"/>
            </a:endParaRPr>
          </a:p>
        </p:txBody>
      </p:sp>
      <p:sp>
        <p:nvSpPr>
          <p:cNvPr id="23" name="TextBox 23"/>
          <p:cNvSpPr txBox="1"/>
          <p:nvPr/>
        </p:nvSpPr>
        <p:spPr>
          <a:xfrm>
            <a:off x="609601" y="5494171"/>
            <a:ext cx="5529656" cy="6160661"/>
          </a:xfrm>
          <a:prstGeom prst="rect">
            <a:avLst/>
          </a:prstGeom>
        </p:spPr>
        <p:txBody>
          <a:bodyPr wrap="square" lIns="0" tIns="0" rIns="0" bIns="0" rtlCol="0" anchor="t">
            <a:spAutoFit/>
          </a:bodyPr>
          <a:lstStyle/>
          <a:p>
            <a:pPr marL="0" lvl="0" indent="0" algn="ctr">
              <a:lnSpc>
                <a:spcPts val="5040"/>
              </a:lnSpc>
            </a:pPr>
            <a:r>
              <a:rPr lang="en-US" sz="4200" dirty="0">
                <a:solidFill>
                  <a:srgbClr val="1A1A1A"/>
                </a:solidFill>
                <a:latin typeface="Telegraf Bold Bold"/>
              </a:rPr>
              <a:t>Feature 3</a:t>
            </a:r>
          </a:p>
          <a:p>
            <a:pPr lvl="0" eaLnBrk="0" fontAlgn="base" hangingPunct="0">
              <a:spcBef>
                <a:spcPct val="0"/>
              </a:spcBef>
              <a:spcAft>
                <a:spcPct val="0"/>
              </a:spcAft>
            </a:pPr>
            <a:r>
              <a:rPr lang="en-IN" sz="3200" dirty="0"/>
              <a:t>AI chatbot for real-time assistance with</a:t>
            </a:r>
          </a:p>
          <a:p>
            <a:pPr marL="857250" lvl="0" indent="-857250" eaLnBrk="0" fontAlgn="base" hangingPunct="0">
              <a:spcBef>
                <a:spcPct val="0"/>
              </a:spcBef>
              <a:spcAft>
                <a:spcPct val="0"/>
              </a:spcAft>
              <a:buFont typeface="+mj-lt"/>
              <a:buAutoNum type="romanLcPeriod"/>
            </a:pPr>
            <a:r>
              <a:rPr lang="en-US" altLang="en-US" sz="3200" dirty="0">
                <a:latin typeface="+mj-lt"/>
              </a:rPr>
              <a:t>Answer questions</a:t>
            </a:r>
          </a:p>
          <a:p>
            <a:pPr marL="857250" lvl="0" indent="-857250" eaLnBrk="0" fontAlgn="base" hangingPunct="0">
              <a:spcBef>
                <a:spcPct val="0"/>
              </a:spcBef>
              <a:spcAft>
                <a:spcPct val="0"/>
              </a:spcAft>
              <a:buFont typeface="+mj-lt"/>
              <a:buAutoNum type="romanLcPeriod"/>
            </a:pPr>
            <a:r>
              <a:rPr lang="en-US" altLang="en-US" sz="3200" dirty="0">
                <a:latin typeface="+mj-lt"/>
              </a:rPr>
              <a:t>Guide through tasks</a:t>
            </a:r>
          </a:p>
          <a:p>
            <a:pPr marL="857250" lvl="0" indent="-857250" eaLnBrk="0" fontAlgn="base" hangingPunct="0">
              <a:spcBef>
                <a:spcPct val="0"/>
              </a:spcBef>
              <a:spcAft>
                <a:spcPct val="0"/>
              </a:spcAft>
              <a:buFont typeface="+mj-lt"/>
              <a:buAutoNum type="romanLcPeriod"/>
            </a:pPr>
            <a:r>
              <a:rPr lang="en-US" altLang="en-US" sz="3200" dirty="0">
                <a:latin typeface="+mj-lt"/>
              </a:rPr>
              <a:t>Provide reminders</a:t>
            </a:r>
          </a:p>
          <a:p>
            <a:pPr marL="857250" lvl="0" indent="-857250" eaLnBrk="0" fontAlgn="base" hangingPunct="0">
              <a:spcBef>
                <a:spcPct val="0"/>
              </a:spcBef>
              <a:spcAft>
                <a:spcPct val="0"/>
              </a:spcAft>
              <a:buFont typeface="+mj-lt"/>
              <a:buAutoNum type="romanLcPeriod"/>
            </a:pPr>
            <a:r>
              <a:rPr lang="en-US" altLang="en-US" sz="3200" dirty="0">
                <a:latin typeface="+mj-lt"/>
              </a:rPr>
              <a:t>Simplify technical content</a:t>
            </a:r>
          </a:p>
          <a:p>
            <a:pPr algn="ctr">
              <a:lnSpc>
                <a:spcPts val="5040"/>
              </a:lnSpc>
            </a:pPr>
            <a:br>
              <a:rPr lang="en-IN" sz="4400" dirty="0"/>
            </a:br>
            <a:br>
              <a:rPr lang="en-IN" sz="4400" dirty="0"/>
            </a:br>
            <a:endParaRPr lang="en-US" sz="4400" dirty="0">
              <a:solidFill>
                <a:srgbClr val="1A1A1A"/>
              </a:solidFill>
              <a:latin typeface="Poppins"/>
            </a:endParaRPr>
          </a:p>
          <a:p>
            <a:pPr marL="0" lvl="0" indent="0" algn="ctr">
              <a:lnSpc>
                <a:spcPts val="5040"/>
              </a:lnSpc>
            </a:pPr>
            <a:endParaRPr lang="en-US" sz="4200" dirty="0">
              <a:solidFill>
                <a:srgbClr val="1A1A1A"/>
              </a:solidFill>
              <a:latin typeface="Telegraf Bold Bold"/>
            </a:endParaRPr>
          </a:p>
        </p:txBody>
      </p:sp>
      <p:pic>
        <p:nvPicPr>
          <p:cNvPr id="33" name="Picture 32">
            <a:extLst>
              <a:ext uri="{FF2B5EF4-FFF2-40B4-BE49-F238E27FC236}">
                <a16:creationId xmlns:a16="http://schemas.microsoft.com/office/drawing/2014/main" id="{11EB0C43-9C0F-95AB-204D-E78F31DD593B}"/>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34" name="Picture 33">
            <a:extLst>
              <a:ext uri="{FF2B5EF4-FFF2-40B4-BE49-F238E27FC236}">
                <a16:creationId xmlns:a16="http://schemas.microsoft.com/office/drawing/2014/main" id="{508E6E3D-EF56-0DB6-75C4-961ECD827A63}"/>
              </a:ext>
            </a:extLst>
          </p:cNvPr>
          <p:cNvPicPr>
            <a:picLocks noChangeAspect="1"/>
          </p:cNvPicPr>
          <p:nvPr/>
        </p:nvPicPr>
        <p:blipFill>
          <a:blip r:embed="rId3" cstate="print"/>
          <a:stretch>
            <a:fillRect/>
          </a:stretch>
        </p:blipFill>
        <p:spPr>
          <a:xfrm>
            <a:off x="1" y="289561"/>
            <a:ext cx="3200400" cy="846332"/>
          </a:xfrm>
          <a:prstGeom prst="rect">
            <a:avLst/>
          </a:prstGeom>
        </p:spPr>
      </p:pic>
      <p:grpSp>
        <p:nvGrpSpPr>
          <p:cNvPr id="29" name="Group 2">
            <a:extLst>
              <a:ext uri="{FF2B5EF4-FFF2-40B4-BE49-F238E27FC236}">
                <a16:creationId xmlns:a16="http://schemas.microsoft.com/office/drawing/2014/main" id="{44545B59-CF4F-0AB7-972C-FBAC371EE206}"/>
              </a:ext>
            </a:extLst>
          </p:cNvPr>
          <p:cNvGrpSpPr/>
          <p:nvPr/>
        </p:nvGrpSpPr>
        <p:grpSpPr>
          <a:xfrm>
            <a:off x="12096796" y="952501"/>
            <a:ext cx="5689744" cy="4276228"/>
            <a:chOff x="0" y="0"/>
            <a:chExt cx="1432647" cy="1133469"/>
          </a:xfrm>
        </p:grpSpPr>
        <p:sp>
          <p:nvSpPr>
            <p:cNvPr id="30" name="Freeform 3">
              <a:extLst>
                <a:ext uri="{FF2B5EF4-FFF2-40B4-BE49-F238E27FC236}">
                  <a16:creationId xmlns:a16="http://schemas.microsoft.com/office/drawing/2014/main" id="{E95A439D-DAEC-C63E-51CA-FE74D5939F4C}"/>
                </a:ext>
              </a:extLst>
            </p:cNvPr>
            <p:cNvSpPr/>
            <p:nvPr/>
          </p:nvSpPr>
          <p:spPr>
            <a:xfrm>
              <a:off x="0" y="0"/>
              <a:ext cx="1432647" cy="1133469"/>
            </a:xfrm>
            <a:custGeom>
              <a:avLst/>
              <a:gdLst/>
              <a:ahLst/>
              <a:cxnLst/>
              <a:rect l="l" t="t" r="r" b="b"/>
              <a:pathLst>
                <a:path w="1432647" h="1133469">
                  <a:moveTo>
                    <a:pt x="75652" y="0"/>
                  </a:moveTo>
                  <a:lnTo>
                    <a:pt x="1356995" y="0"/>
                  </a:lnTo>
                  <a:cubicBezTo>
                    <a:pt x="1377059" y="0"/>
                    <a:pt x="1396302" y="7970"/>
                    <a:pt x="1410489" y="22158"/>
                  </a:cubicBezTo>
                  <a:cubicBezTo>
                    <a:pt x="1424677" y="36346"/>
                    <a:pt x="1432647" y="55588"/>
                    <a:pt x="1432647" y="75652"/>
                  </a:cubicBezTo>
                  <a:lnTo>
                    <a:pt x="1432647" y="1057817"/>
                  </a:lnTo>
                  <a:cubicBezTo>
                    <a:pt x="1432647" y="1099598"/>
                    <a:pt x="1398777" y="1133469"/>
                    <a:pt x="1356995" y="1133469"/>
                  </a:cubicBezTo>
                  <a:lnTo>
                    <a:pt x="75652" y="1133469"/>
                  </a:lnTo>
                  <a:cubicBezTo>
                    <a:pt x="33871" y="1133469"/>
                    <a:pt x="0" y="1099598"/>
                    <a:pt x="0" y="1057817"/>
                  </a:cubicBezTo>
                  <a:lnTo>
                    <a:pt x="0" y="75652"/>
                  </a:lnTo>
                  <a:cubicBezTo>
                    <a:pt x="0" y="33871"/>
                    <a:pt x="33871" y="0"/>
                    <a:pt x="75652" y="0"/>
                  </a:cubicBezTo>
                  <a:close/>
                </a:path>
              </a:pathLst>
            </a:custGeom>
            <a:solidFill>
              <a:srgbClr val="DDDDDD"/>
            </a:solidFill>
          </p:spPr>
          <p:txBody>
            <a:bodyPr/>
            <a:lstStyle/>
            <a:p>
              <a:endParaRPr lang="en-IN"/>
            </a:p>
          </p:txBody>
        </p:sp>
        <p:sp>
          <p:nvSpPr>
            <p:cNvPr id="31" name="TextBox 4">
              <a:extLst>
                <a:ext uri="{FF2B5EF4-FFF2-40B4-BE49-F238E27FC236}">
                  <a16:creationId xmlns:a16="http://schemas.microsoft.com/office/drawing/2014/main" id="{AF7DFC71-5A5D-51DF-929D-69D9D6B118A1}"/>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32" name="Group 2">
            <a:extLst>
              <a:ext uri="{FF2B5EF4-FFF2-40B4-BE49-F238E27FC236}">
                <a16:creationId xmlns:a16="http://schemas.microsoft.com/office/drawing/2014/main" id="{070AE1A7-B96B-A88E-6F30-94847B16C2A0}"/>
              </a:ext>
            </a:extLst>
          </p:cNvPr>
          <p:cNvGrpSpPr/>
          <p:nvPr/>
        </p:nvGrpSpPr>
        <p:grpSpPr>
          <a:xfrm>
            <a:off x="6442434" y="952500"/>
            <a:ext cx="5329320" cy="4276227"/>
            <a:chOff x="0" y="0"/>
            <a:chExt cx="1432647" cy="1133469"/>
          </a:xfrm>
        </p:grpSpPr>
        <p:sp>
          <p:nvSpPr>
            <p:cNvPr id="35" name="Freeform 3">
              <a:extLst>
                <a:ext uri="{FF2B5EF4-FFF2-40B4-BE49-F238E27FC236}">
                  <a16:creationId xmlns:a16="http://schemas.microsoft.com/office/drawing/2014/main" id="{0EC2046A-CCEA-E25C-B952-A9D517895B16}"/>
                </a:ext>
              </a:extLst>
            </p:cNvPr>
            <p:cNvSpPr/>
            <p:nvPr/>
          </p:nvSpPr>
          <p:spPr>
            <a:xfrm>
              <a:off x="0" y="0"/>
              <a:ext cx="1432647" cy="1133469"/>
            </a:xfrm>
            <a:custGeom>
              <a:avLst/>
              <a:gdLst/>
              <a:ahLst/>
              <a:cxnLst/>
              <a:rect l="l" t="t" r="r" b="b"/>
              <a:pathLst>
                <a:path w="1432647" h="1133469">
                  <a:moveTo>
                    <a:pt x="75652" y="0"/>
                  </a:moveTo>
                  <a:lnTo>
                    <a:pt x="1356995" y="0"/>
                  </a:lnTo>
                  <a:cubicBezTo>
                    <a:pt x="1377059" y="0"/>
                    <a:pt x="1396302" y="7970"/>
                    <a:pt x="1410489" y="22158"/>
                  </a:cubicBezTo>
                  <a:cubicBezTo>
                    <a:pt x="1424677" y="36346"/>
                    <a:pt x="1432647" y="55588"/>
                    <a:pt x="1432647" y="75652"/>
                  </a:cubicBezTo>
                  <a:lnTo>
                    <a:pt x="1432647" y="1057817"/>
                  </a:lnTo>
                  <a:cubicBezTo>
                    <a:pt x="1432647" y="1099598"/>
                    <a:pt x="1398777" y="1133469"/>
                    <a:pt x="1356995" y="1133469"/>
                  </a:cubicBezTo>
                  <a:lnTo>
                    <a:pt x="75652" y="1133469"/>
                  </a:lnTo>
                  <a:cubicBezTo>
                    <a:pt x="33871" y="1133469"/>
                    <a:pt x="0" y="1099598"/>
                    <a:pt x="0" y="1057817"/>
                  </a:cubicBezTo>
                  <a:lnTo>
                    <a:pt x="0" y="75652"/>
                  </a:lnTo>
                  <a:cubicBezTo>
                    <a:pt x="0" y="33871"/>
                    <a:pt x="33871" y="0"/>
                    <a:pt x="75652" y="0"/>
                  </a:cubicBezTo>
                  <a:close/>
                </a:path>
              </a:pathLst>
            </a:custGeom>
            <a:solidFill>
              <a:srgbClr val="DDDDDD"/>
            </a:solidFill>
          </p:spPr>
          <p:txBody>
            <a:bodyPr/>
            <a:lstStyle/>
            <a:p>
              <a:endParaRPr lang="en-IN"/>
            </a:p>
          </p:txBody>
        </p:sp>
        <p:sp>
          <p:nvSpPr>
            <p:cNvPr id="36" name="TextBox 4">
              <a:extLst>
                <a:ext uri="{FF2B5EF4-FFF2-40B4-BE49-F238E27FC236}">
                  <a16:creationId xmlns:a16="http://schemas.microsoft.com/office/drawing/2014/main" id="{9440CBF3-ACC6-C06A-DB62-661493EDF3F4}"/>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39" name="TextBox 23">
            <a:extLst>
              <a:ext uri="{FF2B5EF4-FFF2-40B4-BE49-F238E27FC236}">
                <a16:creationId xmlns:a16="http://schemas.microsoft.com/office/drawing/2014/main" id="{E7B9A5EC-36BB-0EDE-801D-1BD373E645BC}"/>
              </a:ext>
            </a:extLst>
          </p:cNvPr>
          <p:cNvSpPr txBox="1"/>
          <p:nvPr/>
        </p:nvSpPr>
        <p:spPr>
          <a:xfrm>
            <a:off x="6682247" y="1471890"/>
            <a:ext cx="4823953" cy="3206006"/>
          </a:xfrm>
          <a:prstGeom prst="rect">
            <a:avLst/>
          </a:prstGeom>
        </p:spPr>
        <p:txBody>
          <a:bodyPr wrap="square" lIns="0" tIns="0" rIns="0" bIns="0" rtlCol="0" anchor="t">
            <a:spAutoFit/>
          </a:bodyPr>
          <a:lstStyle/>
          <a:p>
            <a:pPr marL="0" lvl="0" indent="0" algn="ctr">
              <a:lnSpc>
                <a:spcPts val="5040"/>
              </a:lnSpc>
            </a:pPr>
            <a:r>
              <a:rPr lang="en-US" sz="4200" dirty="0">
                <a:solidFill>
                  <a:srgbClr val="1A1A1A"/>
                </a:solidFill>
                <a:latin typeface="Telegraf Bold Bold"/>
              </a:rPr>
              <a:t>Feature 1</a:t>
            </a:r>
          </a:p>
          <a:p>
            <a:pPr lvl="0" algn="ctr">
              <a:lnSpc>
                <a:spcPts val="5040"/>
              </a:lnSpc>
            </a:pPr>
            <a:r>
              <a:rPr lang="en-IN" sz="3200" dirty="0"/>
              <a:t>Simple and intuitive User Interface, Consistent layout and navigation</a:t>
            </a:r>
            <a:endParaRPr lang="en-US" sz="3200" dirty="0">
              <a:solidFill>
                <a:srgbClr val="1A1A1A"/>
              </a:solidFill>
            </a:endParaRPr>
          </a:p>
          <a:p>
            <a:pPr marL="0" lvl="0" indent="0" algn="ctr">
              <a:lnSpc>
                <a:spcPts val="5040"/>
              </a:lnSpc>
            </a:pPr>
            <a:endParaRPr lang="en-US" sz="4200" dirty="0">
              <a:solidFill>
                <a:srgbClr val="1A1A1A"/>
              </a:solidFill>
              <a:latin typeface="Telegraf Bold Bold"/>
            </a:endParaRPr>
          </a:p>
        </p:txBody>
      </p:sp>
      <p:sp>
        <p:nvSpPr>
          <p:cNvPr id="40" name="TextBox 23">
            <a:extLst>
              <a:ext uri="{FF2B5EF4-FFF2-40B4-BE49-F238E27FC236}">
                <a16:creationId xmlns:a16="http://schemas.microsoft.com/office/drawing/2014/main" id="{46A8CBE7-2597-E55D-AFBE-3C8204E87622}"/>
              </a:ext>
            </a:extLst>
          </p:cNvPr>
          <p:cNvSpPr txBox="1"/>
          <p:nvPr/>
        </p:nvSpPr>
        <p:spPr>
          <a:xfrm>
            <a:off x="12125467" y="1594504"/>
            <a:ext cx="5661073" cy="3847207"/>
          </a:xfrm>
          <a:prstGeom prst="rect">
            <a:avLst/>
          </a:prstGeom>
        </p:spPr>
        <p:txBody>
          <a:bodyPr wrap="square" lIns="0" tIns="0" rIns="0" bIns="0" rtlCol="0" anchor="t">
            <a:spAutoFit/>
          </a:bodyPr>
          <a:lstStyle/>
          <a:p>
            <a:pPr marL="0" lvl="0" indent="0" algn="ctr">
              <a:lnSpc>
                <a:spcPts val="5040"/>
              </a:lnSpc>
            </a:pPr>
            <a:r>
              <a:rPr lang="en-US" sz="4200" dirty="0">
                <a:solidFill>
                  <a:srgbClr val="1A1A1A"/>
                </a:solidFill>
                <a:latin typeface="Telegraf Bold Bold"/>
              </a:rPr>
              <a:t>Feature 2</a:t>
            </a:r>
          </a:p>
          <a:p>
            <a:pPr lvl="0" algn="ctr">
              <a:lnSpc>
                <a:spcPts val="5040"/>
              </a:lnSpc>
            </a:pPr>
            <a:r>
              <a:rPr lang="en-US" sz="3200" dirty="0">
                <a:latin typeface="+mj-lt"/>
              </a:rPr>
              <a:t>Screen reader compatibility ensures that users with visual impairments or cognitive challenges</a:t>
            </a:r>
            <a:endParaRPr lang="en-US" sz="3200" dirty="0">
              <a:solidFill>
                <a:srgbClr val="1A1A1A"/>
              </a:solidFill>
              <a:latin typeface="+mj-lt"/>
            </a:endParaRPr>
          </a:p>
          <a:p>
            <a:pPr marL="0" lvl="0" indent="0" algn="ctr">
              <a:lnSpc>
                <a:spcPts val="5040"/>
              </a:lnSpc>
            </a:pPr>
            <a:endParaRPr lang="en-US" sz="4200" dirty="0">
              <a:solidFill>
                <a:srgbClr val="1A1A1A"/>
              </a:solidFill>
              <a:latin typeface="Telegraf Bold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64A349-077B-478C-AA5F-0FC6C918F68B}"/>
              </a:ext>
            </a:extLst>
          </p:cNvPr>
          <p:cNvPicPr>
            <a:picLocks noChangeAspect="1"/>
          </p:cNvPicPr>
          <p:nvPr/>
        </p:nvPicPr>
        <p:blipFill>
          <a:blip r:embed="rId2" cstate="print"/>
          <a:stretch>
            <a:fillRect/>
          </a:stretch>
        </p:blipFill>
        <p:spPr>
          <a:xfrm>
            <a:off x="0" y="-144727"/>
            <a:ext cx="3200400" cy="846332"/>
          </a:xfrm>
          <a:prstGeom prst="rect">
            <a:avLst/>
          </a:prstGeom>
        </p:spPr>
      </p:pic>
      <p:pic>
        <p:nvPicPr>
          <p:cNvPr id="3" name="Picture 2">
            <a:extLst>
              <a:ext uri="{FF2B5EF4-FFF2-40B4-BE49-F238E27FC236}">
                <a16:creationId xmlns:a16="http://schemas.microsoft.com/office/drawing/2014/main" id="{0A800FAB-B0A9-C995-67B5-DFC607CA4A08}"/>
              </a:ext>
            </a:extLst>
          </p:cNvPr>
          <p:cNvPicPr>
            <a:picLocks noChangeAspect="1"/>
          </p:cNvPicPr>
          <p:nvPr/>
        </p:nvPicPr>
        <p:blipFill>
          <a:blip r:embed="rId3" cstate="print"/>
          <a:stretch>
            <a:fillRect/>
          </a:stretch>
        </p:blipFill>
        <p:spPr>
          <a:xfrm>
            <a:off x="15369540" y="0"/>
            <a:ext cx="2918460" cy="1060031"/>
          </a:xfrm>
          <a:prstGeom prst="rect">
            <a:avLst/>
          </a:prstGeom>
        </p:spPr>
      </p:pic>
      <p:sp>
        <p:nvSpPr>
          <p:cNvPr id="5" name="TextBox 4">
            <a:extLst>
              <a:ext uri="{FF2B5EF4-FFF2-40B4-BE49-F238E27FC236}">
                <a16:creationId xmlns:a16="http://schemas.microsoft.com/office/drawing/2014/main" id="{2978F35A-604F-B91E-A815-1BE31EC525D7}"/>
              </a:ext>
            </a:extLst>
          </p:cNvPr>
          <p:cNvSpPr txBox="1"/>
          <p:nvPr/>
        </p:nvSpPr>
        <p:spPr>
          <a:xfrm>
            <a:off x="1099185" y="1931413"/>
            <a:ext cx="6400800" cy="707886"/>
          </a:xfrm>
          <a:prstGeom prst="rect">
            <a:avLst/>
          </a:prstGeom>
          <a:noFill/>
        </p:spPr>
        <p:txBody>
          <a:bodyPr wrap="square" rtlCol="0">
            <a:spAutoFit/>
          </a:bodyPr>
          <a:lstStyle/>
          <a:p>
            <a:pPr algn="ctr"/>
            <a:r>
              <a:rPr lang="en-IN" sz="4000" b="1" dirty="0"/>
              <a:t>System Architecture</a:t>
            </a:r>
            <a:endParaRPr lang="en-US" sz="4000" b="1" dirty="0">
              <a:latin typeface="Arial Black" pitchFamily="34" charset="0"/>
            </a:endParaRPr>
          </a:p>
        </p:txBody>
      </p:sp>
      <p:sp>
        <p:nvSpPr>
          <p:cNvPr id="4" name="AutoShape 2" descr="Front End and back End [classic] | Creately">
            <a:extLst>
              <a:ext uri="{FF2B5EF4-FFF2-40B4-BE49-F238E27FC236}">
                <a16:creationId xmlns:a16="http://schemas.microsoft.com/office/drawing/2014/main" id="{7C8F9F8F-846D-F92F-19D0-1471BADC06B2}"/>
              </a:ext>
            </a:extLst>
          </p:cNvPr>
          <p:cNvSpPr>
            <a:spLocks noChangeAspect="1" noChangeArrowheads="1"/>
          </p:cNvSpPr>
          <p:nvPr/>
        </p:nvSpPr>
        <p:spPr bwMode="auto">
          <a:xfrm>
            <a:off x="8991600" y="3619500"/>
            <a:ext cx="1676400" cy="167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2" name="Picture 4" descr="Flow diagram showing interaction between Frontend, Node.js Backend, Firebase DB + Authentication, and AI Chatbot Integration">
            <a:extLst>
              <a:ext uri="{FF2B5EF4-FFF2-40B4-BE49-F238E27FC236}">
                <a16:creationId xmlns:a16="http://schemas.microsoft.com/office/drawing/2014/main" id="{BF9AE598-93A2-E8E8-62CE-9F934BC108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959387"/>
            <a:ext cx="9339471" cy="622631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7FB0703-7B63-B007-18E2-4A5E2C2C644A}"/>
              </a:ext>
            </a:extLst>
          </p:cNvPr>
          <p:cNvSpPr txBox="1"/>
          <p:nvPr/>
        </p:nvSpPr>
        <p:spPr>
          <a:xfrm>
            <a:off x="8599170" y="1927949"/>
            <a:ext cx="8229600" cy="8402300"/>
          </a:xfrm>
          <a:prstGeom prst="rect">
            <a:avLst/>
          </a:prstGeom>
          <a:noFill/>
        </p:spPr>
        <p:txBody>
          <a:bodyPr wrap="square" rtlCol="0">
            <a:spAutoFit/>
          </a:bodyPr>
          <a:lstStyle/>
          <a:p>
            <a:pPr marL="457200" indent="-457200">
              <a:buFont typeface="Arial" panose="020B0604020202020204" pitchFamily="34" charset="0"/>
              <a:buChar char="•"/>
            </a:pPr>
            <a:r>
              <a:rPr lang="en-IN" sz="3600" b="1" dirty="0"/>
              <a:t>Title:</a:t>
            </a:r>
            <a:br>
              <a:rPr lang="en-IN" sz="3600" dirty="0"/>
            </a:br>
            <a:r>
              <a:rPr lang="en-IN" sz="3600" dirty="0"/>
              <a:t>Technology Used</a:t>
            </a:r>
          </a:p>
          <a:p>
            <a:endParaRPr lang="en-IN" sz="3600" dirty="0"/>
          </a:p>
          <a:p>
            <a:pPr marL="457200" indent="-457200">
              <a:buFont typeface="Arial" panose="020B0604020202020204" pitchFamily="34" charset="0"/>
              <a:buChar char="•"/>
            </a:pPr>
            <a:r>
              <a:rPr lang="en-IN" sz="3600" b="1" dirty="0"/>
              <a:t>Frontend:</a:t>
            </a:r>
            <a:endParaRPr lang="en-IN" sz="3600" dirty="0"/>
          </a:p>
          <a:p>
            <a:r>
              <a:rPr lang="en-IN" sz="3600" dirty="0"/>
              <a:t>     HTML5, CSS3, JavaScript, React.js</a:t>
            </a:r>
          </a:p>
          <a:p>
            <a:endParaRPr lang="en-IN" sz="3600" dirty="0"/>
          </a:p>
          <a:p>
            <a:pPr marL="457200" indent="-457200">
              <a:buFont typeface="Arial" panose="020B0604020202020204" pitchFamily="34" charset="0"/>
              <a:buChar char="•"/>
            </a:pPr>
            <a:r>
              <a:rPr lang="en-IN" sz="3600" b="1" dirty="0"/>
              <a:t>Backend:</a:t>
            </a:r>
            <a:endParaRPr lang="en-IN" sz="3600" dirty="0"/>
          </a:p>
          <a:p>
            <a:r>
              <a:rPr lang="en-IN" sz="3600" dirty="0"/>
              <a:t>     Node.js (Express.js)</a:t>
            </a:r>
          </a:p>
          <a:p>
            <a:r>
              <a:rPr lang="en-IN" sz="3600" dirty="0"/>
              <a:t>     Firebase (Authentication &amp; Database)</a:t>
            </a:r>
          </a:p>
          <a:p>
            <a:endParaRPr lang="en-IN" sz="3600" dirty="0"/>
          </a:p>
          <a:p>
            <a:pPr marL="457200" indent="-457200">
              <a:buFont typeface="Arial" panose="020B0604020202020204" pitchFamily="34" charset="0"/>
              <a:buChar char="•"/>
            </a:pPr>
            <a:r>
              <a:rPr lang="en-IN" sz="3600" b="1" dirty="0"/>
              <a:t>Other Integrations:</a:t>
            </a:r>
            <a:endParaRPr lang="en-IN" sz="3600" dirty="0"/>
          </a:p>
          <a:p>
            <a:r>
              <a:rPr lang="en-IN" sz="3600" dirty="0"/>
              <a:t>     AI Chatbot for live support</a:t>
            </a:r>
          </a:p>
          <a:p>
            <a:r>
              <a:rPr lang="en-IN" sz="3600" dirty="0"/>
              <a:t>     AREA roles for accessibility</a:t>
            </a:r>
          </a:p>
          <a:p>
            <a:r>
              <a:rPr lang="en-IN" sz="3600" dirty="0"/>
              <a:t>     Responsive Design (mobile-first)</a:t>
            </a:r>
          </a:p>
          <a:p>
            <a:endParaRPr lang="en-IN" sz="3600" dirty="0"/>
          </a:p>
        </p:txBody>
      </p:sp>
      <p:sp>
        <p:nvSpPr>
          <p:cNvPr id="7" name="TextBox 6">
            <a:extLst>
              <a:ext uri="{FF2B5EF4-FFF2-40B4-BE49-F238E27FC236}">
                <a16:creationId xmlns:a16="http://schemas.microsoft.com/office/drawing/2014/main" id="{29A93E3E-B96C-A455-4C8B-DA283588B85C}"/>
              </a:ext>
            </a:extLst>
          </p:cNvPr>
          <p:cNvSpPr txBox="1"/>
          <p:nvPr/>
        </p:nvSpPr>
        <p:spPr>
          <a:xfrm>
            <a:off x="5638800" y="342900"/>
            <a:ext cx="6553200" cy="3170099"/>
          </a:xfrm>
          <a:prstGeom prst="rect">
            <a:avLst/>
          </a:prstGeom>
          <a:noFill/>
        </p:spPr>
        <p:txBody>
          <a:bodyPr wrap="square" rtlCol="0">
            <a:spAutoFit/>
          </a:bodyPr>
          <a:lstStyle/>
          <a:p>
            <a:r>
              <a:rPr lang="en-IN" sz="10000" b="1" dirty="0">
                <a:solidFill>
                  <a:schemeClr val="accent6">
                    <a:lumMod val="60000"/>
                    <a:lumOff val="40000"/>
                  </a:schemeClr>
                </a:solidFill>
              </a:rPr>
              <a:t>Tech </a:t>
            </a:r>
            <a:r>
              <a:rPr lang="en-IN" sz="10000" b="1" dirty="0"/>
              <a:t>Stack</a:t>
            </a:r>
          </a:p>
          <a:p>
            <a:endParaRPr lang="en-IN" sz="10000" dirty="0"/>
          </a:p>
        </p:txBody>
      </p:sp>
    </p:spTree>
    <p:extLst>
      <p:ext uri="{BB962C8B-B14F-4D97-AF65-F5344CB8AC3E}">
        <p14:creationId xmlns:p14="http://schemas.microsoft.com/office/powerpoint/2010/main" val="2210023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1028697" y="4181217"/>
            <a:ext cx="5328493" cy="5816222"/>
            <a:chOff x="0" y="0"/>
            <a:chExt cx="1334464" cy="1407416"/>
          </a:xfrm>
        </p:grpSpPr>
        <p:sp>
          <p:nvSpPr>
            <p:cNvPr id="3" name="Freeform 3"/>
            <p:cNvSpPr/>
            <p:nvPr/>
          </p:nvSpPr>
          <p:spPr>
            <a:xfrm>
              <a:off x="0" y="0"/>
              <a:ext cx="1334464" cy="1407416"/>
            </a:xfrm>
            <a:custGeom>
              <a:avLst/>
              <a:gdLst/>
              <a:ahLst/>
              <a:cxnLst/>
              <a:rect l="l" t="t" r="r" b="b"/>
              <a:pathLst>
                <a:path w="1334464" h="1407416">
                  <a:moveTo>
                    <a:pt x="77927" y="0"/>
                  </a:moveTo>
                  <a:lnTo>
                    <a:pt x="1256537" y="0"/>
                  </a:lnTo>
                  <a:cubicBezTo>
                    <a:pt x="1277204" y="0"/>
                    <a:pt x="1297025" y="8210"/>
                    <a:pt x="1311639" y="22824"/>
                  </a:cubicBezTo>
                  <a:cubicBezTo>
                    <a:pt x="1326254" y="37438"/>
                    <a:pt x="1334464" y="57259"/>
                    <a:pt x="1334464" y="77927"/>
                  </a:cubicBezTo>
                  <a:lnTo>
                    <a:pt x="1334464" y="1329490"/>
                  </a:lnTo>
                  <a:cubicBezTo>
                    <a:pt x="1334464" y="1350157"/>
                    <a:pt x="1326254" y="1369978"/>
                    <a:pt x="1311639" y="1384592"/>
                  </a:cubicBezTo>
                  <a:cubicBezTo>
                    <a:pt x="1297025" y="1399206"/>
                    <a:pt x="1277204" y="1407416"/>
                    <a:pt x="1256537" y="1407416"/>
                  </a:cubicBezTo>
                  <a:lnTo>
                    <a:pt x="77927" y="1407416"/>
                  </a:lnTo>
                  <a:cubicBezTo>
                    <a:pt x="57259" y="1407416"/>
                    <a:pt x="37438" y="1399206"/>
                    <a:pt x="22824" y="1384592"/>
                  </a:cubicBezTo>
                  <a:cubicBezTo>
                    <a:pt x="8210" y="1369978"/>
                    <a:pt x="0" y="1350157"/>
                    <a:pt x="0" y="1329490"/>
                  </a:cubicBezTo>
                  <a:lnTo>
                    <a:pt x="0" y="77927"/>
                  </a:lnTo>
                  <a:cubicBezTo>
                    <a:pt x="0" y="57259"/>
                    <a:pt x="8210" y="37438"/>
                    <a:pt x="22824" y="22824"/>
                  </a:cubicBezTo>
                  <a:cubicBezTo>
                    <a:pt x="37438" y="8210"/>
                    <a:pt x="57259" y="0"/>
                    <a:pt x="77927" y="0"/>
                  </a:cubicBezTo>
                  <a:close/>
                </a:path>
              </a:pathLst>
            </a:custGeom>
            <a:solidFill>
              <a:srgbClr val="DDDDDD"/>
            </a:solidFill>
          </p:spPr>
          <p:txBody>
            <a:bodyPr/>
            <a:lstStyle/>
            <a:p>
              <a:endParaRPr lang="en-IN"/>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5" name="Group 5"/>
          <p:cNvGrpSpPr/>
          <p:nvPr/>
        </p:nvGrpSpPr>
        <p:grpSpPr>
          <a:xfrm>
            <a:off x="6610604" y="4163899"/>
            <a:ext cx="5320208" cy="5816222"/>
            <a:chOff x="0" y="0"/>
            <a:chExt cx="1334464" cy="1407416"/>
          </a:xfrm>
        </p:grpSpPr>
        <p:sp>
          <p:nvSpPr>
            <p:cNvPr id="6" name="Freeform 6"/>
            <p:cNvSpPr/>
            <p:nvPr/>
          </p:nvSpPr>
          <p:spPr>
            <a:xfrm>
              <a:off x="0" y="0"/>
              <a:ext cx="1334464" cy="1407416"/>
            </a:xfrm>
            <a:custGeom>
              <a:avLst/>
              <a:gdLst/>
              <a:ahLst/>
              <a:cxnLst/>
              <a:rect l="l" t="t" r="r" b="b"/>
              <a:pathLst>
                <a:path w="1334464" h="1407416">
                  <a:moveTo>
                    <a:pt x="77927" y="0"/>
                  </a:moveTo>
                  <a:lnTo>
                    <a:pt x="1256537" y="0"/>
                  </a:lnTo>
                  <a:cubicBezTo>
                    <a:pt x="1277204" y="0"/>
                    <a:pt x="1297025" y="8210"/>
                    <a:pt x="1311639" y="22824"/>
                  </a:cubicBezTo>
                  <a:cubicBezTo>
                    <a:pt x="1326254" y="37438"/>
                    <a:pt x="1334464" y="57259"/>
                    <a:pt x="1334464" y="77927"/>
                  </a:cubicBezTo>
                  <a:lnTo>
                    <a:pt x="1334464" y="1329490"/>
                  </a:lnTo>
                  <a:cubicBezTo>
                    <a:pt x="1334464" y="1350157"/>
                    <a:pt x="1326254" y="1369978"/>
                    <a:pt x="1311639" y="1384592"/>
                  </a:cubicBezTo>
                  <a:cubicBezTo>
                    <a:pt x="1297025" y="1399206"/>
                    <a:pt x="1277204" y="1407416"/>
                    <a:pt x="1256537" y="1407416"/>
                  </a:cubicBezTo>
                  <a:lnTo>
                    <a:pt x="77927" y="1407416"/>
                  </a:lnTo>
                  <a:cubicBezTo>
                    <a:pt x="57259" y="1407416"/>
                    <a:pt x="37438" y="1399206"/>
                    <a:pt x="22824" y="1384592"/>
                  </a:cubicBezTo>
                  <a:cubicBezTo>
                    <a:pt x="8210" y="1369978"/>
                    <a:pt x="0" y="1350157"/>
                    <a:pt x="0" y="1329490"/>
                  </a:cubicBezTo>
                  <a:lnTo>
                    <a:pt x="0" y="77927"/>
                  </a:lnTo>
                  <a:cubicBezTo>
                    <a:pt x="0" y="57259"/>
                    <a:pt x="8210" y="37438"/>
                    <a:pt x="22824" y="22824"/>
                  </a:cubicBezTo>
                  <a:cubicBezTo>
                    <a:pt x="37438" y="8210"/>
                    <a:pt x="57259" y="0"/>
                    <a:pt x="77927" y="0"/>
                  </a:cubicBezTo>
                  <a:close/>
                </a:path>
              </a:pathLst>
            </a:custGeom>
            <a:solidFill>
              <a:srgbClr val="DDDDDD"/>
            </a:solidFill>
          </p:spPr>
          <p:txBody>
            <a:bodyPr/>
            <a:lstStyle/>
            <a:p>
              <a:endParaRPr lang="en-IN" dirty="0"/>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 name="Group 8"/>
          <p:cNvGrpSpPr/>
          <p:nvPr/>
        </p:nvGrpSpPr>
        <p:grpSpPr>
          <a:xfrm>
            <a:off x="12191746" y="4181217"/>
            <a:ext cx="5066791" cy="5816222"/>
            <a:chOff x="0" y="0"/>
            <a:chExt cx="1334464" cy="1407416"/>
          </a:xfrm>
        </p:grpSpPr>
        <p:sp>
          <p:nvSpPr>
            <p:cNvPr id="9" name="Freeform 9"/>
            <p:cNvSpPr/>
            <p:nvPr/>
          </p:nvSpPr>
          <p:spPr>
            <a:xfrm>
              <a:off x="0" y="0"/>
              <a:ext cx="1334464" cy="1407416"/>
            </a:xfrm>
            <a:custGeom>
              <a:avLst/>
              <a:gdLst/>
              <a:ahLst/>
              <a:cxnLst/>
              <a:rect l="l" t="t" r="r" b="b"/>
              <a:pathLst>
                <a:path w="1334464" h="1407416">
                  <a:moveTo>
                    <a:pt x="77927" y="0"/>
                  </a:moveTo>
                  <a:lnTo>
                    <a:pt x="1256537" y="0"/>
                  </a:lnTo>
                  <a:cubicBezTo>
                    <a:pt x="1277204" y="0"/>
                    <a:pt x="1297025" y="8210"/>
                    <a:pt x="1311639" y="22824"/>
                  </a:cubicBezTo>
                  <a:cubicBezTo>
                    <a:pt x="1326254" y="37438"/>
                    <a:pt x="1334464" y="57259"/>
                    <a:pt x="1334464" y="77927"/>
                  </a:cubicBezTo>
                  <a:lnTo>
                    <a:pt x="1334464" y="1329490"/>
                  </a:lnTo>
                  <a:cubicBezTo>
                    <a:pt x="1334464" y="1350157"/>
                    <a:pt x="1326254" y="1369978"/>
                    <a:pt x="1311639" y="1384592"/>
                  </a:cubicBezTo>
                  <a:cubicBezTo>
                    <a:pt x="1297025" y="1399206"/>
                    <a:pt x="1277204" y="1407416"/>
                    <a:pt x="1256537" y="1407416"/>
                  </a:cubicBezTo>
                  <a:lnTo>
                    <a:pt x="77927" y="1407416"/>
                  </a:lnTo>
                  <a:cubicBezTo>
                    <a:pt x="57259" y="1407416"/>
                    <a:pt x="37438" y="1399206"/>
                    <a:pt x="22824" y="1384592"/>
                  </a:cubicBezTo>
                  <a:cubicBezTo>
                    <a:pt x="8210" y="1369978"/>
                    <a:pt x="0" y="1350157"/>
                    <a:pt x="0" y="1329490"/>
                  </a:cubicBezTo>
                  <a:lnTo>
                    <a:pt x="0" y="77927"/>
                  </a:lnTo>
                  <a:cubicBezTo>
                    <a:pt x="0" y="57259"/>
                    <a:pt x="8210" y="37438"/>
                    <a:pt x="22824" y="22824"/>
                  </a:cubicBezTo>
                  <a:cubicBezTo>
                    <a:pt x="37438" y="8210"/>
                    <a:pt x="57259" y="0"/>
                    <a:pt x="77927" y="0"/>
                  </a:cubicBezTo>
                  <a:close/>
                </a:path>
              </a:pathLst>
            </a:custGeom>
            <a:solidFill>
              <a:srgbClr val="DDDDDD"/>
            </a:solidFill>
          </p:spPr>
          <p:txBody>
            <a:bodyPr/>
            <a:lstStyle/>
            <a:p>
              <a:endParaRPr lang="en-IN"/>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a:grpSpLocks noChangeAspect="1"/>
          </p:cNvGrpSpPr>
          <p:nvPr/>
        </p:nvGrpSpPr>
        <p:grpSpPr>
          <a:xfrm>
            <a:off x="2102760" y="2227650"/>
            <a:ext cx="2918668" cy="2918668"/>
            <a:chOff x="0" y="0"/>
            <a:chExt cx="6350000" cy="6350000"/>
          </a:xfrm>
          <a:solidFill>
            <a:schemeClr val="accent6">
              <a:lumMod val="40000"/>
              <a:lumOff val="60000"/>
            </a:schemeClr>
          </a:solidFill>
        </p:grpSpPr>
        <p:sp>
          <p:nvSpPr>
            <p:cNvPr id="12" name="Freeform 12"/>
            <p:cNvSpPr/>
            <p:nvPr/>
          </p:nvSpPr>
          <p:spPr>
            <a:xfrm>
              <a:off x="0" y="0"/>
              <a:ext cx="6350000" cy="6350000"/>
            </a:xfrm>
            <a:custGeom>
              <a:avLst/>
              <a:gdLst/>
              <a:ahLst/>
              <a:cxnLst/>
              <a:rect l="l" t="t" r="r" b="b"/>
              <a:pathLst>
                <a:path w="6350000" h="6350000">
                  <a:moveTo>
                    <a:pt x="4474210" y="0"/>
                  </a:moveTo>
                  <a:lnTo>
                    <a:pt x="1875790" y="0"/>
                  </a:lnTo>
                  <a:cubicBezTo>
                    <a:pt x="839470" y="0"/>
                    <a:pt x="0" y="839470"/>
                    <a:pt x="0" y="1875790"/>
                  </a:cubicBezTo>
                  <a:lnTo>
                    <a:pt x="0" y="4474210"/>
                  </a:lnTo>
                  <a:cubicBezTo>
                    <a:pt x="0" y="5510530"/>
                    <a:pt x="839470" y="6350000"/>
                    <a:pt x="1875790" y="6350000"/>
                  </a:cubicBezTo>
                  <a:lnTo>
                    <a:pt x="4474210" y="6350000"/>
                  </a:lnTo>
                  <a:cubicBezTo>
                    <a:pt x="5510530" y="6350000"/>
                    <a:pt x="6350000" y="5510530"/>
                    <a:pt x="6350000" y="4474210"/>
                  </a:cubicBezTo>
                  <a:lnTo>
                    <a:pt x="6350000" y="1875790"/>
                  </a:lnTo>
                  <a:cubicBezTo>
                    <a:pt x="6350000" y="839470"/>
                    <a:pt x="5510530" y="0"/>
                    <a:pt x="4474210" y="0"/>
                  </a:cubicBezTo>
                  <a:close/>
                </a:path>
              </a:pathLst>
            </a:custGeom>
            <a:grpFill/>
          </p:spPr>
          <p:txBody>
            <a:bodyPr/>
            <a:lstStyle/>
            <a:p>
              <a:endParaRPr lang="en-IN"/>
            </a:p>
          </p:txBody>
        </p:sp>
      </p:grpSp>
      <p:grpSp>
        <p:nvGrpSpPr>
          <p:cNvPr id="13" name="Group 13"/>
          <p:cNvGrpSpPr>
            <a:grpSpLocks noChangeAspect="1"/>
          </p:cNvGrpSpPr>
          <p:nvPr/>
        </p:nvGrpSpPr>
        <p:grpSpPr>
          <a:xfrm>
            <a:off x="7684665" y="2224832"/>
            <a:ext cx="2918668" cy="2918668"/>
            <a:chOff x="0" y="0"/>
            <a:chExt cx="6350000" cy="6350000"/>
          </a:xfrm>
          <a:solidFill>
            <a:schemeClr val="accent6">
              <a:lumMod val="40000"/>
              <a:lumOff val="60000"/>
            </a:schemeClr>
          </a:solidFill>
        </p:grpSpPr>
        <p:sp>
          <p:nvSpPr>
            <p:cNvPr id="14" name="Freeform 14"/>
            <p:cNvSpPr/>
            <p:nvPr/>
          </p:nvSpPr>
          <p:spPr>
            <a:xfrm>
              <a:off x="0" y="0"/>
              <a:ext cx="6350000" cy="6350000"/>
            </a:xfrm>
            <a:custGeom>
              <a:avLst/>
              <a:gdLst/>
              <a:ahLst/>
              <a:cxnLst/>
              <a:rect l="l" t="t" r="r" b="b"/>
              <a:pathLst>
                <a:path w="6350000" h="6350000">
                  <a:moveTo>
                    <a:pt x="4474210" y="0"/>
                  </a:moveTo>
                  <a:lnTo>
                    <a:pt x="1875790" y="0"/>
                  </a:lnTo>
                  <a:cubicBezTo>
                    <a:pt x="839470" y="0"/>
                    <a:pt x="0" y="839470"/>
                    <a:pt x="0" y="1875790"/>
                  </a:cubicBezTo>
                  <a:lnTo>
                    <a:pt x="0" y="4474210"/>
                  </a:lnTo>
                  <a:cubicBezTo>
                    <a:pt x="0" y="5510530"/>
                    <a:pt x="839470" y="6350000"/>
                    <a:pt x="1875790" y="6350000"/>
                  </a:cubicBezTo>
                  <a:lnTo>
                    <a:pt x="4474210" y="6350000"/>
                  </a:lnTo>
                  <a:cubicBezTo>
                    <a:pt x="5510530" y="6350000"/>
                    <a:pt x="6350000" y="5510530"/>
                    <a:pt x="6350000" y="4474210"/>
                  </a:cubicBezTo>
                  <a:lnTo>
                    <a:pt x="6350000" y="1875790"/>
                  </a:lnTo>
                  <a:cubicBezTo>
                    <a:pt x="6350000" y="839470"/>
                    <a:pt x="5510530" y="0"/>
                    <a:pt x="4474210" y="0"/>
                  </a:cubicBezTo>
                  <a:close/>
                </a:path>
              </a:pathLst>
            </a:custGeom>
            <a:grpFill/>
          </p:spPr>
          <p:txBody>
            <a:bodyPr/>
            <a:lstStyle/>
            <a:p>
              <a:endParaRPr lang="en-IN"/>
            </a:p>
          </p:txBody>
        </p:sp>
      </p:grpSp>
      <p:grpSp>
        <p:nvGrpSpPr>
          <p:cNvPr id="15" name="Group 15"/>
          <p:cNvGrpSpPr>
            <a:grpSpLocks noChangeAspect="1"/>
          </p:cNvGrpSpPr>
          <p:nvPr/>
        </p:nvGrpSpPr>
        <p:grpSpPr>
          <a:xfrm>
            <a:off x="13349523" y="2233900"/>
            <a:ext cx="2918668" cy="2918668"/>
            <a:chOff x="0" y="0"/>
            <a:chExt cx="6350000" cy="6350000"/>
          </a:xfrm>
          <a:solidFill>
            <a:schemeClr val="accent6">
              <a:lumMod val="40000"/>
              <a:lumOff val="60000"/>
            </a:schemeClr>
          </a:solidFill>
        </p:grpSpPr>
        <p:sp>
          <p:nvSpPr>
            <p:cNvPr id="16" name="Freeform 16"/>
            <p:cNvSpPr/>
            <p:nvPr/>
          </p:nvSpPr>
          <p:spPr>
            <a:xfrm>
              <a:off x="0" y="0"/>
              <a:ext cx="6350000" cy="6350000"/>
            </a:xfrm>
            <a:custGeom>
              <a:avLst/>
              <a:gdLst/>
              <a:ahLst/>
              <a:cxnLst/>
              <a:rect l="l" t="t" r="r" b="b"/>
              <a:pathLst>
                <a:path w="6350000" h="6350000">
                  <a:moveTo>
                    <a:pt x="4474210" y="0"/>
                  </a:moveTo>
                  <a:lnTo>
                    <a:pt x="1875790" y="0"/>
                  </a:lnTo>
                  <a:cubicBezTo>
                    <a:pt x="839470" y="0"/>
                    <a:pt x="0" y="839470"/>
                    <a:pt x="0" y="1875790"/>
                  </a:cubicBezTo>
                  <a:lnTo>
                    <a:pt x="0" y="4474210"/>
                  </a:lnTo>
                  <a:cubicBezTo>
                    <a:pt x="0" y="5510530"/>
                    <a:pt x="839470" y="6350000"/>
                    <a:pt x="1875790" y="6350000"/>
                  </a:cubicBezTo>
                  <a:lnTo>
                    <a:pt x="4474210" y="6350000"/>
                  </a:lnTo>
                  <a:cubicBezTo>
                    <a:pt x="5510530" y="6350000"/>
                    <a:pt x="6350000" y="5510530"/>
                    <a:pt x="6350000" y="4474210"/>
                  </a:cubicBezTo>
                  <a:lnTo>
                    <a:pt x="6350000" y="1875790"/>
                  </a:lnTo>
                  <a:cubicBezTo>
                    <a:pt x="6350000" y="839470"/>
                    <a:pt x="5510530" y="0"/>
                    <a:pt x="4474210" y="0"/>
                  </a:cubicBezTo>
                  <a:close/>
                </a:path>
              </a:pathLst>
            </a:custGeom>
            <a:grpFill/>
          </p:spPr>
          <p:txBody>
            <a:bodyPr/>
            <a:lstStyle/>
            <a:p>
              <a:endParaRPr lang="en-IN"/>
            </a:p>
          </p:txBody>
        </p:sp>
      </p:grpSp>
      <p:sp>
        <p:nvSpPr>
          <p:cNvPr id="17" name="TextBox 17"/>
          <p:cNvSpPr txBox="1"/>
          <p:nvPr/>
        </p:nvSpPr>
        <p:spPr>
          <a:xfrm>
            <a:off x="1123948" y="5152568"/>
            <a:ext cx="4876291" cy="1282402"/>
          </a:xfrm>
          <a:prstGeom prst="rect">
            <a:avLst/>
          </a:prstGeom>
        </p:spPr>
        <p:txBody>
          <a:bodyPr wrap="square" lIns="0" tIns="0" rIns="0" bIns="0" rtlCol="0" anchor="t">
            <a:spAutoFit/>
          </a:bodyPr>
          <a:lstStyle/>
          <a:p>
            <a:pPr lvl="0" algn="ctr">
              <a:lnSpc>
                <a:spcPts val="5040"/>
              </a:lnSpc>
            </a:pPr>
            <a:r>
              <a:rPr lang="en-IN" sz="4400" dirty="0"/>
              <a:t>Primary Target </a:t>
            </a:r>
          </a:p>
          <a:p>
            <a:pPr lvl="0" algn="ctr">
              <a:lnSpc>
                <a:spcPts val="5040"/>
              </a:lnSpc>
            </a:pPr>
            <a:r>
              <a:rPr lang="en-IN" sz="4400" dirty="0"/>
              <a:t>Users</a:t>
            </a:r>
            <a:endParaRPr lang="en-US" sz="4200" dirty="0">
              <a:solidFill>
                <a:srgbClr val="1A1A1A"/>
              </a:solidFill>
              <a:latin typeface="Telegraf Bold Bold"/>
            </a:endParaRPr>
          </a:p>
        </p:txBody>
      </p:sp>
      <p:sp>
        <p:nvSpPr>
          <p:cNvPr id="18" name="TextBox 18"/>
          <p:cNvSpPr txBox="1"/>
          <p:nvPr/>
        </p:nvSpPr>
        <p:spPr>
          <a:xfrm>
            <a:off x="1372366" y="6697073"/>
            <a:ext cx="4485960" cy="3052118"/>
          </a:xfrm>
          <a:prstGeom prst="rect">
            <a:avLst/>
          </a:prstGeom>
        </p:spPr>
        <p:txBody>
          <a:bodyPr wrap="square" lIns="0" tIns="0" rIns="0" bIns="0" rtlCol="0" anchor="t">
            <a:spAutoFit/>
          </a:bodyPr>
          <a:lstStyle/>
          <a:p>
            <a:pPr lvl="0" algn="ctr">
              <a:lnSpc>
                <a:spcPts val="3359"/>
              </a:lnSpc>
            </a:pPr>
            <a:r>
              <a:rPr lang="en-IN" sz="3000" dirty="0"/>
              <a:t>Individuals with Cognitive Disabilities, Neurodivergent Users, </a:t>
            </a:r>
            <a:r>
              <a:rPr lang="en-US" sz="3000" dirty="0"/>
              <a:t>Users who may not be formally diagnosed but prefer or require low-stimulation, highly structured digital interfaces.</a:t>
            </a:r>
            <a:endParaRPr lang="en-US" sz="3000" u="none" dirty="0">
              <a:solidFill>
                <a:srgbClr val="1A1A1A"/>
              </a:solidFill>
              <a:latin typeface="Poppins"/>
            </a:endParaRPr>
          </a:p>
        </p:txBody>
      </p:sp>
      <p:sp>
        <p:nvSpPr>
          <p:cNvPr id="19" name="TextBox 19"/>
          <p:cNvSpPr txBox="1"/>
          <p:nvPr/>
        </p:nvSpPr>
        <p:spPr>
          <a:xfrm>
            <a:off x="6676252" y="5111926"/>
            <a:ext cx="4814909" cy="1354217"/>
          </a:xfrm>
          <a:prstGeom prst="rect">
            <a:avLst/>
          </a:prstGeom>
        </p:spPr>
        <p:txBody>
          <a:bodyPr wrap="square" lIns="0" tIns="0" rIns="0" bIns="0" rtlCol="0" anchor="t">
            <a:spAutoFit/>
          </a:bodyPr>
          <a:lstStyle/>
          <a:p>
            <a:pPr algn="ctr"/>
            <a:r>
              <a:rPr lang="en-IN" sz="4400" dirty="0"/>
              <a:t>Secondary Target Users</a:t>
            </a:r>
          </a:p>
        </p:txBody>
      </p:sp>
      <p:sp>
        <p:nvSpPr>
          <p:cNvPr id="20" name="TextBox 20"/>
          <p:cNvSpPr txBox="1"/>
          <p:nvPr/>
        </p:nvSpPr>
        <p:spPr>
          <a:xfrm>
            <a:off x="7096320" y="6702442"/>
            <a:ext cx="3647880" cy="2180084"/>
          </a:xfrm>
          <a:prstGeom prst="rect">
            <a:avLst/>
          </a:prstGeom>
        </p:spPr>
        <p:txBody>
          <a:bodyPr wrap="square" lIns="0" tIns="0" rIns="0" bIns="0" rtlCol="0" anchor="t">
            <a:spAutoFit/>
          </a:bodyPr>
          <a:lstStyle/>
          <a:p>
            <a:pPr algn="ctr">
              <a:lnSpc>
                <a:spcPts val="3359"/>
              </a:lnSpc>
            </a:pPr>
            <a:r>
              <a:rPr lang="en-IN" sz="3000" dirty="0"/>
              <a:t>Parents &amp; Caregivers, Special Educators and Therapists, Nonprofits &amp; Accessibility Advocates</a:t>
            </a:r>
            <a:endParaRPr lang="en-US" sz="3000" dirty="0">
              <a:solidFill>
                <a:srgbClr val="1A1A1A"/>
              </a:solidFill>
              <a:latin typeface="Poppins"/>
            </a:endParaRPr>
          </a:p>
        </p:txBody>
      </p:sp>
      <p:sp>
        <p:nvSpPr>
          <p:cNvPr id="21" name="TextBox 21"/>
          <p:cNvSpPr txBox="1"/>
          <p:nvPr/>
        </p:nvSpPr>
        <p:spPr>
          <a:xfrm>
            <a:off x="12580577" y="5179021"/>
            <a:ext cx="4456560" cy="641201"/>
          </a:xfrm>
          <a:prstGeom prst="rect">
            <a:avLst/>
          </a:prstGeom>
        </p:spPr>
        <p:txBody>
          <a:bodyPr lIns="0" tIns="0" rIns="0" bIns="0" rtlCol="0" anchor="t">
            <a:spAutoFit/>
          </a:bodyPr>
          <a:lstStyle/>
          <a:p>
            <a:pPr marL="0" lvl="0" indent="0" algn="ctr">
              <a:lnSpc>
                <a:spcPts val="5040"/>
              </a:lnSpc>
            </a:pPr>
            <a:r>
              <a:rPr lang="en-US" sz="4200" dirty="0">
                <a:solidFill>
                  <a:srgbClr val="1A1A1A"/>
                </a:solidFill>
                <a:latin typeface="Telegraf Bold Bold"/>
              </a:rPr>
              <a:t>Other Users</a:t>
            </a:r>
          </a:p>
        </p:txBody>
      </p:sp>
      <p:sp>
        <p:nvSpPr>
          <p:cNvPr id="22" name="TextBox 22"/>
          <p:cNvSpPr txBox="1"/>
          <p:nvPr/>
        </p:nvSpPr>
        <p:spPr>
          <a:xfrm>
            <a:off x="12370499" y="6702953"/>
            <a:ext cx="4876716" cy="3042308"/>
          </a:xfrm>
          <a:prstGeom prst="rect">
            <a:avLst/>
          </a:prstGeom>
        </p:spPr>
        <p:txBody>
          <a:bodyPr wrap="square" lIns="0" tIns="0" rIns="0" bIns="0" rtlCol="0" anchor="t">
            <a:spAutoFit/>
          </a:bodyPr>
          <a:lstStyle/>
          <a:p>
            <a:pPr lvl="0" algn="ctr">
              <a:lnSpc>
                <a:spcPts val="3359"/>
              </a:lnSpc>
            </a:pPr>
            <a:r>
              <a:rPr lang="en-IN" sz="3000" dirty="0"/>
              <a:t>Educational Institutions, Government &amp; Public Service Platforms, Mental Health Support Groups, </a:t>
            </a:r>
            <a:r>
              <a:rPr lang="en-US" sz="3000" dirty="0"/>
              <a:t>UX Designers and Accessibility Researchers, International Aid and Relief Organizations</a:t>
            </a:r>
            <a:endParaRPr lang="en-US" sz="3000" dirty="0">
              <a:solidFill>
                <a:srgbClr val="1A1A1A"/>
              </a:solidFill>
              <a:latin typeface="Poppins"/>
            </a:endParaRPr>
          </a:p>
        </p:txBody>
      </p:sp>
      <p:sp>
        <p:nvSpPr>
          <p:cNvPr id="23" name="TextBox 23"/>
          <p:cNvSpPr txBox="1"/>
          <p:nvPr/>
        </p:nvSpPr>
        <p:spPr>
          <a:xfrm>
            <a:off x="2173294" y="544181"/>
            <a:ext cx="13941409" cy="1300356"/>
          </a:xfrm>
          <a:prstGeom prst="rect">
            <a:avLst/>
          </a:prstGeom>
        </p:spPr>
        <p:txBody>
          <a:bodyPr lIns="0" tIns="0" rIns="0" bIns="0" rtlCol="0" anchor="t">
            <a:spAutoFit/>
          </a:bodyPr>
          <a:lstStyle/>
          <a:p>
            <a:pPr marL="0" lvl="0" indent="0" algn="ctr">
              <a:lnSpc>
                <a:spcPts val="9999"/>
              </a:lnSpc>
            </a:pPr>
            <a:r>
              <a:rPr lang="en-US" sz="9999" dirty="0">
                <a:solidFill>
                  <a:srgbClr val="ECA406"/>
                </a:solidFill>
                <a:latin typeface="Telegraf Bold Bold"/>
              </a:rPr>
              <a:t>Target </a:t>
            </a:r>
            <a:r>
              <a:rPr lang="en-US" sz="9999" dirty="0">
                <a:latin typeface="Telegraf Bold Bold"/>
              </a:rPr>
              <a:t>User</a:t>
            </a:r>
          </a:p>
        </p:txBody>
      </p:sp>
      <p:pic>
        <p:nvPicPr>
          <p:cNvPr id="31" name="Picture 30">
            <a:extLst>
              <a:ext uri="{FF2B5EF4-FFF2-40B4-BE49-F238E27FC236}">
                <a16:creationId xmlns:a16="http://schemas.microsoft.com/office/drawing/2014/main" id="{E52A0F97-D058-2B06-EFEA-6A8D9065E3EE}"/>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32" name="Picture 31">
            <a:extLst>
              <a:ext uri="{FF2B5EF4-FFF2-40B4-BE49-F238E27FC236}">
                <a16:creationId xmlns:a16="http://schemas.microsoft.com/office/drawing/2014/main" id="{8B9A54EF-D7F3-E4D9-5BB1-06589CAEE380}"/>
              </a:ext>
            </a:extLst>
          </p:cNvPr>
          <p:cNvPicPr>
            <a:picLocks noChangeAspect="1"/>
          </p:cNvPicPr>
          <p:nvPr/>
        </p:nvPicPr>
        <p:blipFill>
          <a:blip r:embed="rId3" cstate="print"/>
          <a:stretch>
            <a:fillRect/>
          </a:stretch>
        </p:blipFill>
        <p:spPr>
          <a:xfrm>
            <a:off x="1" y="289561"/>
            <a:ext cx="3200400" cy="846332"/>
          </a:xfrm>
          <a:prstGeom prst="rect">
            <a:avLst/>
          </a:prstGeom>
        </p:spPr>
      </p:pic>
      <p:sp>
        <p:nvSpPr>
          <p:cNvPr id="24" name="TextBox 23">
            <a:extLst>
              <a:ext uri="{FF2B5EF4-FFF2-40B4-BE49-F238E27FC236}">
                <a16:creationId xmlns:a16="http://schemas.microsoft.com/office/drawing/2014/main" id="{3D59B148-F140-C1A8-F4AF-224867A49468}"/>
              </a:ext>
            </a:extLst>
          </p:cNvPr>
          <p:cNvSpPr txBox="1"/>
          <p:nvPr/>
        </p:nvSpPr>
        <p:spPr>
          <a:xfrm>
            <a:off x="8632041" y="3149492"/>
            <a:ext cx="1485645" cy="1015663"/>
          </a:xfrm>
          <a:prstGeom prst="rect">
            <a:avLst/>
          </a:prstGeom>
          <a:noFill/>
        </p:spPr>
        <p:txBody>
          <a:bodyPr wrap="square" rtlCol="0">
            <a:spAutoFit/>
          </a:bodyPr>
          <a:lstStyle/>
          <a:p>
            <a:r>
              <a:rPr lang="en-IN" sz="6000" dirty="0"/>
              <a:t>02</a:t>
            </a:r>
          </a:p>
        </p:txBody>
      </p:sp>
      <p:sp>
        <p:nvSpPr>
          <p:cNvPr id="25" name="TextBox 24">
            <a:extLst>
              <a:ext uri="{FF2B5EF4-FFF2-40B4-BE49-F238E27FC236}">
                <a16:creationId xmlns:a16="http://schemas.microsoft.com/office/drawing/2014/main" id="{1A294D2C-B928-D195-F960-96A5C35DC412}"/>
              </a:ext>
            </a:extLst>
          </p:cNvPr>
          <p:cNvSpPr txBox="1"/>
          <p:nvPr/>
        </p:nvSpPr>
        <p:spPr>
          <a:xfrm>
            <a:off x="3162554" y="3223437"/>
            <a:ext cx="1485645" cy="1015663"/>
          </a:xfrm>
          <a:prstGeom prst="rect">
            <a:avLst/>
          </a:prstGeom>
          <a:noFill/>
        </p:spPr>
        <p:txBody>
          <a:bodyPr wrap="square" rtlCol="0">
            <a:spAutoFit/>
          </a:bodyPr>
          <a:lstStyle/>
          <a:p>
            <a:r>
              <a:rPr lang="en-IN" sz="6000" dirty="0"/>
              <a:t>01</a:t>
            </a:r>
          </a:p>
        </p:txBody>
      </p:sp>
      <p:sp>
        <p:nvSpPr>
          <p:cNvPr id="26" name="TextBox 25">
            <a:extLst>
              <a:ext uri="{FF2B5EF4-FFF2-40B4-BE49-F238E27FC236}">
                <a16:creationId xmlns:a16="http://schemas.microsoft.com/office/drawing/2014/main" id="{C07FE4D2-F8C0-CAC9-39D6-6C20E991B35E}"/>
              </a:ext>
            </a:extLst>
          </p:cNvPr>
          <p:cNvSpPr txBox="1"/>
          <p:nvPr/>
        </p:nvSpPr>
        <p:spPr>
          <a:xfrm>
            <a:off x="14366735" y="3139101"/>
            <a:ext cx="1485645" cy="1015663"/>
          </a:xfrm>
          <a:prstGeom prst="rect">
            <a:avLst/>
          </a:prstGeom>
          <a:noFill/>
        </p:spPr>
        <p:txBody>
          <a:bodyPr wrap="square" rtlCol="0">
            <a:spAutoFit/>
          </a:bodyPr>
          <a:lstStyle/>
          <a:p>
            <a:r>
              <a:rPr lang="en-IN" sz="6000" dirty="0"/>
              <a:t>03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Group 5"/>
          <p:cNvGrpSpPr/>
          <p:nvPr/>
        </p:nvGrpSpPr>
        <p:grpSpPr>
          <a:xfrm>
            <a:off x="252791" y="3962517"/>
            <a:ext cx="4337352" cy="5875971"/>
            <a:chOff x="0" y="-38100"/>
            <a:chExt cx="2025441" cy="2253788"/>
          </a:xfrm>
        </p:grpSpPr>
        <p:sp>
          <p:nvSpPr>
            <p:cNvPr id="6" name="Freeform 6"/>
            <p:cNvSpPr/>
            <p:nvPr/>
          </p:nvSpPr>
          <p:spPr>
            <a:xfrm>
              <a:off x="0" y="0"/>
              <a:ext cx="2025441" cy="2215688"/>
            </a:xfrm>
            <a:custGeom>
              <a:avLst/>
              <a:gdLst/>
              <a:ahLst/>
              <a:cxnLst/>
              <a:rect l="l" t="t" r="r" b="b"/>
              <a:pathLst>
                <a:path w="2025441" h="2215688">
                  <a:moveTo>
                    <a:pt x="104969" y="0"/>
                  </a:moveTo>
                  <a:lnTo>
                    <a:pt x="1920472" y="0"/>
                  </a:lnTo>
                  <a:cubicBezTo>
                    <a:pt x="1948311" y="0"/>
                    <a:pt x="1975010" y="11059"/>
                    <a:pt x="1994696" y="30745"/>
                  </a:cubicBezTo>
                  <a:cubicBezTo>
                    <a:pt x="2014381" y="50430"/>
                    <a:pt x="2025441" y="77129"/>
                    <a:pt x="2025441" y="104969"/>
                  </a:cubicBezTo>
                  <a:lnTo>
                    <a:pt x="2025441" y="2110719"/>
                  </a:lnTo>
                  <a:cubicBezTo>
                    <a:pt x="2025441" y="2138558"/>
                    <a:pt x="2014381" y="2165258"/>
                    <a:pt x="1994696" y="2184943"/>
                  </a:cubicBezTo>
                  <a:cubicBezTo>
                    <a:pt x="1975010" y="2204628"/>
                    <a:pt x="1948311" y="2215688"/>
                    <a:pt x="1920472" y="2215688"/>
                  </a:cubicBezTo>
                  <a:lnTo>
                    <a:pt x="104969" y="2215688"/>
                  </a:lnTo>
                  <a:cubicBezTo>
                    <a:pt x="77129" y="2215688"/>
                    <a:pt x="50430" y="2204628"/>
                    <a:pt x="30745" y="2184943"/>
                  </a:cubicBezTo>
                  <a:cubicBezTo>
                    <a:pt x="11059" y="2165258"/>
                    <a:pt x="0" y="2138558"/>
                    <a:pt x="0" y="2110719"/>
                  </a:cubicBezTo>
                  <a:lnTo>
                    <a:pt x="0" y="104969"/>
                  </a:lnTo>
                  <a:cubicBezTo>
                    <a:pt x="0" y="77129"/>
                    <a:pt x="11059" y="50430"/>
                    <a:pt x="30745" y="30745"/>
                  </a:cubicBezTo>
                  <a:cubicBezTo>
                    <a:pt x="50430" y="11059"/>
                    <a:pt x="77129" y="0"/>
                    <a:pt x="104969" y="0"/>
                  </a:cubicBezTo>
                  <a:close/>
                </a:path>
              </a:pathLst>
            </a:custGeom>
            <a:solidFill>
              <a:srgbClr val="F5F5F5"/>
            </a:solidFill>
          </p:spPr>
          <p:txBody>
            <a:bodyPr/>
            <a:lstStyle/>
            <a:p>
              <a:endParaRPr lang="en-IN" dirty="0"/>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 name="Group 8"/>
          <p:cNvGrpSpPr/>
          <p:nvPr/>
        </p:nvGrpSpPr>
        <p:grpSpPr>
          <a:xfrm>
            <a:off x="4753044" y="4061850"/>
            <a:ext cx="4193516" cy="6100512"/>
            <a:chOff x="0" y="0"/>
            <a:chExt cx="2025440" cy="2215688"/>
          </a:xfrm>
        </p:grpSpPr>
        <p:sp>
          <p:nvSpPr>
            <p:cNvPr id="9" name="Freeform 9"/>
            <p:cNvSpPr/>
            <p:nvPr/>
          </p:nvSpPr>
          <p:spPr>
            <a:xfrm>
              <a:off x="0" y="0"/>
              <a:ext cx="2025441" cy="2215688"/>
            </a:xfrm>
            <a:custGeom>
              <a:avLst/>
              <a:gdLst/>
              <a:ahLst/>
              <a:cxnLst/>
              <a:rect l="l" t="t" r="r" b="b"/>
              <a:pathLst>
                <a:path w="2025441" h="2215688">
                  <a:moveTo>
                    <a:pt x="104969" y="0"/>
                  </a:moveTo>
                  <a:lnTo>
                    <a:pt x="1920472" y="0"/>
                  </a:lnTo>
                  <a:cubicBezTo>
                    <a:pt x="1948311" y="0"/>
                    <a:pt x="1975010" y="11059"/>
                    <a:pt x="1994696" y="30745"/>
                  </a:cubicBezTo>
                  <a:cubicBezTo>
                    <a:pt x="2014381" y="50430"/>
                    <a:pt x="2025441" y="77129"/>
                    <a:pt x="2025441" y="104969"/>
                  </a:cubicBezTo>
                  <a:lnTo>
                    <a:pt x="2025441" y="2110719"/>
                  </a:lnTo>
                  <a:cubicBezTo>
                    <a:pt x="2025441" y="2138558"/>
                    <a:pt x="2014381" y="2165258"/>
                    <a:pt x="1994696" y="2184943"/>
                  </a:cubicBezTo>
                  <a:cubicBezTo>
                    <a:pt x="1975010" y="2204628"/>
                    <a:pt x="1948311" y="2215688"/>
                    <a:pt x="1920472" y="2215688"/>
                  </a:cubicBezTo>
                  <a:lnTo>
                    <a:pt x="104969" y="2215688"/>
                  </a:lnTo>
                  <a:cubicBezTo>
                    <a:pt x="77129" y="2215688"/>
                    <a:pt x="50430" y="2204628"/>
                    <a:pt x="30745" y="2184943"/>
                  </a:cubicBezTo>
                  <a:cubicBezTo>
                    <a:pt x="11059" y="2165258"/>
                    <a:pt x="0" y="2138558"/>
                    <a:pt x="0" y="2110719"/>
                  </a:cubicBezTo>
                  <a:lnTo>
                    <a:pt x="0" y="104969"/>
                  </a:lnTo>
                  <a:cubicBezTo>
                    <a:pt x="0" y="77129"/>
                    <a:pt x="11059" y="50430"/>
                    <a:pt x="30745" y="30745"/>
                  </a:cubicBezTo>
                  <a:cubicBezTo>
                    <a:pt x="50430" y="11059"/>
                    <a:pt x="77129" y="0"/>
                    <a:pt x="104969" y="0"/>
                  </a:cubicBezTo>
                  <a:close/>
                </a:path>
              </a:pathLst>
            </a:custGeom>
            <a:solidFill>
              <a:srgbClr val="F5F5F5"/>
            </a:solidFill>
          </p:spPr>
          <p:txBody>
            <a:bodyPr/>
            <a:lstStyle/>
            <a:p>
              <a:pPr algn="ctr"/>
              <a:endParaRPr lang="en-IN" dirty="0"/>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a:off x="9099477" y="4071893"/>
            <a:ext cx="4393205" cy="6018730"/>
            <a:chOff x="0" y="-38100"/>
            <a:chExt cx="2036984" cy="2222117"/>
          </a:xfrm>
        </p:grpSpPr>
        <p:sp>
          <p:nvSpPr>
            <p:cNvPr id="12" name="Freeform 12"/>
            <p:cNvSpPr/>
            <p:nvPr/>
          </p:nvSpPr>
          <p:spPr>
            <a:xfrm>
              <a:off x="11543" y="-31671"/>
              <a:ext cx="2025441" cy="2215688"/>
            </a:xfrm>
            <a:custGeom>
              <a:avLst/>
              <a:gdLst/>
              <a:ahLst/>
              <a:cxnLst/>
              <a:rect l="l" t="t" r="r" b="b"/>
              <a:pathLst>
                <a:path w="2025441" h="2215688">
                  <a:moveTo>
                    <a:pt x="104969" y="0"/>
                  </a:moveTo>
                  <a:lnTo>
                    <a:pt x="1920472" y="0"/>
                  </a:lnTo>
                  <a:cubicBezTo>
                    <a:pt x="1948311" y="0"/>
                    <a:pt x="1975010" y="11059"/>
                    <a:pt x="1994696" y="30745"/>
                  </a:cubicBezTo>
                  <a:cubicBezTo>
                    <a:pt x="2014381" y="50430"/>
                    <a:pt x="2025441" y="77129"/>
                    <a:pt x="2025441" y="104969"/>
                  </a:cubicBezTo>
                  <a:lnTo>
                    <a:pt x="2025441" y="2110719"/>
                  </a:lnTo>
                  <a:cubicBezTo>
                    <a:pt x="2025441" y="2138558"/>
                    <a:pt x="2014381" y="2165258"/>
                    <a:pt x="1994696" y="2184943"/>
                  </a:cubicBezTo>
                  <a:cubicBezTo>
                    <a:pt x="1975010" y="2204628"/>
                    <a:pt x="1948311" y="2215688"/>
                    <a:pt x="1920472" y="2215688"/>
                  </a:cubicBezTo>
                  <a:lnTo>
                    <a:pt x="104969" y="2215688"/>
                  </a:lnTo>
                  <a:cubicBezTo>
                    <a:pt x="77129" y="2215688"/>
                    <a:pt x="50430" y="2204628"/>
                    <a:pt x="30745" y="2184943"/>
                  </a:cubicBezTo>
                  <a:cubicBezTo>
                    <a:pt x="11059" y="2165258"/>
                    <a:pt x="0" y="2138558"/>
                    <a:pt x="0" y="2110719"/>
                  </a:cubicBezTo>
                  <a:lnTo>
                    <a:pt x="0" y="104969"/>
                  </a:lnTo>
                  <a:cubicBezTo>
                    <a:pt x="0" y="77129"/>
                    <a:pt x="11059" y="50430"/>
                    <a:pt x="30745" y="30745"/>
                  </a:cubicBezTo>
                  <a:cubicBezTo>
                    <a:pt x="50430" y="11059"/>
                    <a:pt x="77129" y="0"/>
                    <a:pt x="104969" y="0"/>
                  </a:cubicBezTo>
                  <a:close/>
                </a:path>
              </a:pathLst>
            </a:custGeom>
            <a:solidFill>
              <a:srgbClr val="F5F5F5"/>
            </a:solidFill>
          </p:spPr>
          <p:txBody>
            <a:bodyPr/>
            <a:lstStyle/>
            <a:p>
              <a:endParaRPr lang="en-IN"/>
            </a:p>
          </p:txBody>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4" name="Group 14"/>
          <p:cNvGrpSpPr/>
          <p:nvPr/>
        </p:nvGrpSpPr>
        <p:grpSpPr>
          <a:xfrm>
            <a:off x="13684001" y="3956948"/>
            <a:ext cx="4351208" cy="6100512"/>
            <a:chOff x="0" y="-38100"/>
            <a:chExt cx="2025441" cy="2253788"/>
          </a:xfrm>
        </p:grpSpPr>
        <p:sp>
          <p:nvSpPr>
            <p:cNvPr id="15" name="Freeform 15"/>
            <p:cNvSpPr/>
            <p:nvPr/>
          </p:nvSpPr>
          <p:spPr>
            <a:xfrm>
              <a:off x="0" y="0"/>
              <a:ext cx="2025441" cy="2215688"/>
            </a:xfrm>
            <a:custGeom>
              <a:avLst/>
              <a:gdLst/>
              <a:ahLst/>
              <a:cxnLst/>
              <a:rect l="l" t="t" r="r" b="b"/>
              <a:pathLst>
                <a:path w="2025441" h="2215688">
                  <a:moveTo>
                    <a:pt x="104969" y="0"/>
                  </a:moveTo>
                  <a:lnTo>
                    <a:pt x="1920472" y="0"/>
                  </a:lnTo>
                  <a:cubicBezTo>
                    <a:pt x="1948311" y="0"/>
                    <a:pt x="1975010" y="11059"/>
                    <a:pt x="1994696" y="30745"/>
                  </a:cubicBezTo>
                  <a:cubicBezTo>
                    <a:pt x="2014381" y="50430"/>
                    <a:pt x="2025441" y="77129"/>
                    <a:pt x="2025441" y="104969"/>
                  </a:cubicBezTo>
                  <a:lnTo>
                    <a:pt x="2025441" y="2110719"/>
                  </a:lnTo>
                  <a:cubicBezTo>
                    <a:pt x="2025441" y="2138558"/>
                    <a:pt x="2014381" y="2165258"/>
                    <a:pt x="1994696" y="2184943"/>
                  </a:cubicBezTo>
                  <a:cubicBezTo>
                    <a:pt x="1975010" y="2204628"/>
                    <a:pt x="1948311" y="2215688"/>
                    <a:pt x="1920472" y="2215688"/>
                  </a:cubicBezTo>
                  <a:lnTo>
                    <a:pt x="104969" y="2215688"/>
                  </a:lnTo>
                  <a:cubicBezTo>
                    <a:pt x="77129" y="2215688"/>
                    <a:pt x="50430" y="2204628"/>
                    <a:pt x="30745" y="2184943"/>
                  </a:cubicBezTo>
                  <a:cubicBezTo>
                    <a:pt x="11059" y="2165258"/>
                    <a:pt x="0" y="2138558"/>
                    <a:pt x="0" y="2110719"/>
                  </a:cubicBezTo>
                  <a:lnTo>
                    <a:pt x="0" y="104969"/>
                  </a:lnTo>
                  <a:cubicBezTo>
                    <a:pt x="0" y="77129"/>
                    <a:pt x="11059" y="50430"/>
                    <a:pt x="30745" y="30745"/>
                  </a:cubicBezTo>
                  <a:cubicBezTo>
                    <a:pt x="50430" y="11059"/>
                    <a:pt x="77129" y="0"/>
                    <a:pt x="104969" y="0"/>
                  </a:cubicBezTo>
                  <a:close/>
                </a:path>
              </a:pathLst>
            </a:custGeom>
            <a:solidFill>
              <a:srgbClr val="F5F5F5"/>
            </a:solidFill>
          </p:spPr>
          <p:txBody>
            <a:bodyPr/>
            <a:lstStyle/>
            <a:p>
              <a:endParaRPr lang="en-IN" dirty="0"/>
            </a:p>
          </p:txBody>
        </p:sp>
        <p:sp>
          <p:nvSpPr>
            <p:cNvPr id="16" name="TextBox 16"/>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17" name="Freeform 17"/>
          <p:cNvSpPr/>
          <p:nvPr/>
        </p:nvSpPr>
        <p:spPr>
          <a:xfrm>
            <a:off x="1761413" y="4104950"/>
            <a:ext cx="1218113" cy="1063080"/>
          </a:xfrm>
          <a:custGeom>
            <a:avLst/>
            <a:gdLst/>
            <a:ahLst/>
            <a:cxnLst/>
            <a:rect l="l" t="t" r="r" b="b"/>
            <a:pathLst>
              <a:path w="1218113" h="1063080">
                <a:moveTo>
                  <a:pt x="0" y="0"/>
                </a:moveTo>
                <a:lnTo>
                  <a:pt x="1218112" y="0"/>
                </a:lnTo>
                <a:lnTo>
                  <a:pt x="1218112" y="1063080"/>
                </a:lnTo>
                <a:lnTo>
                  <a:pt x="0" y="1063080"/>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8" name="Freeform 18"/>
          <p:cNvSpPr/>
          <p:nvPr/>
        </p:nvSpPr>
        <p:spPr>
          <a:xfrm>
            <a:off x="6309520" y="4112459"/>
            <a:ext cx="856263" cy="1063080"/>
          </a:xfrm>
          <a:custGeom>
            <a:avLst/>
            <a:gdLst/>
            <a:ahLst/>
            <a:cxnLst/>
            <a:rect l="l" t="t" r="r" b="b"/>
            <a:pathLst>
              <a:path w="856263" h="1063080">
                <a:moveTo>
                  <a:pt x="0" y="0"/>
                </a:moveTo>
                <a:lnTo>
                  <a:pt x="856263" y="0"/>
                </a:lnTo>
                <a:lnTo>
                  <a:pt x="856263" y="1063080"/>
                </a:lnTo>
                <a:lnTo>
                  <a:pt x="0" y="1063080"/>
                </a:lnTo>
                <a:lnTo>
                  <a:pt x="0" y="0"/>
                </a:lnTo>
                <a:close/>
              </a:path>
            </a:pathLst>
          </a:custGeom>
          <a:blipFill>
            <a:blip r:embed="rId4" cstate="print">
              <a:extLst>
                <a:ext uri="{96DAC541-7B7A-43D3-8B79-37D633B846F1}">
                  <asvg:svgBlip xmlns:asvg="http://schemas.microsoft.com/office/drawing/2016/SVG/main" r:embed="rId5"/>
                </a:ext>
              </a:extLst>
            </a:blip>
            <a:stretch>
              <a:fillRect/>
            </a:stretch>
          </a:blipFill>
        </p:spPr>
        <p:txBody>
          <a:bodyPr/>
          <a:lstStyle/>
          <a:p>
            <a:pPr algn="ctr"/>
            <a:endParaRPr lang="en-IN" dirty="0"/>
          </a:p>
        </p:txBody>
      </p:sp>
      <p:sp>
        <p:nvSpPr>
          <p:cNvPr id="19" name="Freeform 19"/>
          <p:cNvSpPr/>
          <p:nvPr/>
        </p:nvSpPr>
        <p:spPr>
          <a:xfrm>
            <a:off x="10653412" y="4133413"/>
            <a:ext cx="1231803" cy="1063080"/>
          </a:xfrm>
          <a:custGeom>
            <a:avLst/>
            <a:gdLst/>
            <a:ahLst/>
            <a:cxnLst/>
            <a:rect l="l" t="t" r="r" b="b"/>
            <a:pathLst>
              <a:path w="1231803" h="1063080">
                <a:moveTo>
                  <a:pt x="0" y="0"/>
                </a:moveTo>
                <a:lnTo>
                  <a:pt x="1231803" y="0"/>
                </a:lnTo>
                <a:lnTo>
                  <a:pt x="1231803" y="1063080"/>
                </a:lnTo>
                <a:lnTo>
                  <a:pt x="0" y="1063080"/>
                </a:lnTo>
                <a:lnTo>
                  <a:pt x="0" y="0"/>
                </a:lnTo>
                <a:close/>
              </a:path>
            </a:pathLst>
          </a:custGeom>
          <a:blipFill>
            <a:blip r:embed="rId6" cstate="print">
              <a:extLst>
                <a:ext uri="{96DAC541-7B7A-43D3-8B79-37D633B846F1}">
                  <asvg:svgBlip xmlns:asvg="http://schemas.microsoft.com/office/drawing/2016/SVG/main" r:embed="rId7"/>
                </a:ext>
              </a:extLst>
            </a:blip>
            <a:stretch>
              <a:fillRect/>
            </a:stretch>
          </a:blipFill>
        </p:spPr>
        <p:txBody>
          <a:bodyPr/>
          <a:lstStyle/>
          <a:p>
            <a:endParaRPr lang="en-IN"/>
          </a:p>
        </p:txBody>
      </p:sp>
      <p:sp>
        <p:nvSpPr>
          <p:cNvPr id="20" name="Freeform 20"/>
          <p:cNvSpPr/>
          <p:nvPr/>
        </p:nvSpPr>
        <p:spPr>
          <a:xfrm>
            <a:off x="15404334" y="4104950"/>
            <a:ext cx="1122253" cy="1063080"/>
          </a:xfrm>
          <a:custGeom>
            <a:avLst/>
            <a:gdLst/>
            <a:ahLst/>
            <a:cxnLst/>
            <a:rect l="l" t="t" r="r" b="b"/>
            <a:pathLst>
              <a:path w="1122253" h="1063080">
                <a:moveTo>
                  <a:pt x="0" y="0"/>
                </a:moveTo>
                <a:lnTo>
                  <a:pt x="1122254" y="0"/>
                </a:lnTo>
                <a:lnTo>
                  <a:pt x="1122254" y="1063080"/>
                </a:lnTo>
                <a:lnTo>
                  <a:pt x="0" y="1063080"/>
                </a:lnTo>
                <a:lnTo>
                  <a:pt x="0" y="0"/>
                </a:lnTo>
                <a:close/>
              </a:path>
            </a:pathLst>
          </a:custGeom>
          <a:blipFill>
            <a:blip r:embed="rId8" cstate="print">
              <a:extLst>
                <a:ext uri="{96DAC541-7B7A-43D3-8B79-37D633B846F1}">
                  <asvg:svgBlip xmlns:asvg="http://schemas.microsoft.com/office/drawing/2016/SVG/main" r:embed="rId9"/>
                </a:ext>
              </a:extLst>
            </a:blip>
            <a:stretch>
              <a:fillRect/>
            </a:stretch>
          </a:blipFill>
        </p:spPr>
        <p:txBody>
          <a:bodyPr/>
          <a:lstStyle/>
          <a:p>
            <a:endParaRPr lang="en-IN"/>
          </a:p>
        </p:txBody>
      </p:sp>
      <p:sp>
        <p:nvSpPr>
          <p:cNvPr id="22" name="TextBox 22"/>
          <p:cNvSpPr txBox="1"/>
          <p:nvPr/>
        </p:nvSpPr>
        <p:spPr>
          <a:xfrm>
            <a:off x="3200401" y="2065033"/>
            <a:ext cx="11648402" cy="1107996"/>
          </a:xfrm>
          <a:prstGeom prst="rect">
            <a:avLst/>
          </a:prstGeom>
        </p:spPr>
        <p:txBody>
          <a:bodyPr wrap="square" lIns="0" tIns="0" rIns="0" bIns="0" rtlCol="0" anchor="t">
            <a:spAutoFit/>
          </a:bodyPr>
          <a:lstStyle/>
          <a:p>
            <a:pPr marL="0" lvl="0" indent="0" algn="ctr">
              <a:lnSpc>
                <a:spcPts val="8000"/>
              </a:lnSpc>
            </a:pPr>
            <a:r>
              <a:rPr lang="en-US" sz="10000" dirty="0">
                <a:solidFill>
                  <a:schemeClr val="accent6">
                    <a:lumMod val="60000"/>
                    <a:lumOff val="40000"/>
                  </a:schemeClr>
                </a:solidFill>
                <a:latin typeface="Telegraf Bold Bold"/>
              </a:rPr>
              <a:t>Competitive</a:t>
            </a:r>
            <a:r>
              <a:rPr lang="en-US" sz="8000" dirty="0">
                <a:solidFill>
                  <a:srgbClr val="1A1A1A"/>
                </a:solidFill>
                <a:latin typeface="Telegraf Bold Bold"/>
              </a:rPr>
              <a:t> </a:t>
            </a:r>
            <a:r>
              <a:rPr lang="en-US" sz="10000" dirty="0">
                <a:solidFill>
                  <a:srgbClr val="1A1A1A"/>
                </a:solidFill>
                <a:latin typeface="Telegraf Bold Bold"/>
              </a:rPr>
              <a:t>Analysis</a:t>
            </a:r>
            <a:r>
              <a:rPr lang="en-US" sz="8000" dirty="0">
                <a:solidFill>
                  <a:srgbClr val="1A1A1A"/>
                </a:solidFill>
                <a:latin typeface="Telegraf Bold Bold"/>
              </a:rPr>
              <a:t> </a:t>
            </a:r>
          </a:p>
        </p:txBody>
      </p:sp>
      <p:sp>
        <p:nvSpPr>
          <p:cNvPr id="23" name="TextBox 23"/>
          <p:cNvSpPr txBox="1"/>
          <p:nvPr/>
        </p:nvSpPr>
        <p:spPr>
          <a:xfrm>
            <a:off x="911896" y="5275510"/>
            <a:ext cx="2934067" cy="4781950"/>
          </a:xfrm>
          <a:prstGeom prst="rect">
            <a:avLst/>
          </a:prstGeom>
        </p:spPr>
        <p:txBody>
          <a:bodyPr wrap="square" lIns="0" tIns="0" rIns="0" bIns="0" rtlCol="0" anchor="t">
            <a:spAutoFit/>
          </a:bodyPr>
          <a:lstStyle/>
          <a:p>
            <a:pPr lvl="0" algn="ctr">
              <a:lnSpc>
                <a:spcPts val="3359"/>
              </a:lnSpc>
            </a:pPr>
            <a:r>
              <a:rPr lang="en-US" sz="2800" dirty="0">
                <a:solidFill>
                  <a:srgbClr val="202124"/>
                </a:solidFill>
                <a:latin typeface="Arial" panose="020B0604020202020204" pitchFamily="34" charset="0"/>
              </a:rPr>
              <a:t>Our Competitors are </a:t>
            </a:r>
            <a:r>
              <a:rPr lang="en-US" sz="2800" dirty="0"/>
              <a:t>LearningRx, Brighton Center, </a:t>
            </a:r>
            <a:r>
              <a:rPr lang="en-US" sz="2800" dirty="0" err="1"/>
              <a:t>Easterseals</a:t>
            </a:r>
            <a:r>
              <a:rPr lang="en-US" sz="2800" dirty="0"/>
              <a:t>, NIEPID, World Disability Union and some small companies provides the different services for cognitive disable persons.</a:t>
            </a:r>
            <a:endParaRPr lang="en-US" sz="2800" dirty="0">
              <a:latin typeface="+mj-lt"/>
            </a:endParaRPr>
          </a:p>
        </p:txBody>
      </p:sp>
      <p:sp>
        <p:nvSpPr>
          <p:cNvPr id="24" name="TextBox 24"/>
          <p:cNvSpPr txBox="1"/>
          <p:nvPr/>
        </p:nvSpPr>
        <p:spPr>
          <a:xfrm>
            <a:off x="5375599" y="5581859"/>
            <a:ext cx="2772822" cy="3877985"/>
          </a:xfrm>
          <a:prstGeom prst="rect">
            <a:avLst/>
          </a:prstGeom>
        </p:spPr>
        <p:txBody>
          <a:bodyPr wrap="square" lIns="0" tIns="0" rIns="0" bIns="0" rtlCol="0" anchor="t">
            <a:spAutoFit/>
          </a:bodyPr>
          <a:lstStyle/>
          <a:p>
            <a:pPr algn="ctr"/>
            <a:r>
              <a:rPr lang="en-US" sz="2800" dirty="0" err="1"/>
              <a:t>Prihub</a:t>
            </a:r>
            <a:r>
              <a:rPr lang="en-US" sz="2800" dirty="0"/>
              <a:t> uniquely combines assistive AI, visual walkthroughs, and end-to-end full-stack design focused entirely on cognitive disability accessibility.</a:t>
            </a:r>
          </a:p>
        </p:txBody>
      </p:sp>
      <p:sp>
        <p:nvSpPr>
          <p:cNvPr id="26" name="TextBox 26"/>
          <p:cNvSpPr txBox="1"/>
          <p:nvPr/>
        </p:nvSpPr>
        <p:spPr>
          <a:xfrm>
            <a:off x="13793133" y="5350864"/>
            <a:ext cx="4132944" cy="4739759"/>
          </a:xfrm>
          <a:prstGeom prst="rect">
            <a:avLst/>
          </a:prstGeom>
        </p:spPr>
        <p:txBody>
          <a:bodyPr wrap="square" lIns="0" tIns="0" rIns="0" bIns="0" rtlCol="0" anchor="t">
            <a:spAutoFit/>
          </a:bodyPr>
          <a:lstStyle/>
          <a:p>
            <a:pPr algn="ctr"/>
            <a:r>
              <a:rPr lang="en-US" sz="2800" dirty="0" err="1"/>
              <a:t>Prihub</a:t>
            </a:r>
            <a:r>
              <a:rPr lang="en-US" sz="2800" dirty="0"/>
              <a:t> taps into the $3–4B global cognitive accessibility market through freemium services, institutional licensing, NGO/government funding, and strategic partnerships—targeting a ₹25–50 crore annual revenue opportunity across regions like India, US, Europe, and Southeast Asia.</a:t>
            </a:r>
            <a:endParaRPr lang="en-US" sz="2800" b="0" i="0" dirty="0">
              <a:solidFill>
                <a:srgbClr val="202124"/>
              </a:solidFill>
              <a:effectLst/>
              <a:latin typeface="Arial" panose="020B0604020202020204" pitchFamily="34" charset="0"/>
            </a:endParaRPr>
          </a:p>
        </p:txBody>
      </p:sp>
      <p:sp>
        <p:nvSpPr>
          <p:cNvPr id="34" name="TextBox 24">
            <a:extLst>
              <a:ext uri="{FF2B5EF4-FFF2-40B4-BE49-F238E27FC236}">
                <a16:creationId xmlns:a16="http://schemas.microsoft.com/office/drawing/2014/main" id="{C194B701-F52D-2F92-171B-045C96F0FCA8}"/>
              </a:ext>
            </a:extLst>
          </p:cNvPr>
          <p:cNvSpPr txBox="1"/>
          <p:nvPr/>
        </p:nvSpPr>
        <p:spPr>
          <a:xfrm>
            <a:off x="9085978" y="5458287"/>
            <a:ext cx="4267287" cy="4781950"/>
          </a:xfrm>
          <a:prstGeom prst="rect">
            <a:avLst/>
          </a:prstGeom>
        </p:spPr>
        <p:txBody>
          <a:bodyPr wrap="square" lIns="0" tIns="0" rIns="0" bIns="0" rtlCol="0" anchor="t">
            <a:spAutoFit/>
          </a:bodyPr>
          <a:lstStyle/>
          <a:p>
            <a:pPr lvl="0" algn="ctr">
              <a:lnSpc>
                <a:spcPts val="3359"/>
              </a:lnSpc>
            </a:pPr>
            <a:r>
              <a:rPr lang="en-US" sz="2800" u="none" dirty="0">
                <a:solidFill>
                  <a:srgbClr val="202124"/>
                </a:solidFill>
                <a:latin typeface="+mj-lt"/>
              </a:rPr>
              <a:t> Key </a:t>
            </a:r>
            <a:r>
              <a:rPr lang="en-US" sz="2800" dirty="0">
                <a:solidFill>
                  <a:srgbClr val="202124"/>
                </a:solidFill>
                <a:latin typeface="+mj-lt"/>
              </a:rPr>
              <a:t>F</a:t>
            </a:r>
            <a:r>
              <a:rPr lang="en-US" sz="2800" u="none" dirty="0">
                <a:solidFill>
                  <a:srgbClr val="202124"/>
                </a:solidFill>
                <a:latin typeface="+mj-lt"/>
              </a:rPr>
              <a:t>eatures - </a:t>
            </a:r>
            <a:r>
              <a:rPr lang="en-IN" sz="2800" dirty="0">
                <a:latin typeface="+mj-lt"/>
              </a:rPr>
              <a:t>Adaptive Step Progression, Visual Cue Highlighting, Context-Aware Help Trigger, Integrated Chatbot Support, Multimodal Guidance, Progress Tracking Bar, Instant Replay Option, Distraction-Free Mode, Feedback &amp; Reinforcement, Language Simplification Engine.</a:t>
            </a:r>
            <a:endParaRPr lang="en-US" sz="2800" u="none" dirty="0">
              <a:solidFill>
                <a:srgbClr val="1A1A1A"/>
              </a:solidFill>
              <a:latin typeface="+mj-lt"/>
            </a:endParaRPr>
          </a:p>
        </p:txBody>
      </p:sp>
      <p:pic>
        <p:nvPicPr>
          <p:cNvPr id="39" name="Picture 38">
            <a:extLst>
              <a:ext uri="{FF2B5EF4-FFF2-40B4-BE49-F238E27FC236}">
                <a16:creationId xmlns:a16="http://schemas.microsoft.com/office/drawing/2014/main" id="{566EEA50-2321-CF8E-6A07-C15FD3F98D00}"/>
              </a:ext>
            </a:extLst>
          </p:cNvPr>
          <p:cNvPicPr>
            <a:picLocks noChangeAspect="1"/>
          </p:cNvPicPr>
          <p:nvPr/>
        </p:nvPicPr>
        <p:blipFill>
          <a:blip r:embed="rId10" cstate="print"/>
          <a:stretch>
            <a:fillRect/>
          </a:stretch>
        </p:blipFill>
        <p:spPr>
          <a:xfrm>
            <a:off x="15369540" y="0"/>
            <a:ext cx="2918460" cy="1060031"/>
          </a:xfrm>
          <a:prstGeom prst="rect">
            <a:avLst/>
          </a:prstGeom>
        </p:spPr>
      </p:pic>
      <p:pic>
        <p:nvPicPr>
          <p:cNvPr id="40" name="Picture 39">
            <a:extLst>
              <a:ext uri="{FF2B5EF4-FFF2-40B4-BE49-F238E27FC236}">
                <a16:creationId xmlns:a16="http://schemas.microsoft.com/office/drawing/2014/main" id="{9AD790DA-A536-7C79-A8B1-C38D434B4C94}"/>
              </a:ext>
            </a:extLst>
          </p:cNvPr>
          <p:cNvPicPr>
            <a:picLocks noChangeAspect="1"/>
          </p:cNvPicPr>
          <p:nvPr/>
        </p:nvPicPr>
        <p:blipFill>
          <a:blip r:embed="rId11" cstate="print"/>
          <a:stretch>
            <a:fillRect/>
          </a:stretch>
        </p:blipFill>
        <p:spPr>
          <a:xfrm>
            <a:off x="1" y="289561"/>
            <a:ext cx="3200400" cy="846332"/>
          </a:xfrm>
          <a:prstGeom prst="rect">
            <a:avLst/>
          </a:prstGeom>
        </p:spPr>
      </p:pic>
      <p:sp>
        <p:nvSpPr>
          <p:cNvPr id="21" name="AutoShape 2" descr="HelpGuide.org">
            <a:extLst>
              <a:ext uri="{FF2B5EF4-FFF2-40B4-BE49-F238E27FC236}">
                <a16:creationId xmlns:a16="http://schemas.microsoft.com/office/drawing/2014/main" id="{7F4478B8-4120-CA4A-B77D-5DD66458E18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07600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8"/>
          <p:cNvSpPr txBox="1"/>
          <p:nvPr/>
        </p:nvSpPr>
        <p:spPr>
          <a:xfrm>
            <a:off x="4038600" y="1404806"/>
            <a:ext cx="10326192" cy="665567"/>
          </a:xfrm>
          <a:prstGeom prst="rect">
            <a:avLst/>
          </a:prstGeom>
        </p:spPr>
        <p:txBody>
          <a:bodyPr wrap="square" lIns="0" tIns="0" rIns="0" bIns="0" rtlCol="0" anchor="t">
            <a:spAutoFit/>
          </a:bodyPr>
          <a:lstStyle/>
          <a:p>
            <a:pPr marL="0" lvl="0" indent="0">
              <a:lnSpc>
                <a:spcPts val="3359"/>
              </a:lnSpc>
            </a:pPr>
            <a:r>
              <a:rPr lang="en-US" sz="10000" b="1" dirty="0">
                <a:solidFill>
                  <a:schemeClr val="accent6">
                    <a:lumMod val="60000"/>
                    <a:lumOff val="40000"/>
                  </a:schemeClr>
                </a:solidFill>
                <a:cs typeface="Times New Roman" panose="02020603050405020304" pitchFamily="18" charset="0"/>
              </a:rPr>
              <a:t>Working</a:t>
            </a:r>
            <a:r>
              <a:rPr lang="en-US" sz="10000" b="1" dirty="0">
                <a:solidFill>
                  <a:srgbClr val="1A1A1A"/>
                </a:solidFill>
                <a:cs typeface="Times New Roman" panose="02020603050405020304" pitchFamily="18" charset="0"/>
              </a:rPr>
              <a:t> of Team</a:t>
            </a:r>
          </a:p>
        </p:txBody>
      </p:sp>
      <p:pic>
        <p:nvPicPr>
          <p:cNvPr id="9" name="Picture 8">
            <a:extLst>
              <a:ext uri="{FF2B5EF4-FFF2-40B4-BE49-F238E27FC236}">
                <a16:creationId xmlns:a16="http://schemas.microsoft.com/office/drawing/2014/main" id="{29B5C62E-169E-9EA6-9663-530E28078A5E}"/>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10" name="Picture 9">
            <a:extLst>
              <a:ext uri="{FF2B5EF4-FFF2-40B4-BE49-F238E27FC236}">
                <a16:creationId xmlns:a16="http://schemas.microsoft.com/office/drawing/2014/main" id="{25CF75BC-2B6C-51D1-0E99-D099755ECC49}"/>
              </a:ext>
            </a:extLst>
          </p:cNvPr>
          <p:cNvPicPr>
            <a:picLocks noChangeAspect="1"/>
          </p:cNvPicPr>
          <p:nvPr/>
        </p:nvPicPr>
        <p:blipFill>
          <a:blip r:embed="rId3" cstate="print"/>
          <a:stretch>
            <a:fillRect/>
          </a:stretch>
        </p:blipFill>
        <p:spPr>
          <a:xfrm>
            <a:off x="1" y="289561"/>
            <a:ext cx="3200400" cy="846332"/>
          </a:xfrm>
          <a:prstGeom prst="rect">
            <a:avLst/>
          </a:prstGeom>
        </p:spPr>
      </p:pic>
      <p:sp>
        <p:nvSpPr>
          <p:cNvPr id="11" name="Rectangle 10"/>
          <p:cNvSpPr/>
          <p:nvPr/>
        </p:nvSpPr>
        <p:spPr>
          <a:xfrm>
            <a:off x="1285820" y="4267618"/>
            <a:ext cx="12430180" cy="584775"/>
          </a:xfrm>
          <a:prstGeom prst="rect">
            <a:avLst/>
          </a:prstGeom>
        </p:spPr>
        <p:txBody>
          <a:bodyPr wrap="square">
            <a:spAutoFit/>
          </a:bodyPr>
          <a:lstStyle/>
          <a:p>
            <a:pPr fontAlgn="auto">
              <a:spcBef>
                <a:spcPts val="0"/>
              </a:spcBef>
              <a:spcAft>
                <a:spcPts val="0"/>
              </a:spcAft>
              <a:defRPr/>
            </a:pPr>
            <a:endParaRPr lang="en-IN" sz="3200" dirty="0">
              <a:solidFill>
                <a:schemeClr val="bg2">
                  <a:lumMod val="25000"/>
                </a:schemeClr>
              </a:solidFill>
              <a:latin typeface="Lucida Sans" pitchFamily="34" charset="0"/>
            </a:endParaRPr>
          </a:p>
        </p:txBody>
      </p:sp>
      <p:pic>
        <p:nvPicPr>
          <p:cNvPr id="3" name="Picture 2">
            <a:extLst>
              <a:ext uri="{FF2B5EF4-FFF2-40B4-BE49-F238E27FC236}">
                <a16:creationId xmlns:a16="http://schemas.microsoft.com/office/drawing/2014/main" id="{6AA9A512-4B4B-A72B-262B-C670CAA2BB1E}"/>
              </a:ext>
            </a:extLst>
          </p:cNvPr>
          <p:cNvPicPr>
            <a:picLocks noChangeAspect="1"/>
          </p:cNvPicPr>
          <p:nvPr/>
        </p:nvPicPr>
        <p:blipFill>
          <a:blip r:embed="rId4"/>
          <a:stretch>
            <a:fillRect/>
          </a:stretch>
        </p:blipFill>
        <p:spPr>
          <a:xfrm>
            <a:off x="0" y="2095500"/>
            <a:ext cx="17983200" cy="7772400"/>
          </a:xfrm>
          <a:prstGeom prst="rect">
            <a:avLst/>
          </a:prstGeom>
        </p:spPr>
      </p:pic>
    </p:spTree>
    <p:extLst>
      <p:ext uri="{BB962C8B-B14F-4D97-AF65-F5344CB8AC3E}">
        <p14:creationId xmlns:p14="http://schemas.microsoft.com/office/powerpoint/2010/main" val="3230420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CC702C-B11D-DEE4-A30B-241BAEA8CD98}"/>
              </a:ext>
            </a:extLst>
          </p:cNvPr>
          <p:cNvPicPr>
            <a:picLocks noChangeAspect="1"/>
          </p:cNvPicPr>
          <p:nvPr/>
        </p:nvPicPr>
        <p:blipFill>
          <a:blip r:embed="rId2" cstate="print"/>
          <a:stretch>
            <a:fillRect/>
          </a:stretch>
        </p:blipFill>
        <p:spPr>
          <a:xfrm>
            <a:off x="1" y="289561"/>
            <a:ext cx="3200400" cy="846332"/>
          </a:xfrm>
          <a:prstGeom prst="rect">
            <a:avLst/>
          </a:prstGeom>
        </p:spPr>
      </p:pic>
      <p:pic>
        <p:nvPicPr>
          <p:cNvPr id="3" name="Picture 2">
            <a:extLst>
              <a:ext uri="{FF2B5EF4-FFF2-40B4-BE49-F238E27FC236}">
                <a16:creationId xmlns:a16="http://schemas.microsoft.com/office/drawing/2014/main" id="{5B291A69-7772-F89F-DBAC-AF5CC5D8A159}"/>
              </a:ext>
            </a:extLst>
          </p:cNvPr>
          <p:cNvPicPr>
            <a:picLocks noChangeAspect="1"/>
          </p:cNvPicPr>
          <p:nvPr/>
        </p:nvPicPr>
        <p:blipFill>
          <a:blip r:embed="rId3" cstate="print"/>
          <a:stretch>
            <a:fillRect/>
          </a:stretch>
        </p:blipFill>
        <p:spPr>
          <a:xfrm>
            <a:off x="15369540" y="0"/>
            <a:ext cx="2918460" cy="1060031"/>
          </a:xfrm>
          <a:prstGeom prst="rect">
            <a:avLst/>
          </a:prstGeom>
        </p:spPr>
      </p:pic>
      <p:sp>
        <p:nvSpPr>
          <p:cNvPr id="10" name="TextBox 9">
            <a:extLst>
              <a:ext uri="{FF2B5EF4-FFF2-40B4-BE49-F238E27FC236}">
                <a16:creationId xmlns:a16="http://schemas.microsoft.com/office/drawing/2014/main" id="{8746525F-942D-5987-01F5-544E7E34E6A2}"/>
              </a:ext>
            </a:extLst>
          </p:cNvPr>
          <p:cNvSpPr txBox="1"/>
          <p:nvPr/>
        </p:nvSpPr>
        <p:spPr>
          <a:xfrm>
            <a:off x="1028699" y="1371955"/>
            <a:ext cx="16230602" cy="1200329"/>
          </a:xfrm>
          <a:prstGeom prst="rect">
            <a:avLst/>
          </a:prstGeom>
          <a:noFill/>
        </p:spPr>
        <p:txBody>
          <a:bodyPr wrap="square">
            <a:spAutoFit/>
          </a:bodyPr>
          <a:lstStyle/>
          <a:p>
            <a:pPr marL="0" lvl="0" indent="0" algn="ctr">
              <a:lnSpc>
                <a:spcPts val="8000"/>
              </a:lnSpc>
            </a:pPr>
            <a:r>
              <a:rPr lang="en-US" sz="10000" dirty="0">
                <a:solidFill>
                  <a:schemeClr val="accent6">
                    <a:lumMod val="60000"/>
                    <a:lumOff val="40000"/>
                  </a:schemeClr>
                </a:solidFill>
                <a:latin typeface="Telegraf Bold Bold"/>
              </a:rPr>
              <a:t>Survey </a:t>
            </a:r>
            <a:r>
              <a:rPr lang="en-US" sz="10000" dirty="0">
                <a:latin typeface="Telegraf Bold Bold"/>
              </a:rPr>
              <a:t>Analysis</a:t>
            </a:r>
            <a:r>
              <a:rPr lang="en-US" sz="10000" dirty="0">
                <a:solidFill>
                  <a:schemeClr val="accent6">
                    <a:lumMod val="60000"/>
                    <a:lumOff val="40000"/>
                  </a:schemeClr>
                </a:solidFill>
                <a:latin typeface="Telegraf Bold Bold"/>
              </a:rPr>
              <a:t> </a:t>
            </a:r>
          </a:p>
        </p:txBody>
      </p:sp>
      <p:sp>
        <p:nvSpPr>
          <p:cNvPr id="11" name="TextBox 10">
            <a:extLst>
              <a:ext uri="{FF2B5EF4-FFF2-40B4-BE49-F238E27FC236}">
                <a16:creationId xmlns:a16="http://schemas.microsoft.com/office/drawing/2014/main" id="{B54611D1-7D53-0FCF-419C-F86C755D5392}"/>
              </a:ext>
            </a:extLst>
          </p:cNvPr>
          <p:cNvSpPr txBox="1"/>
          <p:nvPr/>
        </p:nvSpPr>
        <p:spPr>
          <a:xfrm>
            <a:off x="7398738" y="4526955"/>
            <a:ext cx="4023382"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Telegraf Bold Bold" panose="020B0604020202020204" charset="0"/>
              </a:rPr>
              <a:t>User Response analysis</a:t>
            </a:r>
            <a:endParaRPr lang="en-IN" sz="2000" b="1" dirty="0">
              <a:latin typeface="Telegraf Bold Bold" panose="020B0604020202020204" charset="0"/>
            </a:endParaRPr>
          </a:p>
        </p:txBody>
      </p:sp>
      <p:pic>
        <p:nvPicPr>
          <p:cNvPr id="14" name="Picture 13">
            <a:extLst>
              <a:ext uri="{FF2B5EF4-FFF2-40B4-BE49-F238E27FC236}">
                <a16:creationId xmlns:a16="http://schemas.microsoft.com/office/drawing/2014/main" id="{6149ECF5-BE50-EAA0-A7A1-E0A506CAA9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321" y="3699213"/>
            <a:ext cx="6134956" cy="5906324"/>
          </a:xfrm>
          <a:prstGeom prst="rect">
            <a:avLst/>
          </a:prstGeom>
        </p:spPr>
      </p:pic>
      <p:pic>
        <p:nvPicPr>
          <p:cNvPr id="17" name="Picture 16">
            <a:extLst>
              <a:ext uri="{FF2B5EF4-FFF2-40B4-BE49-F238E27FC236}">
                <a16:creationId xmlns:a16="http://schemas.microsoft.com/office/drawing/2014/main" id="{0DCCB257-2E9D-913F-FE42-D390DCE634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4089" y="3237966"/>
            <a:ext cx="11183911" cy="6868484"/>
          </a:xfrm>
          <a:prstGeom prst="rect">
            <a:avLst/>
          </a:prstGeom>
        </p:spPr>
      </p:pic>
    </p:spTree>
    <p:extLst>
      <p:ext uri="{BB962C8B-B14F-4D97-AF65-F5344CB8AC3E}">
        <p14:creationId xmlns:p14="http://schemas.microsoft.com/office/powerpoint/2010/main" val="1221356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7B9833-2E93-2CFD-68D3-2359F5EA7DE0}"/>
              </a:ext>
            </a:extLst>
          </p:cNvPr>
          <p:cNvPicPr>
            <a:picLocks noChangeAspect="1"/>
          </p:cNvPicPr>
          <p:nvPr/>
        </p:nvPicPr>
        <p:blipFill>
          <a:blip r:embed="rId2" cstate="print"/>
          <a:stretch>
            <a:fillRect/>
          </a:stretch>
        </p:blipFill>
        <p:spPr>
          <a:xfrm>
            <a:off x="1" y="289561"/>
            <a:ext cx="3200400" cy="846332"/>
          </a:xfrm>
          <a:prstGeom prst="rect">
            <a:avLst/>
          </a:prstGeom>
        </p:spPr>
      </p:pic>
      <p:pic>
        <p:nvPicPr>
          <p:cNvPr id="3" name="Picture 2">
            <a:extLst>
              <a:ext uri="{FF2B5EF4-FFF2-40B4-BE49-F238E27FC236}">
                <a16:creationId xmlns:a16="http://schemas.microsoft.com/office/drawing/2014/main" id="{7416FC96-3BAB-FB9B-0114-EBBDFB0BAE54}"/>
              </a:ext>
            </a:extLst>
          </p:cNvPr>
          <p:cNvPicPr>
            <a:picLocks noChangeAspect="1"/>
          </p:cNvPicPr>
          <p:nvPr/>
        </p:nvPicPr>
        <p:blipFill>
          <a:blip r:embed="rId3" cstate="print"/>
          <a:stretch>
            <a:fillRect/>
          </a:stretch>
        </p:blipFill>
        <p:spPr>
          <a:xfrm>
            <a:off x="15369540" y="0"/>
            <a:ext cx="2918460" cy="1060031"/>
          </a:xfrm>
          <a:prstGeom prst="rect">
            <a:avLst/>
          </a:prstGeom>
        </p:spPr>
      </p:pic>
      <p:pic>
        <p:nvPicPr>
          <p:cNvPr id="16" name="Picture 15">
            <a:extLst>
              <a:ext uri="{FF2B5EF4-FFF2-40B4-BE49-F238E27FC236}">
                <a16:creationId xmlns:a16="http://schemas.microsoft.com/office/drawing/2014/main" id="{A6E5E976-2BA8-7918-43E9-EBA776DDCB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38300"/>
            <a:ext cx="9109613" cy="8341820"/>
          </a:xfrm>
          <a:prstGeom prst="rect">
            <a:avLst/>
          </a:prstGeom>
        </p:spPr>
      </p:pic>
      <p:pic>
        <p:nvPicPr>
          <p:cNvPr id="5" name="Picture 4">
            <a:extLst>
              <a:ext uri="{FF2B5EF4-FFF2-40B4-BE49-F238E27FC236}">
                <a16:creationId xmlns:a16="http://schemas.microsoft.com/office/drawing/2014/main" id="{D812A556-AED5-8F8D-EFD0-C519F586BA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91599" y="1638300"/>
            <a:ext cx="9296401" cy="8341821"/>
          </a:xfrm>
          <a:prstGeom prst="rect">
            <a:avLst/>
          </a:prstGeom>
        </p:spPr>
      </p:pic>
    </p:spTree>
    <p:extLst>
      <p:ext uri="{BB962C8B-B14F-4D97-AF65-F5344CB8AC3E}">
        <p14:creationId xmlns:p14="http://schemas.microsoft.com/office/powerpoint/2010/main" val="3293215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9BEF278-0498-C738-EA78-572D79AC055D}"/>
              </a:ext>
            </a:extLst>
          </p:cNvPr>
          <p:cNvPicPr>
            <a:picLocks noChangeAspect="1"/>
          </p:cNvPicPr>
          <p:nvPr/>
        </p:nvPicPr>
        <p:blipFill>
          <a:blip r:embed="rId2" cstate="print"/>
          <a:stretch>
            <a:fillRect/>
          </a:stretch>
        </p:blipFill>
        <p:spPr>
          <a:xfrm>
            <a:off x="1" y="289561"/>
            <a:ext cx="3200400" cy="846332"/>
          </a:xfrm>
          <a:prstGeom prst="rect">
            <a:avLst/>
          </a:prstGeom>
        </p:spPr>
      </p:pic>
      <p:pic>
        <p:nvPicPr>
          <p:cNvPr id="3" name="Picture 2">
            <a:extLst>
              <a:ext uri="{FF2B5EF4-FFF2-40B4-BE49-F238E27FC236}">
                <a16:creationId xmlns:a16="http://schemas.microsoft.com/office/drawing/2014/main" id="{AD42EE70-0385-1706-4207-918895A42553}"/>
              </a:ext>
            </a:extLst>
          </p:cNvPr>
          <p:cNvPicPr>
            <a:picLocks noChangeAspect="1"/>
          </p:cNvPicPr>
          <p:nvPr/>
        </p:nvPicPr>
        <p:blipFill>
          <a:blip r:embed="rId3" cstate="print"/>
          <a:stretch>
            <a:fillRect/>
          </a:stretch>
        </p:blipFill>
        <p:spPr>
          <a:xfrm>
            <a:off x="15369540" y="0"/>
            <a:ext cx="2918460" cy="1060031"/>
          </a:xfrm>
          <a:prstGeom prst="rect">
            <a:avLst/>
          </a:prstGeom>
        </p:spPr>
      </p:pic>
      <p:pic>
        <p:nvPicPr>
          <p:cNvPr id="5" name="Picture 4">
            <a:extLst>
              <a:ext uri="{FF2B5EF4-FFF2-40B4-BE49-F238E27FC236}">
                <a16:creationId xmlns:a16="http://schemas.microsoft.com/office/drawing/2014/main" id="{679AD030-FDE8-77ED-B7C1-ECD2CB6284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1" y="2187695"/>
            <a:ext cx="9390624" cy="6415463"/>
          </a:xfrm>
          <a:prstGeom prst="rect">
            <a:avLst/>
          </a:prstGeom>
        </p:spPr>
      </p:pic>
      <p:pic>
        <p:nvPicPr>
          <p:cNvPr id="9" name="Picture 8">
            <a:extLst>
              <a:ext uri="{FF2B5EF4-FFF2-40B4-BE49-F238E27FC236}">
                <a16:creationId xmlns:a16="http://schemas.microsoft.com/office/drawing/2014/main" id="{78826352-A535-C576-F30A-036855426E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01611" y="2461837"/>
            <a:ext cx="9107171" cy="6415463"/>
          </a:xfrm>
          <a:prstGeom prst="rect">
            <a:avLst/>
          </a:prstGeom>
        </p:spPr>
      </p:pic>
    </p:spTree>
    <p:extLst>
      <p:ext uri="{BB962C8B-B14F-4D97-AF65-F5344CB8AC3E}">
        <p14:creationId xmlns:p14="http://schemas.microsoft.com/office/powerpoint/2010/main" val="661563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C73C0C-29F9-4382-BF5A-8DC9966269A9}"/>
              </a:ext>
            </a:extLst>
          </p:cNvPr>
          <p:cNvPicPr>
            <a:picLocks noChangeAspect="1"/>
          </p:cNvPicPr>
          <p:nvPr/>
        </p:nvPicPr>
        <p:blipFill>
          <a:blip r:embed="rId2" cstate="print"/>
          <a:stretch>
            <a:fillRect/>
          </a:stretch>
        </p:blipFill>
        <p:spPr>
          <a:xfrm>
            <a:off x="0" y="23224"/>
            <a:ext cx="3200400" cy="846332"/>
          </a:xfrm>
          <a:prstGeom prst="rect">
            <a:avLst/>
          </a:prstGeom>
        </p:spPr>
      </p:pic>
      <p:pic>
        <p:nvPicPr>
          <p:cNvPr id="3" name="Picture 2">
            <a:extLst>
              <a:ext uri="{FF2B5EF4-FFF2-40B4-BE49-F238E27FC236}">
                <a16:creationId xmlns:a16="http://schemas.microsoft.com/office/drawing/2014/main" id="{90F4B808-B720-EE15-2645-1D9CCC2E2FA5}"/>
              </a:ext>
            </a:extLst>
          </p:cNvPr>
          <p:cNvPicPr>
            <a:picLocks noChangeAspect="1"/>
          </p:cNvPicPr>
          <p:nvPr/>
        </p:nvPicPr>
        <p:blipFill>
          <a:blip r:embed="rId3" cstate="print"/>
          <a:stretch>
            <a:fillRect/>
          </a:stretch>
        </p:blipFill>
        <p:spPr>
          <a:xfrm>
            <a:off x="15369540" y="0"/>
            <a:ext cx="2918460" cy="1060031"/>
          </a:xfrm>
          <a:prstGeom prst="rect">
            <a:avLst/>
          </a:prstGeom>
        </p:spPr>
      </p:pic>
      <p:pic>
        <p:nvPicPr>
          <p:cNvPr id="8" name="Picture 7">
            <a:extLst>
              <a:ext uri="{FF2B5EF4-FFF2-40B4-BE49-F238E27FC236}">
                <a16:creationId xmlns:a16="http://schemas.microsoft.com/office/drawing/2014/main" id="{A8F6A90B-DB4C-C040-FF2D-FD8749B0EC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11000" y="1049640"/>
            <a:ext cx="6477000" cy="4830727"/>
          </a:xfrm>
          <a:prstGeom prst="rect">
            <a:avLst/>
          </a:prstGeom>
        </p:spPr>
      </p:pic>
      <p:pic>
        <p:nvPicPr>
          <p:cNvPr id="12" name="Picture 11">
            <a:extLst>
              <a:ext uri="{FF2B5EF4-FFF2-40B4-BE49-F238E27FC236}">
                <a16:creationId xmlns:a16="http://schemas.microsoft.com/office/drawing/2014/main" id="{CD1F9C12-F723-A282-E38B-3D694DAA0E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57800" y="4965117"/>
            <a:ext cx="6934201" cy="5232856"/>
          </a:xfrm>
          <a:prstGeom prst="rect">
            <a:avLst/>
          </a:prstGeom>
        </p:spPr>
      </p:pic>
      <p:pic>
        <p:nvPicPr>
          <p:cNvPr id="14" name="Picture 13">
            <a:extLst>
              <a:ext uri="{FF2B5EF4-FFF2-40B4-BE49-F238E27FC236}">
                <a16:creationId xmlns:a16="http://schemas.microsoft.com/office/drawing/2014/main" id="{0EE3A66B-3A59-5CBC-4624-188BF08C376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855" y="1282243"/>
            <a:ext cx="5847559" cy="5232857"/>
          </a:xfrm>
          <a:prstGeom prst="rect">
            <a:avLst/>
          </a:prstGeom>
        </p:spPr>
      </p:pic>
    </p:spTree>
    <p:extLst>
      <p:ext uri="{BB962C8B-B14F-4D97-AF65-F5344CB8AC3E}">
        <p14:creationId xmlns:p14="http://schemas.microsoft.com/office/powerpoint/2010/main" val="4193167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8"/>
          <p:cNvSpPr txBox="1"/>
          <p:nvPr/>
        </p:nvSpPr>
        <p:spPr>
          <a:xfrm>
            <a:off x="105737" y="2552700"/>
            <a:ext cx="16429663" cy="6976269"/>
          </a:xfrm>
          <a:prstGeom prst="rect">
            <a:avLst/>
          </a:prstGeom>
        </p:spPr>
        <p:txBody>
          <a:bodyPr wrap="square" lIns="0" tIns="0" rIns="0" bIns="0" rtlCol="0" anchor="t">
            <a:spAutoFit/>
          </a:bodyPr>
          <a:lstStyle/>
          <a:p>
            <a:pPr marL="1371600" lvl="2" indent="-457200" algn="just">
              <a:lnSpc>
                <a:spcPts val="3359"/>
              </a:lnSpc>
              <a:buFont typeface="Arial" panose="020B0604020202020204" pitchFamily="34" charset="0"/>
              <a:buChar char="•"/>
            </a:pPr>
            <a:r>
              <a:rPr lang="en-US" sz="3000" b="1" i="0" u="sng" dirty="0">
                <a:solidFill>
                  <a:srgbClr val="374151"/>
                </a:solidFill>
                <a:effectLst/>
                <a:latin typeface="+mj-lt"/>
              </a:rPr>
              <a:t>Subscription Plans:</a:t>
            </a:r>
            <a:r>
              <a:rPr lang="en-US" sz="3000" b="1" i="0" dirty="0">
                <a:solidFill>
                  <a:srgbClr val="374151"/>
                </a:solidFill>
                <a:effectLst/>
                <a:latin typeface="+mj-lt"/>
              </a:rPr>
              <a:t> </a:t>
            </a:r>
            <a:r>
              <a:rPr lang="en-US" sz="2800" dirty="0" err="1"/>
              <a:t>Prihub</a:t>
            </a:r>
            <a:r>
              <a:rPr lang="en-US" sz="2800" dirty="0"/>
              <a:t> offers tiered subscription plans with increasing features and support levels—from a low-cost basic access tier encouraging community contributions, to enhanced support and premium personalized tiers including caregiver/family plans. This provides stable recurring revenue while keeping the platform affordable and accessible.</a:t>
            </a:r>
          </a:p>
          <a:p>
            <a:pPr marL="1371600" lvl="2" indent="-457200" algn="just">
              <a:lnSpc>
                <a:spcPts val="3359"/>
              </a:lnSpc>
              <a:buFont typeface="Arial" panose="020B0604020202020204" pitchFamily="34" charset="0"/>
              <a:buChar char="•"/>
            </a:pPr>
            <a:endParaRPr lang="en-US" sz="3000" b="1" u="sng" dirty="0">
              <a:solidFill>
                <a:srgbClr val="374151"/>
              </a:solidFill>
              <a:latin typeface="Arial" panose="020B0604020202020204" pitchFamily="34" charset="0"/>
            </a:endParaRPr>
          </a:p>
          <a:p>
            <a:pPr marL="1371600" lvl="2" indent="-457200" algn="just">
              <a:lnSpc>
                <a:spcPts val="3359"/>
              </a:lnSpc>
              <a:buFont typeface="Arial" panose="020B0604020202020204" pitchFamily="34" charset="0"/>
              <a:buChar char="•"/>
            </a:pPr>
            <a:r>
              <a:rPr lang="en-US" sz="3000" b="1" i="0" u="sng" dirty="0">
                <a:solidFill>
                  <a:srgbClr val="374151"/>
                </a:solidFill>
                <a:effectLst/>
                <a:latin typeface="+mj-lt"/>
              </a:rPr>
              <a:t>Value-Added Services:</a:t>
            </a:r>
            <a:r>
              <a:rPr lang="en-US" sz="3000" b="0" i="0" dirty="0">
                <a:solidFill>
                  <a:srgbClr val="374151"/>
                </a:solidFill>
                <a:effectLst/>
                <a:latin typeface="+mj-lt"/>
              </a:rPr>
              <a:t> </a:t>
            </a:r>
            <a:r>
              <a:rPr lang="en-US" sz="2800" dirty="0"/>
              <a:t>Certain advanced AI chatbot services or specialized content modules are billed based on usage via "Contextual Clarity Units," which charge users proportionally to how much complex information is simplified for them. This keeps pricing transparent and aligned with delivered value.</a:t>
            </a:r>
            <a:endParaRPr lang="en-US" sz="2800" b="0" i="0" dirty="0">
              <a:solidFill>
                <a:srgbClr val="374151"/>
              </a:solidFill>
              <a:effectLst/>
              <a:latin typeface="Arial" panose="020B0604020202020204" pitchFamily="34" charset="0"/>
            </a:endParaRPr>
          </a:p>
          <a:p>
            <a:pPr marL="1371600" lvl="2" indent="-457200" algn="just">
              <a:lnSpc>
                <a:spcPts val="3359"/>
              </a:lnSpc>
              <a:buFont typeface="Arial" panose="020B0604020202020204" pitchFamily="34" charset="0"/>
              <a:buChar char="•"/>
            </a:pPr>
            <a:endParaRPr lang="en-US" sz="3000" dirty="0">
              <a:solidFill>
                <a:srgbClr val="374151"/>
              </a:solidFill>
              <a:latin typeface="Arial" panose="020B0604020202020204" pitchFamily="34" charset="0"/>
            </a:endParaRPr>
          </a:p>
          <a:p>
            <a:pPr marL="1371600" lvl="2" indent="-457200" algn="just">
              <a:lnSpc>
                <a:spcPts val="3359"/>
              </a:lnSpc>
              <a:buFont typeface="Arial" panose="020B0604020202020204" pitchFamily="34" charset="0"/>
              <a:buChar char="•"/>
            </a:pPr>
            <a:r>
              <a:rPr lang="en-US" sz="3000" b="1" u="sng" dirty="0"/>
              <a:t>Institutional Licensing:</a:t>
            </a:r>
            <a:r>
              <a:rPr lang="en-US" sz="3000" b="1" dirty="0"/>
              <a:t> </a:t>
            </a:r>
            <a:r>
              <a:rPr lang="en-US" sz="2800" dirty="0" err="1"/>
              <a:t>Prihub</a:t>
            </a:r>
            <a:r>
              <a:rPr lang="en-US" sz="2800" dirty="0"/>
              <a:t> partners with schools, care centers, and therapy organizations by offering bulk or customized licenses bundled with staff training and anonymized insights to improve institutional support, generating revenue trough B2B sales beyond individual users.</a:t>
            </a:r>
          </a:p>
          <a:p>
            <a:pPr marL="1371600" lvl="2" indent="-457200" algn="just">
              <a:lnSpc>
                <a:spcPts val="3359"/>
              </a:lnSpc>
              <a:buFont typeface="Arial" panose="020B0604020202020204" pitchFamily="34" charset="0"/>
              <a:buChar char="•"/>
            </a:pPr>
            <a:endParaRPr lang="en-US" sz="3000" dirty="0"/>
          </a:p>
          <a:p>
            <a:pPr marL="1371600" lvl="2" indent="-457200" algn="just">
              <a:lnSpc>
                <a:spcPts val="3359"/>
              </a:lnSpc>
              <a:buFont typeface="Arial" panose="020B0604020202020204" pitchFamily="34" charset="0"/>
              <a:buChar char="•"/>
            </a:pPr>
            <a:r>
              <a:rPr lang="en-US" sz="3000" b="1" u="sng" dirty="0"/>
              <a:t>Donations and Grants:</a:t>
            </a:r>
            <a:r>
              <a:rPr lang="en-US" sz="3000" b="1" dirty="0"/>
              <a:t> </a:t>
            </a:r>
            <a:r>
              <a:rPr lang="en-US" sz="2800" dirty="0"/>
              <a:t>Leveraging its social impact mission, </a:t>
            </a:r>
            <a:r>
              <a:rPr lang="en-US" sz="2800" dirty="0" err="1"/>
              <a:t>Prihub</a:t>
            </a:r>
            <a:r>
              <a:rPr lang="en-US" sz="2800" dirty="0"/>
              <a:t> invites philanthropic donations and grant funding, including sponsor programs for subsidizing access to users in need, supplementing revenue and advancing accessibility goals.</a:t>
            </a:r>
          </a:p>
        </p:txBody>
      </p:sp>
      <p:sp>
        <p:nvSpPr>
          <p:cNvPr id="39" name="TextBox 39"/>
          <p:cNvSpPr txBox="1"/>
          <p:nvPr/>
        </p:nvSpPr>
        <p:spPr>
          <a:xfrm>
            <a:off x="3235036" y="1297385"/>
            <a:ext cx="11648401" cy="1107996"/>
          </a:xfrm>
          <a:prstGeom prst="rect">
            <a:avLst/>
          </a:prstGeom>
        </p:spPr>
        <p:txBody>
          <a:bodyPr lIns="0" tIns="0" rIns="0" bIns="0" rtlCol="0" anchor="t">
            <a:spAutoFit/>
          </a:bodyPr>
          <a:lstStyle/>
          <a:p>
            <a:pPr marL="0" lvl="0" indent="0" algn="ctr">
              <a:lnSpc>
                <a:spcPts val="8000"/>
              </a:lnSpc>
            </a:pPr>
            <a:r>
              <a:rPr lang="en-US" sz="10000" dirty="0">
                <a:solidFill>
                  <a:schemeClr val="accent6">
                    <a:lumMod val="60000"/>
                    <a:lumOff val="40000"/>
                  </a:schemeClr>
                </a:solidFill>
                <a:latin typeface="Telegraf Bold Bold"/>
              </a:rPr>
              <a:t>Revenue </a:t>
            </a:r>
            <a:r>
              <a:rPr lang="en-US" sz="10000" dirty="0">
                <a:latin typeface="Telegraf Bold Bold"/>
              </a:rPr>
              <a:t>Model</a:t>
            </a:r>
          </a:p>
        </p:txBody>
      </p:sp>
      <p:pic>
        <p:nvPicPr>
          <p:cNvPr id="12" name="Picture 11">
            <a:extLst>
              <a:ext uri="{FF2B5EF4-FFF2-40B4-BE49-F238E27FC236}">
                <a16:creationId xmlns:a16="http://schemas.microsoft.com/office/drawing/2014/main" id="{823A0084-6288-8A94-A4C0-E38715C7BA9A}"/>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13" name="Picture 12">
            <a:extLst>
              <a:ext uri="{FF2B5EF4-FFF2-40B4-BE49-F238E27FC236}">
                <a16:creationId xmlns:a16="http://schemas.microsoft.com/office/drawing/2014/main" id="{C14CC1BB-231D-7599-7A59-EF0CAF0D3707}"/>
              </a:ext>
            </a:extLst>
          </p:cNvPr>
          <p:cNvPicPr>
            <a:picLocks noChangeAspect="1"/>
          </p:cNvPicPr>
          <p:nvPr/>
        </p:nvPicPr>
        <p:blipFill>
          <a:blip r:embed="rId3" cstate="print"/>
          <a:stretch>
            <a:fillRect/>
          </a:stretch>
        </p:blipFill>
        <p:spPr>
          <a:xfrm>
            <a:off x="1" y="289561"/>
            <a:ext cx="3200400" cy="846332"/>
          </a:xfrm>
          <a:prstGeom prst="rect">
            <a:avLst/>
          </a:prstGeom>
        </p:spPr>
      </p:pic>
    </p:spTree>
    <p:extLst>
      <p:ext uri="{BB962C8B-B14F-4D97-AF65-F5344CB8AC3E}">
        <p14:creationId xmlns:p14="http://schemas.microsoft.com/office/powerpoint/2010/main" val="2296729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 name="TextBox 39"/>
          <p:cNvSpPr txBox="1"/>
          <p:nvPr/>
        </p:nvSpPr>
        <p:spPr>
          <a:xfrm>
            <a:off x="3319799" y="712727"/>
            <a:ext cx="11648401" cy="1107996"/>
          </a:xfrm>
          <a:prstGeom prst="rect">
            <a:avLst/>
          </a:prstGeom>
        </p:spPr>
        <p:txBody>
          <a:bodyPr lIns="0" tIns="0" rIns="0" bIns="0" rtlCol="0" anchor="t">
            <a:spAutoFit/>
          </a:bodyPr>
          <a:lstStyle/>
          <a:p>
            <a:pPr marL="0" lvl="0" indent="0" algn="ctr">
              <a:lnSpc>
                <a:spcPts val="8000"/>
              </a:lnSpc>
            </a:pPr>
            <a:r>
              <a:rPr lang="en-US" sz="10000" dirty="0">
                <a:solidFill>
                  <a:schemeClr val="accent6">
                    <a:lumMod val="60000"/>
                    <a:lumOff val="40000"/>
                  </a:schemeClr>
                </a:solidFill>
                <a:latin typeface="Telegraf Bold Bold"/>
              </a:rPr>
              <a:t>Financial</a:t>
            </a:r>
            <a:r>
              <a:rPr lang="en-US" sz="10000" dirty="0">
                <a:solidFill>
                  <a:srgbClr val="ECA406"/>
                </a:solidFill>
                <a:latin typeface="Telegraf Bold Bold"/>
              </a:rPr>
              <a:t> </a:t>
            </a:r>
            <a:r>
              <a:rPr lang="en-US" sz="10000" dirty="0">
                <a:latin typeface="Telegraf Bold Bold"/>
              </a:rPr>
              <a:t>Assessment </a:t>
            </a:r>
          </a:p>
        </p:txBody>
      </p:sp>
      <p:pic>
        <p:nvPicPr>
          <p:cNvPr id="9" name="Picture 8">
            <a:extLst>
              <a:ext uri="{FF2B5EF4-FFF2-40B4-BE49-F238E27FC236}">
                <a16:creationId xmlns:a16="http://schemas.microsoft.com/office/drawing/2014/main" id="{29B5C62E-169E-9EA6-9663-530E28078A5E}"/>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10" name="Picture 9">
            <a:extLst>
              <a:ext uri="{FF2B5EF4-FFF2-40B4-BE49-F238E27FC236}">
                <a16:creationId xmlns:a16="http://schemas.microsoft.com/office/drawing/2014/main" id="{25CF75BC-2B6C-51D1-0E99-D099755ECC49}"/>
              </a:ext>
            </a:extLst>
          </p:cNvPr>
          <p:cNvPicPr>
            <a:picLocks noChangeAspect="1"/>
          </p:cNvPicPr>
          <p:nvPr/>
        </p:nvPicPr>
        <p:blipFill>
          <a:blip r:embed="rId3" cstate="print"/>
          <a:stretch>
            <a:fillRect/>
          </a:stretch>
        </p:blipFill>
        <p:spPr>
          <a:xfrm>
            <a:off x="1" y="289561"/>
            <a:ext cx="3200400" cy="846332"/>
          </a:xfrm>
          <a:prstGeom prst="rect">
            <a:avLst/>
          </a:prstGeom>
        </p:spPr>
      </p:pic>
      <p:graphicFrame>
        <p:nvGraphicFramePr>
          <p:cNvPr id="5" name="Table 4">
            <a:extLst>
              <a:ext uri="{FF2B5EF4-FFF2-40B4-BE49-F238E27FC236}">
                <a16:creationId xmlns:a16="http://schemas.microsoft.com/office/drawing/2014/main" id="{18469123-EBEA-4DF0-349E-82F7F86F993E}"/>
              </a:ext>
            </a:extLst>
          </p:cNvPr>
          <p:cNvGraphicFramePr>
            <a:graphicFrameLocks noGrp="1"/>
          </p:cNvGraphicFramePr>
          <p:nvPr>
            <p:extLst>
              <p:ext uri="{D42A27DB-BD31-4B8C-83A1-F6EECF244321}">
                <p14:modId xmlns:p14="http://schemas.microsoft.com/office/powerpoint/2010/main" val="4143944275"/>
              </p:ext>
            </p:extLst>
          </p:nvPr>
        </p:nvGraphicFramePr>
        <p:xfrm>
          <a:off x="122046" y="1810332"/>
          <a:ext cx="11648400" cy="8385638"/>
        </p:xfrm>
        <a:graphic>
          <a:graphicData uri="http://schemas.openxmlformats.org/drawingml/2006/table">
            <a:tbl>
              <a:tblPr/>
              <a:tblGrid>
                <a:gridCol w="2912100">
                  <a:extLst>
                    <a:ext uri="{9D8B030D-6E8A-4147-A177-3AD203B41FA5}">
                      <a16:colId xmlns:a16="http://schemas.microsoft.com/office/drawing/2014/main" val="2693720754"/>
                    </a:ext>
                  </a:extLst>
                </a:gridCol>
                <a:gridCol w="2912100">
                  <a:extLst>
                    <a:ext uri="{9D8B030D-6E8A-4147-A177-3AD203B41FA5}">
                      <a16:colId xmlns:a16="http://schemas.microsoft.com/office/drawing/2014/main" val="2136338396"/>
                    </a:ext>
                  </a:extLst>
                </a:gridCol>
                <a:gridCol w="2912100">
                  <a:extLst>
                    <a:ext uri="{9D8B030D-6E8A-4147-A177-3AD203B41FA5}">
                      <a16:colId xmlns:a16="http://schemas.microsoft.com/office/drawing/2014/main" val="3162019928"/>
                    </a:ext>
                  </a:extLst>
                </a:gridCol>
                <a:gridCol w="2912100">
                  <a:extLst>
                    <a:ext uri="{9D8B030D-6E8A-4147-A177-3AD203B41FA5}">
                      <a16:colId xmlns:a16="http://schemas.microsoft.com/office/drawing/2014/main" val="3633341748"/>
                    </a:ext>
                  </a:extLst>
                </a:gridCol>
              </a:tblGrid>
              <a:tr h="542983">
                <a:tc>
                  <a:txBody>
                    <a:bodyPr/>
                    <a:lstStyle/>
                    <a:p>
                      <a:pPr algn="l" fontAlgn="t" latinLnBrk="0">
                        <a:buNone/>
                      </a:pPr>
                      <a:r>
                        <a:rPr lang="en-IN" sz="2600" b="0">
                          <a:solidFill>
                            <a:srgbClr val="FF0000"/>
                          </a:solidFill>
                          <a:effectLst/>
                        </a:rPr>
                        <a:t>Revenue Source</a:t>
                      </a:r>
                    </a:p>
                  </a:txBody>
                  <a:tcPr marL="31322" marR="31322" marT="31322" marB="31322">
                    <a:lnL>
                      <a:noFill/>
                    </a:lnL>
                    <a:lnR>
                      <a:noFill/>
                    </a:lnR>
                    <a:lnT>
                      <a:noFill/>
                    </a:lnT>
                    <a:lnB w="12700" cap="flat" cmpd="sng" algn="ctr">
                      <a:solidFill>
                        <a:srgbClr val="B0BD30"/>
                      </a:solidFill>
                      <a:prstDash val="solid"/>
                      <a:round/>
                      <a:headEnd type="none" w="med" len="med"/>
                      <a:tailEnd type="none" w="med" len="med"/>
                    </a:lnB>
                    <a:noFill/>
                  </a:tcPr>
                </a:tc>
                <a:tc>
                  <a:txBody>
                    <a:bodyPr/>
                    <a:lstStyle/>
                    <a:p>
                      <a:pPr algn="l" fontAlgn="t" latinLnBrk="0">
                        <a:buNone/>
                      </a:pPr>
                      <a:r>
                        <a:rPr lang="en-IN" sz="2600" b="0" dirty="0">
                          <a:solidFill>
                            <a:srgbClr val="FF0000"/>
                          </a:solidFill>
                          <a:effectLst/>
                        </a:rPr>
                        <a:t>Calculation</a:t>
                      </a:r>
                    </a:p>
                  </a:txBody>
                  <a:tcPr marL="31322" marR="31322" marT="31322" marB="31322">
                    <a:lnL>
                      <a:noFill/>
                    </a:lnL>
                    <a:lnR>
                      <a:noFill/>
                    </a:lnR>
                    <a:lnT>
                      <a:noFill/>
                    </a:lnT>
                    <a:lnB w="12700" cap="flat" cmpd="sng" algn="ctr">
                      <a:solidFill>
                        <a:srgbClr val="B0BD30"/>
                      </a:solidFill>
                      <a:prstDash val="solid"/>
                      <a:round/>
                      <a:headEnd type="none" w="med" len="med"/>
                      <a:tailEnd type="none" w="med" len="med"/>
                    </a:lnB>
                    <a:noFill/>
                  </a:tcPr>
                </a:tc>
                <a:tc>
                  <a:txBody>
                    <a:bodyPr/>
                    <a:lstStyle/>
                    <a:p>
                      <a:pPr algn="l" fontAlgn="t" latinLnBrk="0">
                        <a:buNone/>
                      </a:pPr>
                      <a:r>
                        <a:rPr lang="en-IN" sz="2600" b="0">
                          <a:solidFill>
                            <a:srgbClr val="FF0000"/>
                          </a:solidFill>
                          <a:effectLst/>
                        </a:rPr>
                        <a:t>Amount (₹)</a:t>
                      </a:r>
                    </a:p>
                  </a:txBody>
                  <a:tcPr marL="31322" marR="31322" marT="31322" marB="31322">
                    <a:lnL>
                      <a:noFill/>
                    </a:lnL>
                    <a:lnR>
                      <a:noFill/>
                    </a:lnR>
                    <a:lnT>
                      <a:noFill/>
                    </a:lnT>
                    <a:lnB w="12700" cap="flat" cmpd="sng" algn="ctr">
                      <a:solidFill>
                        <a:srgbClr val="B0BD30"/>
                      </a:solidFill>
                      <a:prstDash val="solid"/>
                      <a:round/>
                      <a:headEnd type="none" w="med" len="med"/>
                      <a:tailEnd type="none" w="med" len="med"/>
                    </a:lnB>
                    <a:noFill/>
                  </a:tcPr>
                </a:tc>
                <a:tc>
                  <a:txBody>
                    <a:bodyPr/>
                    <a:lstStyle/>
                    <a:p>
                      <a:pPr algn="l" fontAlgn="t" latinLnBrk="0">
                        <a:buNone/>
                      </a:pPr>
                      <a:r>
                        <a:rPr lang="en-IN" sz="2600" b="0" dirty="0">
                          <a:solidFill>
                            <a:srgbClr val="FF0000"/>
                          </a:solidFill>
                          <a:effectLst/>
                        </a:rPr>
                        <a:t>% of Total Revenue</a:t>
                      </a:r>
                    </a:p>
                  </a:txBody>
                  <a:tcPr marL="31322" marR="31322" marT="31322" marB="31322">
                    <a:lnL>
                      <a:noFill/>
                    </a:lnL>
                    <a:lnR>
                      <a:noFill/>
                    </a:lnR>
                    <a:lnT>
                      <a:noFill/>
                    </a:lnT>
                    <a:lnB w="12700" cap="flat" cmpd="sng" algn="ctr">
                      <a:solidFill>
                        <a:srgbClr val="B0BD30"/>
                      </a:solidFill>
                      <a:prstDash val="solid"/>
                      <a:round/>
                      <a:headEnd type="none" w="med" len="med"/>
                      <a:tailEnd type="none" w="med" len="med"/>
                    </a:lnB>
                    <a:noFill/>
                  </a:tcPr>
                </a:tc>
                <a:extLst>
                  <a:ext uri="{0D108BD9-81ED-4DB2-BD59-A6C34878D82A}">
                    <a16:rowId xmlns:a16="http://schemas.microsoft.com/office/drawing/2014/main" val="3677736217"/>
                  </a:ext>
                </a:extLst>
              </a:tr>
              <a:tr h="915185">
                <a:tc>
                  <a:txBody>
                    <a:bodyPr/>
                    <a:lstStyle/>
                    <a:p>
                      <a:pPr fontAlgn="base" latinLnBrk="0">
                        <a:buNone/>
                      </a:pPr>
                      <a:r>
                        <a:rPr lang="en-IN" sz="2600" dirty="0">
                          <a:effectLst/>
                        </a:rPr>
                        <a:t>Service Charges (Gross)</a:t>
                      </a:r>
                    </a:p>
                  </a:txBody>
                  <a:tcPr marL="31322" marR="31322" marT="23491" marB="23491" anchor="ctr">
                    <a:lnL w="12700" cap="flat" cmpd="sng" algn="ctr">
                      <a:solidFill>
                        <a:srgbClr val="B0BD30"/>
                      </a:solidFill>
                      <a:prstDash val="solid"/>
                      <a:round/>
                      <a:headEnd type="none" w="med" len="med"/>
                      <a:tailEnd type="none" w="med" len="med"/>
                    </a:lnL>
                    <a:lnR w="12700" cap="flat" cmpd="sng" algn="ctr">
                      <a:solidFill>
                        <a:srgbClr val="B0BD30"/>
                      </a:solidFill>
                      <a:prstDash val="solid"/>
                      <a:round/>
                      <a:headEnd type="none" w="med" len="med"/>
                      <a:tailEnd type="none" w="med" len="med"/>
                    </a:lnR>
                    <a:lnT w="12700" cap="flat" cmpd="sng" algn="ctr">
                      <a:solidFill>
                        <a:srgbClr val="B0BD30"/>
                      </a:solidFill>
                      <a:prstDash val="solid"/>
                      <a:round/>
                      <a:headEnd type="none" w="med" len="med"/>
                      <a:tailEnd type="none" w="med" len="med"/>
                    </a:lnT>
                    <a:lnB w="12700" cap="flat" cmpd="sng" algn="ctr">
                      <a:solidFill>
                        <a:srgbClr val="B0BC30"/>
                      </a:solidFill>
                      <a:prstDash val="solid"/>
                      <a:round/>
                      <a:headEnd type="none" w="med" len="med"/>
                      <a:tailEnd type="none" w="med" len="med"/>
                    </a:lnB>
                    <a:noFill/>
                  </a:tcPr>
                </a:tc>
                <a:tc>
                  <a:txBody>
                    <a:bodyPr/>
                    <a:lstStyle/>
                    <a:p>
                      <a:pPr fontAlgn="base" latinLnBrk="0">
                        <a:buNone/>
                      </a:pPr>
                      <a:r>
                        <a:rPr lang="en-IN" sz="2600">
                          <a:effectLst/>
                        </a:rPr>
                        <a:t>1,000 × ₹400</a:t>
                      </a:r>
                    </a:p>
                  </a:txBody>
                  <a:tcPr marL="31322" marR="31322" marT="23491" marB="23491" anchor="ctr">
                    <a:lnL w="12700" cap="flat" cmpd="sng" algn="ctr">
                      <a:solidFill>
                        <a:srgbClr val="B0BD30"/>
                      </a:solidFill>
                      <a:prstDash val="solid"/>
                      <a:round/>
                      <a:headEnd type="none" w="med" len="med"/>
                      <a:tailEnd type="none" w="med" len="med"/>
                    </a:lnL>
                    <a:lnR w="12700" cap="flat" cmpd="sng" algn="ctr">
                      <a:solidFill>
                        <a:srgbClr val="B0BD30"/>
                      </a:solidFill>
                      <a:prstDash val="solid"/>
                      <a:round/>
                      <a:headEnd type="none" w="med" len="med"/>
                      <a:tailEnd type="none" w="med" len="med"/>
                    </a:lnR>
                    <a:lnT w="12700" cap="flat" cmpd="sng" algn="ctr">
                      <a:solidFill>
                        <a:srgbClr val="B0BD30"/>
                      </a:solidFill>
                      <a:prstDash val="solid"/>
                      <a:round/>
                      <a:headEnd type="none" w="med" len="med"/>
                      <a:tailEnd type="none" w="med" len="med"/>
                    </a:lnT>
                    <a:lnB w="12700" cap="flat" cmpd="sng" algn="ctr">
                      <a:solidFill>
                        <a:srgbClr val="B0BC30"/>
                      </a:solidFill>
                      <a:prstDash val="solid"/>
                      <a:round/>
                      <a:headEnd type="none" w="med" len="med"/>
                      <a:tailEnd type="none" w="med" len="med"/>
                    </a:lnB>
                    <a:noFill/>
                  </a:tcPr>
                </a:tc>
                <a:tc>
                  <a:txBody>
                    <a:bodyPr/>
                    <a:lstStyle/>
                    <a:p>
                      <a:pPr fontAlgn="base" latinLnBrk="0">
                        <a:buNone/>
                      </a:pPr>
                      <a:r>
                        <a:rPr lang="en-IN" sz="2600">
                          <a:effectLst/>
                        </a:rPr>
                        <a:t>4,00,000</a:t>
                      </a:r>
                    </a:p>
                  </a:txBody>
                  <a:tcPr marL="31322" marR="31322" marT="23491" marB="23491" anchor="ctr">
                    <a:lnL w="12700" cap="flat" cmpd="sng" algn="ctr">
                      <a:solidFill>
                        <a:srgbClr val="B0BD30"/>
                      </a:solidFill>
                      <a:prstDash val="solid"/>
                      <a:round/>
                      <a:headEnd type="none" w="med" len="med"/>
                      <a:tailEnd type="none" w="med" len="med"/>
                    </a:lnL>
                    <a:lnR w="12700" cap="flat" cmpd="sng" algn="ctr">
                      <a:solidFill>
                        <a:srgbClr val="B0BD30"/>
                      </a:solidFill>
                      <a:prstDash val="solid"/>
                      <a:round/>
                      <a:headEnd type="none" w="med" len="med"/>
                      <a:tailEnd type="none" w="med" len="med"/>
                    </a:lnR>
                    <a:lnT w="12700" cap="flat" cmpd="sng" algn="ctr">
                      <a:solidFill>
                        <a:srgbClr val="B0BD30"/>
                      </a:solidFill>
                      <a:prstDash val="solid"/>
                      <a:round/>
                      <a:headEnd type="none" w="med" len="med"/>
                      <a:tailEnd type="none" w="med" len="med"/>
                    </a:lnT>
                    <a:lnB w="12700" cap="flat" cmpd="sng" algn="ctr">
                      <a:solidFill>
                        <a:srgbClr val="B0BC30"/>
                      </a:solidFill>
                      <a:prstDash val="solid"/>
                      <a:round/>
                      <a:headEnd type="none" w="med" len="med"/>
                      <a:tailEnd type="none" w="med" len="med"/>
                    </a:lnB>
                    <a:noFill/>
                  </a:tcPr>
                </a:tc>
                <a:tc>
                  <a:txBody>
                    <a:bodyPr/>
                    <a:lstStyle/>
                    <a:p>
                      <a:pPr fontAlgn="base" latinLnBrk="0">
                        <a:buNone/>
                      </a:pPr>
                      <a:r>
                        <a:rPr lang="en-IN" sz="2600">
                          <a:effectLst/>
                        </a:rPr>
                        <a:t>100%</a:t>
                      </a:r>
                    </a:p>
                  </a:txBody>
                  <a:tcPr marL="31322" marR="31322" marT="23491" marB="23491" anchor="ctr">
                    <a:lnL w="12700" cap="flat" cmpd="sng" algn="ctr">
                      <a:solidFill>
                        <a:srgbClr val="B0BD30"/>
                      </a:solidFill>
                      <a:prstDash val="solid"/>
                      <a:round/>
                      <a:headEnd type="none" w="med" len="med"/>
                      <a:tailEnd type="none" w="med" len="med"/>
                    </a:lnL>
                    <a:lnR w="12700" cap="flat" cmpd="sng" algn="ctr">
                      <a:solidFill>
                        <a:srgbClr val="B0BD30"/>
                      </a:solidFill>
                      <a:prstDash val="solid"/>
                      <a:round/>
                      <a:headEnd type="none" w="med" len="med"/>
                      <a:tailEnd type="none" w="med" len="med"/>
                    </a:lnR>
                    <a:lnT w="12700" cap="flat" cmpd="sng" algn="ctr">
                      <a:solidFill>
                        <a:srgbClr val="B0BD30"/>
                      </a:solidFill>
                      <a:prstDash val="solid"/>
                      <a:round/>
                      <a:headEnd type="none" w="med" len="med"/>
                      <a:tailEnd type="none" w="med" len="med"/>
                    </a:lnT>
                    <a:lnB w="12700" cap="flat" cmpd="sng" algn="ctr">
                      <a:solidFill>
                        <a:srgbClr val="B0BC30"/>
                      </a:solidFill>
                      <a:prstDash val="solid"/>
                      <a:round/>
                      <a:headEnd type="none" w="med" len="med"/>
                      <a:tailEnd type="none" w="med" len="med"/>
                    </a:lnB>
                    <a:noFill/>
                  </a:tcPr>
                </a:tc>
                <a:extLst>
                  <a:ext uri="{0D108BD9-81ED-4DB2-BD59-A6C34878D82A}">
                    <a16:rowId xmlns:a16="http://schemas.microsoft.com/office/drawing/2014/main" val="2813489649"/>
                  </a:ext>
                </a:extLst>
              </a:tr>
              <a:tr h="915185">
                <a:tc>
                  <a:txBody>
                    <a:bodyPr/>
                    <a:lstStyle/>
                    <a:p>
                      <a:pPr fontAlgn="base" latinLnBrk="0">
                        <a:buNone/>
                      </a:pPr>
                      <a:r>
                        <a:rPr lang="en-IN" sz="2600">
                          <a:effectLst/>
                        </a:rPr>
                        <a:t>Vendor Registration Fee</a:t>
                      </a:r>
                    </a:p>
                  </a:txBody>
                  <a:tcPr marL="31322" marR="31322" marT="23491" marB="23491" anchor="ctr">
                    <a:lnL w="12700" cap="flat" cmpd="sng" algn="ctr">
                      <a:solidFill>
                        <a:srgbClr val="B0BC30"/>
                      </a:solidFill>
                      <a:prstDash val="solid"/>
                      <a:round/>
                      <a:headEnd type="none" w="med" len="med"/>
                      <a:tailEnd type="none" w="med" len="med"/>
                    </a:lnL>
                    <a:lnR w="12700" cap="flat" cmpd="sng" algn="ctr">
                      <a:solidFill>
                        <a:srgbClr val="B0BC30"/>
                      </a:solidFill>
                      <a:prstDash val="solid"/>
                      <a:round/>
                      <a:headEnd type="none" w="med" len="med"/>
                      <a:tailEnd type="none" w="med" len="med"/>
                    </a:lnR>
                    <a:lnT w="12700" cap="flat" cmpd="sng" algn="ctr">
                      <a:solidFill>
                        <a:srgbClr val="B0BC30"/>
                      </a:solidFill>
                      <a:prstDash val="solid"/>
                      <a:round/>
                      <a:headEnd type="none" w="med" len="med"/>
                      <a:tailEnd type="none" w="med" len="med"/>
                    </a:lnT>
                    <a:lnB w="12700" cap="flat" cmpd="sng" algn="ctr">
                      <a:solidFill>
                        <a:srgbClr val="B0C830"/>
                      </a:solidFill>
                      <a:prstDash val="solid"/>
                      <a:round/>
                      <a:headEnd type="none" w="med" len="med"/>
                      <a:tailEnd type="none" w="med" len="med"/>
                    </a:lnB>
                    <a:noFill/>
                  </a:tcPr>
                </a:tc>
                <a:tc>
                  <a:txBody>
                    <a:bodyPr/>
                    <a:lstStyle/>
                    <a:p>
                      <a:pPr fontAlgn="base" latinLnBrk="0">
                        <a:buNone/>
                      </a:pPr>
                      <a:r>
                        <a:rPr lang="en-IN" sz="2600">
                          <a:effectLst/>
                        </a:rPr>
                        <a:t>100 × ₹500</a:t>
                      </a:r>
                    </a:p>
                  </a:txBody>
                  <a:tcPr marL="31322" marR="31322" marT="23491" marB="23491" anchor="ctr">
                    <a:lnL w="12700" cap="flat" cmpd="sng" algn="ctr">
                      <a:solidFill>
                        <a:srgbClr val="B0BC30"/>
                      </a:solidFill>
                      <a:prstDash val="solid"/>
                      <a:round/>
                      <a:headEnd type="none" w="med" len="med"/>
                      <a:tailEnd type="none" w="med" len="med"/>
                    </a:lnL>
                    <a:lnR w="12700" cap="flat" cmpd="sng" algn="ctr">
                      <a:solidFill>
                        <a:srgbClr val="B0BC30"/>
                      </a:solidFill>
                      <a:prstDash val="solid"/>
                      <a:round/>
                      <a:headEnd type="none" w="med" len="med"/>
                      <a:tailEnd type="none" w="med" len="med"/>
                    </a:lnR>
                    <a:lnT w="12700" cap="flat" cmpd="sng" algn="ctr">
                      <a:solidFill>
                        <a:srgbClr val="B0BC30"/>
                      </a:solidFill>
                      <a:prstDash val="solid"/>
                      <a:round/>
                      <a:headEnd type="none" w="med" len="med"/>
                      <a:tailEnd type="none" w="med" len="med"/>
                    </a:lnT>
                    <a:lnB w="12700" cap="flat" cmpd="sng" algn="ctr">
                      <a:solidFill>
                        <a:srgbClr val="B0C830"/>
                      </a:solidFill>
                      <a:prstDash val="solid"/>
                      <a:round/>
                      <a:headEnd type="none" w="med" len="med"/>
                      <a:tailEnd type="none" w="med" len="med"/>
                    </a:lnB>
                    <a:noFill/>
                  </a:tcPr>
                </a:tc>
                <a:tc>
                  <a:txBody>
                    <a:bodyPr/>
                    <a:lstStyle/>
                    <a:p>
                      <a:pPr fontAlgn="base" latinLnBrk="0">
                        <a:buNone/>
                      </a:pPr>
                      <a:r>
                        <a:rPr lang="en-IN" sz="2600" dirty="0">
                          <a:effectLst/>
                        </a:rPr>
                        <a:t>50,000</a:t>
                      </a:r>
                    </a:p>
                  </a:txBody>
                  <a:tcPr marL="31322" marR="31322" marT="23491" marB="23491" anchor="ctr">
                    <a:lnL w="12700" cap="flat" cmpd="sng" algn="ctr">
                      <a:solidFill>
                        <a:srgbClr val="B0BC30"/>
                      </a:solidFill>
                      <a:prstDash val="solid"/>
                      <a:round/>
                      <a:headEnd type="none" w="med" len="med"/>
                      <a:tailEnd type="none" w="med" len="med"/>
                    </a:lnL>
                    <a:lnR w="12700" cap="flat" cmpd="sng" algn="ctr">
                      <a:solidFill>
                        <a:srgbClr val="B0BC30"/>
                      </a:solidFill>
                      <a:prstDash val="solid"/>
                      <a:round/>
                      <a:headEnd type="none" w="med" len="med"/>
                      <a:tailEnd type="none" w="med" len="med"/>
                    </a:lnR>
                    <a:lnT w="12700" cap="flat" cmpd="sng" algn="ctr">
                      <a:solidFill>
                        <a:srgbClr val="B0BC30"/>
                      </a:solidFill>
                      <a:prstDash val="solid"/>
                      <a:round/>
                      <a:headEnd type="none" w="med" len="med"/>
                      <a:tailEnd type="none" w="med" len="med"/>
                    </a:lnT>
                    <a:lnB w="12700" cap="flat" cmpd="sng" algn="ctr">
                      <a:solidFill>
                        <a:srgbClr val="B0C830"/>
                      </a:solidFill>
                      <a:prstDash val="solid"/>
                      <a:round/>
                      <a:headEnd type="none" w="med" len="med"/>
                      <a:tailEnd type="none" w="med" len="med"/>
                    </a:lnB>
                    <a:noFill/>
                  </a:tcPr>
                </a:tc>
                <a:tc>
                  <a:txBody>
                    <a:bodyPr/>
                    <a:lstStyle/>
                    <a:p>
                      <a:pPr fontAlgn="base" latinLnBrk="0">
                        <a:buNone/>
                      </a:pPr>
                      <a:r>
                        <a:rPr lang="en-IN" sz="2600">
                          <a:effectLst/>
                        </a:rPr>
                        <a:t>12.5%</a:t>
                      </a:r>
                    </a:p>
                  </a:txBody>
                  <a:tcPr marL="31322" marR="31322" marT="23491" marB="23491" anchor="ctr">
                    <a:lnL w="12700" cap="flat" cmpd="sng" algn="ctr">
                      <a:solidFill>
                        <a:srgbClr val="B0BC30"/>
                      </a:solidFill>
                      <a:prstDash val="solid"/>
                      <a:round/>
                      <a:headEnd type="none" w="med" len="med"/>
                      <a:tailEnd type="none" w="med" len="med"/>
                    </a:lnL>
                    <a:lnR w="12700" cap="flat" cmpd="sng" algn="ctr">
                      <a:solidFill>
                        <a:srgbClr val="B0BC30"/>
                      </a:solidFill>
                      <a:prstDash val="solid"/>
                      <a:round/>
                      <a:headEnd type="none" w="med" len="med"/>
                      <a:tailEnd type="none" w="med" len="med"/>
                    </a:lnR>
                    <a:lnT w="12700" cap="flat" cmpd="sng" algn="ctr">
                      <a:solidFill>
                        <a:srgbClr val="B0BC30"/>
                      </a:solidFill>
                      <a:prstDash val="solid"/>
                      <a:round/>
                      <a:headEnd type="none" w="med" len="med"/>
                      <a:tailEnd type="none" w="med" len="med"/>
                    </a:lnT>
                    <a:lnB w="12700" cap="flat" cmpd="sng" algn="ctr">
                      <a:solidFill>
                        <a:srgbClr val="B0C830"/>
                      </a:solidFill>
                      <a:prstDash val="solid"/>
                      <a:round/>
                      <a:headEnd type="none" w="med" len="med"/>
                      <a:tailEnd type="none" w="med" len="med"/>
                    </a:lnB>
                    <a:noFill/>
                  </a:tcPr>
                </a:tc>
                <a:extLst>
                  <a:ext uri="{0D108BD9-81ED-4DB2-BD59-A6C34878D82A}">
                    <a16:rowId xmlns:a16="http://schemas.microsoft.com/office/drawing/2014/main" val="2360214908"/>
                  </a:ext>
                </a:extLst>
              </a:tr>
              <a:tr h="915185">
                <a:tc>
                  <a:txBody>
                    <a:bodyPr/>
                    <a:lstStyle/>
                    <a:p>
                      <a:pPr fontAlgn="base" latinLnBrk="0">
                        <a:buNone/>
                      </a:pPr>
                      <a:r>
                        <a:rPr lang="en-IN" sz="2600">
                          <a:effectLst/>
                        </a:rPr>
                        <a:t>Training Fee</a:t>
                      </a:r>
                    </a:p>
                  </a:txBody>
                  <a:tcPr marL="31322" marR="31322" marT="23491" marB="23491" anchor="ctr">
                    <a:lnL w="12700" cap="flat" cmpd="sng" algn="ctr">
                      <a:solidFill>
                        <a:srgbClr val="B0C830"/>
                      </a:solidFill>
                      <a:prstDash val="solid"/>
                      <a:round/>
                      <a:headEnd type="none" w="med" len="med"/>
                      <a:tailEnd type="none" w="med" len="med"/>
                    </a:lnL>
                    <a:lnR w="12700" cap="flat" cmpd="sng" algn="ctr">
                      <a:solidFill>
                        <a:srgbClr val="B0C830"/>
                      </a:solidFill>
                      <a:prstDash val="solid"/>
                      <a:round/>
                      <a:headEnd type="none" w="med" len="med"/>
                      <a:tailEnd type="none" w="med" len="med"/>
                    </a:lnR>
                    <a:lnT w="12700" cap="flat" cmpd="sng" algn="ctr">
                      <a:solidFill>
                        <a:srgbClr val="B0C830"/>
                      </a:solidFill>
                      <a:prstDash val="solid"/>
                      <a:round/>
                      <a:headEnd type="none" w="med" len="med"/>
                      <a:tailEnd type="none" w="med" len="med"/>
                    </a:lnT>
                    <a:lnB w="12700" cap="flat" cmpd="sng" algn="ctr">
                      <a:solidFill>
                        <a:srgbClr val="30DB30"/>
                      </a:solidFill>
                      <a:prstDash val="solid"/>
                      <a:round/>
                      <a:headEnd type="none" w="med" len="med"/>
                      <a:tailEnd type="none" w="med" len="med"/>
                    </a:lnB>
                    <a:noFill/>
                  </a:tcPr>
                </a:tc>
                <a:tc>
                  <a:txBody>
                    <a:bodyPr/>
                    <a:lstStyle/>
                    <a:p>
                      <a:pPr fontAlgn="base" latinLnBrk="0">
                        <a:buNone/>
                      </a:pPr>
                      <a:r>
                        <a:rPr lang="en-IN" sz="2600" dirty="0">
                          <a:effectLst/>
                        </a:rPr>
                        <a:t>20 vendors × ₹1,500</a:t>
                      </a:r>
                    </a:p>
                  </a:txBody>
                  <a:tcPr marL="31322" marR="31322" marT="23491" marB="23491" anchor="ctr">
                    <a:lnL w="12700" cap="flat" cmpd="sng" algn="ctr">
                      <a:solidFill>
                        <a:srgbClr val="B0C830"/>
                      </a:solidFill>
                      <a:prstDash val="solid"/>
                      <a:round/>
                      <a:headEnd type="none" w="med" len="med"/>
                      <a:tailEnd type="none" w="med" len="med"/>
                    </a:lnL>
                    <a:lnR w="12700" cap="flat" cmpd="sng" algn="ctr">
                      <a:solidFill>
                        <a:srgbClr val="B0C830"/>
                      </a:solidFill>
                      <a:prstDash val="solid"/>
                      <a:round/>
                      <a:headEnd type="none" w="med" len="med"/>
                      <a:tailEnd type="none" w="med" len="med"/>
                    </a:lnR>
                    <a:lnT w="12700" cap="flat" cmpd="sng" algn="ctr">
                      <a:solidFill>
                        <a:srgbClr val="B0C830"/>
                      </a:solidFill>
                      <a:prstDash val="solid"/>
                      <a:round/>
                      <a:headEnd type="none" w="med" len="med"/>
                      <a:tailEnd type="none" w="med" len="med"/>
                    </a:lnT>
                    <a:lnB w="12700" cap="flat" cmpd="sng" algn="ctr">
                      <a:solidFill>
                        <a:srgbClr val="30DB30"/>
                      </a:solidFill>
                      <a:prstDash val="solid"/>
                      <a:round/>
                      <a:headEnd type="none" w="med" len="med"/>
                      <a:tailEnd type="none" w="med" len="med"/>
                    </a:lnB>
                    <a:noFill/>
                  </a:tcPr>
                </a:tc>
                <a:tc>
                  <a:txBody>
                    <a:bodyPr/>
                    <a:lstStyle/>
                    <a:p>
                      <a:pPr fontAlgn="base" latinLnBrk="0">
                        <a:buNone/>
                      </a:pPr>
                      <a:r>
                        <a:rPr lang="en-IN" sz="2600">
                          <a:effectLst/>
                        </a:rPr>
                        <a:t>30,000</a:t>
                      </a:r>
                    </a:p>
                  </a:txBody>
                  <a:tcPr marL="31322" marR="31322" marT="23491" marB="23491" anchor="ctr">
                    <a:lnL w="12700" cap="flat" cmpd="sng" algn="ctr">
                      <a:solidFill>
                        <a:srgbClr val="B0C830"/>
                      </a:solidFill>
                      <a:prstDash val="solid"/>
                      <a:round/>
                      <a:headEnd type="none" w="med" len="med"/>
                      <a:tailEnd type="none" w="med" len="med"/>
                    </a:lnL>
                    <a:lnR w="12700" cap="flat" cmpd="sng" algn="ctr">
                      <a:solidFill>
                        <a:srgbClr val="B0C830"/>
                      </a:solidFill>
                      <a:prstDash val="solid"/>
                      <a:round/>
                      <a:headEnd type="none" w="med" len="med"/>
                      <a:tailEnd type="none" w="med" len="med"/>
                    </a:lnR>
                    <a:lnT w="12700" cap="flat" cmpd="sng" algn="ctr">
                      <a:solidFill>
                        <a:srgbClr val="B0C830"/>
                      </a:solidFill>
                      <a:prstDash val="solid"/>
                      <a:round/>
                      <a:headEnd type="none" w="med" len="med"/>
                      <a:tailEnd type="none" w="med" len="med"/>
                    </a:lnT>
                    <a:lnB w="12700" cap="flat" cmpd="sng" algn="ctr">
                      <a:solidFill>
                        <a:srgbClr val="30DB30"/>
                      </a:solidFill>
                      <a:prstDash val="solid"/>
                      <a:round/>
                      <a:headEnd type="none" w="med" len="med"/>
                      <a:tailEnd type="none" w="med" len="med"/>
                    </a:lnB>
                    <a:noFill/>
                  </a:tcPr>
                </a:tc>
                <a:tc>
                  <a:txBody>
                    <a:bodyPr/>
                    <a:lstStyle/>
                    <a:p>
                      <a:pPr fontAlgn="base" latinLnBrk="0">
                        <a:buNone/>
                      </a:pPr>
                      <a:r>
                        <a:rPr lang="en-IN" sz="2600">
                          <a:effectLst/>
                        </a:rPr>
                        <a:t>7.5%</a:t>
                      </a:r>
                    </a:p>
                  </a:txBody>
                  <a:tcPr marL="31322" marR="31322" marT="23491" marB="23491" anchor="ctr">
                    <a:lnL w="12700" cap="flat" cmpd="sng" algn="ctr">
                      <a:solidFill>
                        <a:srgbClr val="B0C830"/>
                      </a:solidFill>
                      <a:prstDash val="solid"/>
                      <a:round/>
                      <a:headEnd type="none" w="med" len="med"/>
                      <a:tailEnd type="none" w="med" len="med"/>
                    </a:lnL>
                    <a:lnR w="12700" cap="flat" cmpd="sng" algn="ctr">
                      <a:solidFill>
                        <a:srgbClr val="B0C830"/>
                      </a:solidFill>
                      <a:prstDash val="solid"/>
                      <a:round/>
                      <a:headEnd type="none" w="med" len="med"/>
                      <a:tailEnd type="none" w="med" len="med"/>
                    </a:lnR>
                    <a:lnT w="12700" cap="flat" cmpd="sng" algn="ctr">
                      <a:solidFill>
                        <a:srgbClr val="B0C830"/>
                      </a:solidFill>
                      <a:prstDash val="solid"/>
                      <a:round/>
                      <a:headEnd type="none" w="med" len="med"/>
                      <a:tailEnd type="none" w="med" len="med"/>
                    </a:lnT>
                    <a:lnB w="12700" cap="flat" cmpd="sng" algn="ctr">
                      <a:solidFill>
                        <a:srgbClr val="30DB30"/>
                      </a:solidFill>
                      <a:prstDash val="solid"/>
                      <a:round/>
                      <a:headEnd type="none" w="med" len="med"/>
                      <a:tailEnd type="none" w="med" len="med"/>
                    </a:lnB>
                    <a:noFill/>
                  </a:tcPr>
                </a:tc>
                <a:extLst>
                  <a:ext uri="{0D108BD9-81ED-4DB2-BD59-A6C34878D82A}">
                    <a16:rowId xmlns:a16="http://schemas.microsoft.com/office/drawing/2014/main" val="1850684237"/>
                  </a:ext>
                </a:extLst>
              </a:tr>
              <a:tr h="959781">
                <a:tc>
                  <a:txBody>
                    <a:bodyPr/>
                    <a:lstStyle/>
                    <a:p>
                      <a:pPr fontAlgn="base" latinLnBrk="0">
                        <a:buNone/>
                      </a:pPr>
                      <a:r>
                        <a:rPr lang="en-US" sz="2600">
                          <a:effectLst/>
                        </a:rPr>
                        <a:t>Commission (12% of service revenue)</a:t>
                      </a:r>
                    </a:p>
                  </a:txBody>
                  <a:tcPr marL="31322" marR="31322" marT="23491" marB="23491" anchor="ctr">
                    <a:lnL w="12700" cap="flat" cmpd="sng" algn="ctr">
                      <a:solidFill>
                        <a:srgbClr val="30DB30"/>
                      </a:solidFill>
                      <a:prstDash val="solid"/>
                      <a:round/>
                      <a:headEnd type="none" w="med" len="med"/>
                      <a:tailEnd type="none" w="med" len="med"/>
                    </a:lnL>
                    <a:lnR w="12700" cap="flat" cmpd="sng" algn="ctr">
                      <a:solidFill>
                        <a:srgbClr val="30DB30"/>
                      </a:solidFill>
                      <a:prstDash val="solid"/>
                      <a:round/>
                      <a:headEnd type="none" w="med" len="med"/>
                      <a:tailEnd type="none" w="med" len="med"/>
                    </a:lnR>
                    <a:lnT w="12700" cap="flat" cmpd="sng" algn="ctr">
                      <a:solidFill>
                        <a:srgbClr val="30DB30"/>
                      </a:solidFill>
                      <a:prstDash val="solid"/>
                      <a:round/>
                      <a:headEnd type="none" w="med" len="med"/>
                      <a:tailEnd type="none" w="med" len="med"/>
                    </a:lnT>
                    <a:lnB w="12700" cap="flat" cmpd="sng" algn="ctr">
                      <a:solidFill>
                        <a:srgbClr val="30E730"/>
                      </a:solidFill>
                      <a:prstDash val="solid"/>
                      <a:round/>
                      <a:headEnd type="none" w="med" len="med"/>
                      <a:tailEnd type="none" w="med" len="med"/>
                    </a:lnB>
                    <a:noFill/>
                  </a:tcPr>
                </a:tc>
                <a:tc>
                  <a:txBody>
                    <a:bodyPr/>
                    <a:lstStyle/>
                    <a:p>
                      <a:pPr fontAlgn="base" latinLnBrk="0">
                        <a:buNone/>
                      </a:pPr>
                      <a:r>
                        <a:rPr lang="en-IN" sz="2600" dirty="0">
                          <a:effectLst/>
                        </a:rPr>
                        <a:t>12% × ₹4,00,000</a:t>
                      </a:r>
                    </a:p>
                  </a:txBody>
                  <a:tcPr marL="31322" marR="31322" marT="23491" marB="23491" anchor="ctr">
                    <a:lnL w="12700" cap="flat" cmpd="sng" algn="ctr">
                      <a:solidFill>
                        <a:srgbClr val="30DB30"/>
                      </a:solidFill>
                      <a:prstDash val="solid"/>
                      <a:round/>
                      <a:headEnd type="none" w="med" len="med"/>
                      <a:tailEnd type="none" w="med" len="med"/>
                    </a:lnL>
                    <a:lnR w="12700" cap="flat" cmpd="sng" algn="ctr">
                      <a:solidFill>
                        <a:srgbClr val="30DB30"/>
                      </a:solidFill>
                      <a:prstDash val="solid"/>
                      <a:round/>
                      <a:headEnd type="none" w="med" len="med"/>
                      <a:tailEnd type="none" w="med" len="med"/>
                    </a:lnR>
                    <a:lnT w="12700" cap="flat" cmpd="sng" algn="ctr">
                      <a:solidFill>
                        <a:srgbClr val="30DB30"/>
                      </a:solidFill>
                      <a:prstDash val="solid"/>
                      <a:round/>
                      <a:headEnd type="none" w="med" len="med"/>
                      <a:tailEnd type="none" w="med" len="med"/>
                    </a:lnT>
                    <a:lnB w="12700" cap="flat" cmpd="sng" algn="ctr">
                      <a:solidFill>
                        <a:srgbClr val="30E730"/>
                      </a:solidFill>
                      <a:prstDash val="solid"/>
                      <a:round/>
                      <a:headEnd type="none" w="med" len="med"/>
                      <a:tailEnd type="none" w="med" len="med"/>
                    </a:lnB>
                    <a:noFill/>
                  </a:tcPr>
                </a:tc>
                <a:tc>
                  <a:txBody>
                    <a:bodyPr/>
                    <a:lstStyle/>
                    <a:p>
                      <a:pPr fontAlgn="base" latinLnBrk="0">
                        <a:buNone/>
                      </a:pPr>
                      <a:r>
                        <a:rPr lang="en-IN" sz="2600">
                          <a:effectLst/>
                        </a:rPr>
                        <a:t>48,000</a:t>
                      </a:r>
                    </a:p>
                  </a:txBody>
                  <a:tcPr marL="31322" marR="31322" marT="23491" marB="23491" anchor="ctr">
                    <a:lnL w="12700" cap="flat" cmpd="sng" algn="ctr">
                      <a:solidFill>
                        <a:srgbClr val="30DB30"/>
                      </a:solidFill>
                      <a:prstDash val="solid"/>
                      <a:round/>
                      <a:headEnd type="none" w="med" len="med"/>
                      <a:tailEnd type="none" w="med" len="med"/>
                    </a:lnL>
                    <a:lnR w="12700" cap="flat" cmpd="sng" algn="ctr">
                      <a:solidFill>
                        <a:srgbClr val="30DB30"/>
                      </a:solidFill>
                      <a:prstDash val="solid"/>
                      <a:round/>
                      <a:headEnd type="none" w="med" len="med"/>
                      <a:tailEnd type="none" w="med" len="med"/>
                    </a:lnR>
                    <a:lnT w="12700" cap="flat" cmpd="sng" algn="ctr">
                      <a:solidFill>
                        <a:srgbClr val="30DB30"/>
                      </a:solidFill>
                      <a:prstDash val="solid"/>
                      <a:round/>
                      <a:headEnd type="none" w="med" len="med"/>
                      <a:tailEnd type="none" w="med" len="med"/>
                    </a:lnT>
                    <a:lnB w="12700" cap="flat" cmpd="sng" algn="ctr">
                      <a:solidFill>
                        <a:srgbClr val="30E730"/>
                      </a:solidFill>
                      <a:prstDash val="solid"/>
                      <a:round/>
                      <a:headEnd type="none" w="med" len="med"/>
                      <a:tailEnd type="none" w="med" len="med"/>
                    </a:lnB>
                    <a:noFill/>
                  </a:tcPr>
                </a:tc>
                <a:tc>
                  <a:txBody>
                    <a:bodyPr/>
                    <a:lstStyle/>
                    <a:p>
                      <a:pPr fontAlgn="base" latinLnBrk="0">
                        <a:buNone/>
                      </a:pPr>
                      <a:r>
                        <a:rPr lang="en-IN" sz="2600">
                          <a:effectLst/>
                        </a:rPr>
                        <a:t>12%</a:t>
                      </a:r>
                    </a:p>
                  </a:txBody>
                  <a:tcPr marL="31322" marR="31322" marT="23491" marB="23491" anchor="ctr">
                    <a:lnL w="12700" cap="flat" cmpd="sng" algn="ctr">
                      <a:solidFill>
                        <a:srgbClr val="30DB30"/>
                      </a:solidFill>
                      <a:prstDash val="solid"/>
                      <a:round/>
                      <a:headEnd type="none" w="med" len="med"/>
                      <a:tailEnd type="none" w="med" len="med"/>
                    </a:lnL>
                    <a:lnR w="12700" cap="flat" cmpd="sng" algn="ctr">
                      <a:solidFill>
                        <a:srgbClr val="30DB30"/>
                      </a:solidFill>
                      <a:prstDash val="solid"/>
                      <a:round/>
                      <a:headEnd type="none" w="med" len="med"/>
                      <a:tailEnd type="none" w="med" len="med"/>
                    </a:lnR>
                    <a:lnT w="12700" cap="flat" cmpd="sng" algn="ctr">
                      <a:solidFill>
                        <a:srgbClr val="30DB30"/>
                      </a:solidFill>
                      <a:prstDash val="solid"/>
                      <a:round/>
                      <a:headEnd type="none" w="med" len="med"/>
                      <a:tailEnd type="none" w="med" len="med"/>
                    </a:lnT>
                    <a:lnB w="12700" cap="flat" cmpd="sng" algn="ctr">
                      <a:solidFill>
                        <a:srgbClr val="30E730"/>
                      </a:solidFill>
                      <a:prstDash val="solid"/>
                      <a:round/>
                      <a:headEnd type="none" w="med" len="med"/>
                      <a:tailEnd type="none" w="med" len="med"/>
                    </a:lnB>
                    <a:noFill/>
                  </a:tcPr>
                </a:tc>
                <a:extLst>
                  <a:ext uri="{0D108BD9-81ED-4DB2-BD59-A6C34878D82A}">
                    <a16:rowId xmlns:a16="http://schemas.microsoft.com/office/drawing/2014/main" val="3833665458"/>
                  </a:ext>
                </a:extLst>
              </a:tr>
              <a:tr h="959781">
                <a:tc>
                  <a:txBody>
                    <a:bodyPr/>
                    <a:lstStyle/>
                    <a:p>
                      <a:pPr fontAlgn="base" latinLnBrk="0">
                        <a:buNone/>
                      </a:pPr>
                      <a:r>
                        <a:rPr lang="en-US" sz="2600">
                          <a:effectLst/>
                        </a:rPr>
                        <a:t>Lead Generation Credits (10 vendors)</a:t>
                      </a:r>
                    </a:p>
                  </a:txBody>
                  <a:tcPr marL="31322" marR="31322" marT="23491" marB="23491" anchor="ctr">
                    <a:lnL w="12700" cap="flat" cmpd="sng" algn="ctr">
                      <a:solidFill>
                        <a:srgbClr val="30E730"/>
                      </a:solidFill>
                      <a:prstDash val="solid"/>
                      <a:round/>
                      <a:headEnd type="none" w="med" len="med"/>
                      <a:tailEnd type="none" w="med" len="med"/>
                    </a:lnL>
                    <a:lnR w="12700" cap="flat" cmpd="sng" algn="ctr">
                      <a:solidFill>
                        <a:srgbClr val="30E730"/>
                      </a:solidFill>
                      <a:prstDash val="solid"/>
                      <a:round/>
                      <a:headEnd type="none" w="med" len="med"/>
                      <a:tailEnd type="none" w="med" len="med"/>
                    </a:lnR>
                    <a:lnT w="12700" cap="flat" cmpd="sng" algn="ctr">
                      <a:solidFill>
                        <a:srgbClr val="30E730"/>
                      </a:solidFill>
                      <a:prstDash val="solid"/>
                      <a:round/>
                      <a:headEnd type="none" w="med" len="med"/>
                      <a:tailEnd type="none" w="med" len="med"/>
                    </a:lnT>
                    <a:lnB w="12700" cap="flat" cmpd="sng" algn="ctr">
                      <a:solidFill>
                        <a:srgbClr val="70F630"/>
                      </a:solidFill>
                      <a:prstDash val="solid"/>
                      <a:round/>
                      <a:headEnd type="none" w="med" len="med"/>
                      <a:tailEnd type="none" w="med" len="med"/>
                    </a:lnB>
                    <a:noFill/>
                  </a:tcPr>
                </a:tc>
                <a:tc>
                  <a:txBody>
                    <a:bodyPr/>
                    <a:lstStyle/>
                    <a:p>
                      <a:pPr fontAlgn="base" latinLnBrk="0">
                        <a:buNone/>
                      </a:pPr>
                      <a:r>
                        <a:rPr lang="en-IN" sz="2600" dirty="0">
                          <a:effectLst/>
                        </a:rPr>
                        <a:t>10 × ₹2,000</a:t>
                      </a:r>
                    </a:p>
                  </a:txBody>
                  <a:tcPr marL="31322" marR="31322" marT="23491" marB="23491" anchor="ctr">
                    <a:lnL w="12700" cap="flat" cmpd="sng" algn="ctr">
                      <a:solidFill>
                        <a:srgbClr val="30E730"/>
                      </a:solidFill>
                      <a:prstDash val="solid"/>
                      <a:round/>
                      <a:headEnd type="none" w="med" len="med"/>
                      <a:tailEnd type="none" w="med" len="med"/>
                    </a:lnL>
                    <a:lnR w="12700" cap="flat" cmpd="sng" algn="ctr">
                      <a:solidFill>
                        <a:srgbClr val="30E730"/>
                      </a:solidFill>
                      <a:prstDash val="solid"/>
                      <a:round/>
                      <a:headEnd type="none" w="med" len="med"/>
                      <a:tailEnd type="none" w="med" len="med"/>
                    </a:lnR>
                    <a:lnT w="12700" cap="flat" cmpd="sng" algn="ctr">
                      <a:solidFill>
                        <a:srgbClr val="30E730"/>
                      </a:solidFill>
                      <a:prstDash val="solid"/>
                      <a:round/>
                      <a:headEnd type="none" w="med" len="med"/>
                      <a:tailEnd type="none" w="med" len="med"/>
                    </a:lnT>
                    <a:lnB w="12700" cap="flat" cmpd="sng" algn="ctr">
                      <a:solidFill>
                        <a:srgbClr val="70F630"/>
                      </a:solidFill>
                      <a:prstDash val="solid"/>
                      <a:round/>
                      <a:headEnd type="none" w="med" len="med"/>
                      <a:tailEnd type="none" w="med" len="med"/>
                    </a:lnB>
                    <a:noFill/>
                  </a:tcPr>
                </a:tc>
                <a:tc>
                  <a:txBody>
                    <a:bodyPr/>
                    <a:lstStyle/>
                    <a:p>
                      <a:pPr fontAlgn="base" latinLnBrk="0">
                        <a:buNone/>
                      </a:pPr>
                      <a:r>
                        <a:rPr lang="en-IN" sz="2600">
                          <a:effectLst/>
                        </a:rPr>
                        <a:t>20,000</a:t>
                      </a:r>
                    </a:p>
                  </a:txBody>
                  <a:tcPr marL="31322" marR="31322" marT="23491" marB="23491" anchor="ctr">
                    <a:lnL w="12700" cap="flat" cmpd="sng" algn="ctr">
                      <a:solidFill>
                        <a:srgbClr val="30E730"/>
                      </a:solidFill>
                      <a:prstDash val="solid"/>
                      <a:round/>
                      <a:headEnd type="none" w="med" len="med"/>
                      <a:tailEnd type="none" w="med" len="med"/>
                    </a:lnL>
                    <a:lnR w="12700" cap="flat" cmpd="sng" algn="ctr">
                      <a:solidFill>
                        <a:srgbClr val="30E730"/>
                      </a:solidFill>
                      <a:prstDash val="solid"/>
                      <a:round/>
                      <a:headEnd type="none" w="med" len="med"/>
                      <a:tailEnd type="none" w="med" len="med"/>
                    </a:lnR>
                    <a:lnT w="12700" cap="flat" cmpd="sng" algn="ctr">
                      <a:solidFill>
                        <a:srgbClr val="30E730"/>
                      </a:solidFill>
                      <a:prstDash val="solid"/>
                      <a:round/>
                      <a:headEnd type="none" w="med" len="med"/>
                      <a:tailEnd type="none" w="med" len="med"/>
                    </a:lnT>
                    <a:lnB w="12700" cap="flat" cmpd="sng" algn="ctr">
                      <a:solidFill>
                        <a:srgbClr val="70F630"/>
                      </a:solidFill>
                      <a:prstDash val="solid"/>
                      <a:round/>
                      <a:headEnd type="none" w="med" len="med"/>
                      <a:tailEnd type="none" w="med" len="med"/>
                    </a:lnB>
                    <a:noFill/>
                  </a:tcPr>
                </a:tc>
                <a:tc>
                  <a:txBody>
                    <a:bodyPr/>
                    <a:lstStyle/>
                    <a:p>
                      <a:pPr fontAlgn="base" latinLnBrk="0">
                        <a:buNone/>
                      </a:pPr>
                      <a:r>
                        <a:rPr lang="en-IN" sz="2600">
                          <a:effectLst/>
                        </a:rPr>
                        <a:t>5%</a:t>
                      </a:r>
                    </a:p>
                  </a:txBody>
                  <a:tcPr marL="31322" marR="31322" marT="23491" marB="23491" anchor="ctr">
                    <a:lnL w="12700" cap="flat" cmpd="sng" algn="ctr">
                      <a:solidFill>
                        <a:srgbClr val="30E730"/>
                      </a:solidFill>
                      <a:prstDash val="solid"/>
                      <a:round/>
                      <a:headEnd type="none" w="med" len="med"/>
                      <a:tailEnd type="none" w="med" len="med"/>
                    </a:lnL>
                    <a:lnR w="12700" cap="flat" cmpd="sng" algn="ctr">
                      <a:solidFill>
                        <a:srgbClr val="30E730"/>
                      </a:solidFill>
                      <a:prstDash val="solid"/>
                      <a:round/>
                      <a:headEnd type="none" w="med" len="med"/>
                      <a:tailEnd type="none" w="med" len="med"/>
                    </a:lnR>
                    <a:lnT w="12700" cap="flat" cmpd="sng" algn="ctr">
                      <a:solidFill>
                        <a:srgbClr val="30E730"/>
                      </a:solidFill>
                      <a:prstDash val="solid"/>
                      <a:round/>
                      <a:headEnd type="none" w="med" len="med"/>
                      <a:tailEnd type="none" w="med" len="med"/>
                    </a:lnT>
                    <a:lnB w="12700" cap="flat" cmpd="sng" algn="ctr">
                      <a:solidFill>
                        <a:srgbClr val="70F630"/>
                      </a:solidFill>
                      <a:prstDash val="solid"/>
                      <a:round/>
                      <a:headEnd type="none" w="med" len="med"/>
                      <a:tailEnd type="none" w="med" len="med"/>
                    </a:lnB>
                    <a:noFill/>
                  </a:tcPr>
                </a:tc>
                <a:extLst>
                  <a:ext uri="{0D108BD9-81ED-4DB2-BD59-A6C34878D82A}">
                    <a16:rowId xmlns:a16="http://schemas.microsoft.com/office/drawing/2014/main" val="5332479"/>
                  </a:ext>
                </a:extLst>
              </a:tr>
              <a:tr h="915185">
                <a:tc>
                  <a:txBody>
                    <a:bodyPr/>
                    <a:lstStyle/>
                    <a:p>
                      <a:pPr fontAlgn="base" latinLnBrk="0">
                        <a:buNone/>
                      </a:pPr>
                      <a:r>
                        <a:rPr lang="en-US" sz="2600">
                          <a:effectLst/>
                        </a:rPr>
                        <a:t>Advertising (8% of service revenue)</a:t>
                      </a:r>
                    </a:p>
                  </a:txBody>
                  <a:tcPr marL="31322" marR="31322" marT="23491" marB="23491" anchor="ctr">
                    <a:lnL w="12700" cap="flat" cmpd="sng" algn="ctr">
                      <a:solidFill>
                        <a:srgbClr val="70F630"/>
                      </a:solidFill>
                      <a:prstDash val="solid"/>
                      <a:round/>
                      <a:headEnd type="none" w="med" len="med"/>
                      <a:tailEnd type="none" w="med" len="med"/>
                    </a:lnL>
                    <a:lnR w="12700" cap="flat" cmpd="sng" algn="ctr">
                      <a:solidFill>
                        <a:srgbClr val="70F630"/>
                      </a:solidFill>
                      <a:prstDash val="solid"/>
                      <a:round/>
                      <a:headEnd type="none" w="med" len="med"/>
                      <a:tailEnd type="none" w="med" len="med"/>
                    </a:lnR>
                    <a:lnT w="12700" cap="flat" cmpd="sng" algn="ctr">
                      <a:solidFill>
                        <a:srgbClr val="70F630"/>
                      </a:solidFill>
                      <a:prstDash val="solid"/>
                      <a:round/>
                      <a:headEnd type="none" w="med" len="med"/>
                      <a:tailEnd type="none" w="med" len="med"/>
                    </a:lnT>
                    <a:lnB w="12700" cap="flat" cmpd="sng" algn="ctr">
                      <a:solidFill>
                        <a:srgbClr val="300731"/>
                      </a:solidFill>
                      <a:prstDash val="solid"/>
                      <a:round/>
                      <a:headEnd type="none" w="med" len="med"/>
                      <a:tailEnd type="none" w="med" len="med"/>
                    </a:lnB>
                    <a:noFill/>
                  </a:tcPr>
                </a:tc>
                <a:tc>
                  <a:txBody>
                    <a:bodyPr/>
                    <a:lstStyle/>
                    <a:p>
                      <a:pPr fontAlgn="base" latinLnBrk="0">
                        <a:buNone/>
                      </a:pPr>
                      <a:r>
                        <a:rPr lang="en-IN" sz="2600">
                          <a:effectLst/>
                        </a:rPr>
                        <a:t>8% × ₹4,00,000</a:t>
                      </a:r>
                    </a:p>
                  </a:txBody>
                  <a:tcPr marL="31322" marR="31322" marT="23491" marB="23491" anchor="ctr">
                    <a:lnL w="12700" cap="flat" cmpd="sng" algn="ctr">
                      <a:solidFill>
                        <a:srgbClr val="70F630"/>
                      </a:solidFill>
                      <a:prstDash val="solid"/>
                      <a:round/>
                      <a:headEnd type="none" w="med" len="med"/>
                      <a:tailEnd type="none" w="med" len="med"/>
                    </a:lnL>
                    <a:lnR w="12700" cap="flat" cmpd="sng" algn="ctr">
                      <a:solidFill>
                        <a:srgbClr val="70F630"/>
                      </a:solidFill>
                      <a:prstDash val="solid"/>
                      <a:round/>
                      <a:headEnd type="none" w="med" len="med"/>
                      <a:tailEnd type="none" w="med" len="med"/>
                    </a:lnR>
                    <a:lnT w="12700" cap="flat" cmpd="sng" algn="ctr">
                      <a:solidFill>
                        <a:srgbClr val="70F630"/>
                      </a:solidFill>
                      <a:prstDash val="solid"/>
                      <a:round/>
                      <a:headEnd type="none" w="med" len="med"/>
                      <a:tailEnd type="none" w="med" len="med"/>
                    </a:lnT>
                    <a:lnB w="12700" cap="flat" cmpd="sng" algn="ctr">
                      <a:solidFill>
                        <a:srgbClr val="300731"/>
                      </a:solidFill>
                      <a:prstDash val="solid"/>
                      <a:round/>
                      <a:headEnd type="none" w="med" len="med"/>
                      <a:tailEnd type="none" w="med" len="med"/>
                    </a:lnB>
                    <a:noFill/>
                  </a:tcPr>
                </a:tc>
                <a:tc>
                  <a:txBody>
                    <a:bodyPr/>
                    <a:lstStyle/>
                    <a:p>
                      <a:pPr fontAlgn="base" latinLnBrk="0">
                        <a:buNone/>
                      </a:pPr>
                      <a:r>
                        <a:rPr lang="en-IN" sz="2600">
                          <a:effectLst/>
                        </a:rPr>
                        <a:t>32,000</a:t>
                      </a:r>
                    </a:p>
                  </a:txBody>
                  <a:tcPr marL="31322" marR="31322" marT="23491" marB="23491" anchor="ctr">
                    <a:lnL w="12700" cap="flat" cmpd="sng" algn="ctr">
                      <a:solidFill>
                        <a:srgbClr val="70F630"/>
                      </a:solidFill>
                      <a:prstDash val="solid"/>
                      <a:round/>
                      <a:headEnd type="none" w="med" len="med"/>
                      <a:tailEnd type="none" w="med" len="med"/>
                    </a:lnL>
                    <a:lnR w="12700" cap="flat" cmpd="sng" algn="ctr">
                      <a:solidFill>
                        <a:srgbClr val="70F630"/>
                      </a:solidFill>
                      <a:prstDash val="solid"/>
                      <a:round/>
                      <a:headEnd type="none" w="med" len="med"/>
                      <a:tailEnd type="none" w="med" len="med"/>
                    </a:lnR>
                    <a:lnT w="12700" cap="flat" cmpd="sng" algn="ctr">
                      <a:solidFill>
                        <a:srgbClr val="70F630"/>
                      </a:solidFill>
                      <a:prstDash val="solid"/>
                      <a:round/>
                      <a:headEnd type="none" w="med" len="med"/>
                      <a:tailEnd type="none" w="med" len="med"/>
                    </a:lnT>
                    <a:lnB w="12700" cap="flat" cmpd="sng" algn="ctr">
                      <a:solidFill>
                        <a:srgbClr val="300731"/>
                      </a:solidFill>
                      <a:prstDash val="solid"/>
                      <a:round/>
                      <a:headEnd type="none" w="med" len="med"/>
                      <a:tailEnd type="none" w="med" len="med"/>
                    </a:lnB>
                    <a:noFill/>
                  </a:tcPr>
                </a:tc>
                <a:tc>
                  <a:txBody>
                    <a:bodyPr/>
                    <a:lstStyle/>
                    <a:p>
                      <a:pPr fontAlgn="base" latinLnBrk="0">
                        <a:buNone/>
                      </a:pPr>
                      <a:r>
                        <a:rPr lang="en-IN" sz="2600" dirty="0">
                          <a:effectLst/>
                        </a:rPr>
                        <a:t>8%</a:t>
                      </a:r>
                    </a:p>
                  </a:txBody>
                  <a:tcPr marL="31322" marR="31322" marT="23491" marB="23491" anchor="ctr">
                    <a:lnL w="12700" cap="flat" cmpd="sng" algn="ctr">
                      <a:solidFill>
                        <a:srgbClr val="70F630"/>
                      </a:solidFill>
                      <a:prstDash val="solid"/>
                      <a:round/>
                      <a:headEnd type="none" w="med" len="med"/>
                      <a:tailEnd type="none" w="med" len="med"/>
                    </a:lnL>
                    <a:lnR w="12700" cap="flat" cmpd="sng" algn="ctr">
                      <a:solidFill>
                        <a:srgbClr val="70F630"/>
                      </a:solidFill>
                      <a:prstDash val="solid"/>
                      <a:round/>
                      <a:headEnd type="none" w="med" len="med"/>
                      <a:tailEnd type="none" w="med" len="med"/>
                    </a:lnR>
                    <a:lnT w="12700" cap="flat" cmpd="sng" algn="ctr">
                      <a:solidFill>
                        <a:srgbClr val="70F630"/>
                      </a:solidFill>
                      <a:prstDash val="solid"/>
                      <a:round/>
                      <a:headEnd type="none" w="med" len="med"/>
                      <a:tailEnd type="none" w="med" len="med"/>
                    </a:lnT>
                    <a:lnB w="12700" cap="flat" cmpd="sng" algn="ctr">
                      <a:solidFill>
                        <a:srgbClr val="300731"/>
                      </a:solidFill>
                      <a:prstDash val="solid"/>
                      <a:round/>
                      <a:headEnd type="none" w="med" len="med"/>
                      <a:tailEnd type="none" w="med" len="med"/>
                    </a:lnB>
                    <a:noFill/>
                  </a:tcPr>
                </a:tc>
                <a:extLst>
                  <a:ext uri="{0D108BD9-81ED-4DB2-BD59-A6C34878D82A}">
                    <a16:rowId xmlns:a16="http://schemas.microsoft.com/office/drawing/2014/main" val="2140432376"/>
                  </a:ext>
                </a:extLst>
              </a:tr>
              <a:tr h="1347168">
                <a:tc>
                  <a:txBody>
                    <a:bodyPr/>
                    <a:lstStyle/>
                    <a:p>
                      <a:pPr fontAlgn="base" latinLnBrk="0">
                        <a:buNone/>
                      </a:pPr>
                      <a:r>
                        <a:rPr lang="en-US" sz="2600">
                          <a:effectLst/>
                        </a:rPr>
                        <a:t>Cancellation Fees (8% of cancelled requests)</a:t>
                      </a:r>
                    </a:p>
                  </a:txBody>
                  <a:tcPr marL="31322" marR="31322" marT="23491" marB="23491" anchor="ctr">
                    <a:lnL w="12700" cap="flat" cmpd="sng" algn="ctr">
                      <a:solidFill>
                        <a:srgbClr val="300731"/>
                      </a:solidFill>
                      <a:prstDash val="solid"/>
                      <a:round/>
                      <a:headEnd type="none" w="med" len="med"/>
                      <a:tailEnd type="none" w="med" len="med"/>
                    </a:lnL>
                    <a:lnR w="12700" cap="flat" cmpd="sng" algn="ctr">
                      <a:solidFill>
                        <a:srgbClr val="300731"/>
                      </a:solidFill>
                      <a:prstDash val="solid"/>
                      <a:round/>
                      <a:headEnd type="none" w="med" len="med"/>
                      <a:tailEnd type="none" w="med" len="med"/>
                    </a:lnR>
                    <a:lnT w="12700" cap="flat" cmpd="sng" algn="ctr">
                      <a:solidFill>
                        <a:srgbClr val="3007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r>
                        <a:rPr lang="fr-FR" sz="2600">
                          <a:effectLst/>
                        </a:rPr>
                        <a:t>5% cancellations × 1,000 × ₹400 × 8%</a:t>
                      </a:r>
                    </a:p>
                  </a:txBody>
                  <a:tcPr marL="31322" marR="31322" marT="23491" marB="23491" anchor="ctr">
                    <a:lnL w="12700" cap="flat" cmpd="sng" algn="ctr">
                      <a:solidFill>
                        <a:srgbClr val="300731"/>
                      </a:solidFill>
                      <a:prstDash val="solid"/>
                      <a:round/>
                      <a:headEnd type="none" w="med" len="med"/>
                      <a:tailEnd type="none" w="med" len="med"/>
                    </a:lnL>
                    <a:lnR w="12700" cap="flat" cmpd="sng" algn="ctr">
                      <a:solidFill>
                        <a:srgbClr val="300731"/>
                      </a:solidFill>
                      <a:prstDash val="solid"/>
                      <a:round/>
                      <a:headEnd type="none" w="med" len="med"/>
                      <a:tailEnd type="none" w="med" len="med"/>
                    </a:lnR>
                    <a:lnT w="12700" cap="flat" cmpd="sng" algn="ctr">
                      <a:solidFill>
                        <a:srgbClr val="3007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r>
                        <a:rPr lang="en-IN" sz="2600">
                          <a:effectLst/>
                        </a:rPr>
                        <a:t>1,600</a:t>
                      </a:r>
                    </a:p>
                  </a:txBody>
                  <a:tcPr marL="31322" marR="31322" marT="23491" marB="23491" anchor="ctr">
                    <a:lnL w="12700" cap="flat" cmpd="sng" algn="ctr">
                      <a:solidFill>
                        <a:srgbClr val="300731"/>
                      </a:solidFill>
                      <a:prstDash val="solid"/>
                      <a:round/>
                      <a:headEnd type="none" w="med" len="med"/>
                      <a:tailEnd type="none" w="med" len="med"/>
                    </a:lnL>
                    <a:lnR w="12700" cap="flat" cmpd="sng" algn="ctr">
                      <a:solidFill>
                        <a:srgbClr val="300731"/>
                      </a:solidFill>
                      <a:prstDash val="solid"/>
                      <a:round/>
                      <a:headEnd type="none" w="med" len="med"/>
                      <a:tailEnd type="none" w="med" len="med"/>
                    </a:lnR>
                    <a:lnT w="12700" cap="flat" cmpd="sng" algn="ctr">
                      <a:solidFill>
                        <a:srgbClr val="3007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r>
                        <a:rPr lang="en-IN" sz="2600">
                          <a:effectLst/>
                        </a:rPr>
                        <a:t>0.4%</a:t>
                      </a:r>
                    </a:p>
                  </a:txBody>
                  <a:tcPr marL="31322" marR="31322" marT="23491" marB="23491" anchor="ctr">
                    <a:lnL w="12700" cap="flat" cmpd="sng" algn="ctr">
                      <a:solidFill>
                        <a:srgbClr val="300731"/>
                      </a:solidFill>
                      <a:prstDash val="solid"/>
                      <a:round/>
                      <a:headEnd type="none" w="med" len="med"/>
                      <a:tailEnd type="none" w="med" len="med"/>
                    </a:lnL>
                    <a:lnR w="12700" cap="flat" cmpd="sng" algn="ctr">
                      <a:solidFill>
                        <a:srgbClr val="300731"/>
                      </a:solidFill>
                      <a:prstDash val="solid"/>
                      <a:round/>
                      <a:headEnd type="none" w="med" len="med"/>
                      <a:tailEnd type="none" w="med" len="med"/>
                    </a:lnR>
                    <a:lnT w="12700" cap="flat" cmpd="sng" algn="ctr">
                      <a:solidFill>
                        <a:srgbClr val="3007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extLst>
                  <a:ext uri="{0D108BD9-81ED-4DB2-BD59-A6C34878D82A}">
                    <a16:rowId xmlns:a16="http://schemas.microsoft.com/office/drawing/2014/main" val="4074646218"/>
                  </a:ext>
                </a:extLst>
              </a:tr>
              <a:tr h="915185">
                <a:tc>
                  <a:txBody>
                    <a:bodyPr/>
                    <a:lstStyle/>
                    <a:p>
                      <a:pPr fontAlgn="base" latinLnBrk="0">
                        <a:buNone/>
                      </a:pPr>
                      <a:r>
                        <a:rPr lang="en-IN" sz="2600" b="0" dirty="0">
                          <a:effectLst/>
                        </a:rPr>
                        <a:t>Total Estimated Revenue</a:t>
                      </a:r>
                      <a:endParaRPr lang="en-IN" sz="2600" dirty="0">
                        <a:effectLst/>
                      </a:endParaRPr>
                    </a:p>
                  </a:txBody>
                  <a:tcPr marL="31322" marR="31322" marT="23491" marB="23491" anchor="ctr">
                    <a:lnL w="12700" cap="flat" cmpd="sng" algn="ctr">
                      <a:solidFill>
                        <a:srgbClr val="302431"/>
                      </a:solidFill>
                      <a:prstDash val="solid"/>
                      <a:round/>
                      <a:headEnd type="none" w="med" len="med"/>
                      <a:tailEnd type="none" w="med" len="med"/>
                    </a:lnL>
                    <a:lnR w="12700" cap="flat" cmpd="sng" algn="ctr">
                      <a:solidFill>
                        <a:srgbClr val="302431"/>
                      </a:solidFill>
                      <a:prstDash val="solid"/>
                      <a:round/>
                      <a:headEnd type="none" w="med" len="med"/>
                      <a:tailEnd type="none" w="med" len="med"/>
                    </a:lnR>
                    <a:lnT w="12700" cap="flat" cmpd="sng" algn="ctr">
                      <a:solidFill>
                        <a:srgbClr val="3024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endParaRPr lang="en-IN" sz="2600">
                        <a:effectLst/>
                      </a:endParaRPr>
                    </a:p>
                  </a:txBody>
                  <a:tcPr marL="31322" marR="31322" marT="23491" marB="23491" anchor="ctr">
                    <a:lnL w="12700" cap="flat" cmpd="sng" algn="ctr">
                      <a:solidFill>
                        <a:srgbClr val="302431"/>
                      </a:solidFill>
                      <a:prstDash val="solid"/>
                      <a:round/>
                      <a:headEnd type="none" w="med" len="med"/>
                      <a:tailEnd type="none" w="med" len="med"/>
                    </a:lnL>
                    <a:lnR w="12700" cap="flat" cmpd="sng" algn="ctr">
                      <a:solidFill>
                        <a:srgbClr val="302431"/>
                      </a:solidFill>
                      <a:prstDash val="solid"/>
                      <a:round/>
                      <a:headEnd type="none" w="med" len="med"/>
                      <a:tailEnd type="none" w="med" len="med"/>
                    </a:lnR>
                    <a:lnT w="12700" cap="flat" cmpd="sng" algn="ctr">
                      <a:solidFill>
                        <a:srgbClr val="3024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r>
                        <a:rPr lang="en-IN" sz="2600" b="0" dirty="0">
                          <a:effectLst/>
                        </a:rPr>
                        <a:t>6,81,600</a:t>
                      </a:r>
                      <a:endParaRPr lang="en-IN" sz="2600" dirty="0">
                        <a:effectLst/>
                      </a:endParaRPr>
                    </a:p>
                  </a:txBody>
                  <a:tcPr marL="31322" marR="31322" marT="23491" marB="23491" anchor="ctr">
                    <a:lnL w="12700" cap="flat" cmpd="sng" algn="ctr">
                      <a:solidFill>
                        <a:srgbClr val="302431"/>
                      </a:solidFill>
                      <a:prstDash val="solid"/>
                      <a:round/>
                      <a:headEnd type="none" w="med" len="med"/>
                      <a:tailEnd type="none" w="med" len="med"/>
                    </a:lnL>
                    <a:lnR w="12700" cap="flat" cmpd="sng" algn="ctr">
                      <a:solidFill>
                        <a:srgbClr val="302431"/>
                      </a:solidFill>
                      <a:prstDash val="solid"/>
                      <a:round/>
                      <a:headEnd type="none" w="med" len="med"/>
                      <a:tailEnd type="none" w="med" len="med"/>
                    </a:lnR>
                    <a:lnT w="12700" cap="flat" cmpd="sng" algn="ctr">
                      <a:solidFill>
                        <a:srgbClr val="3024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r>
                        <a:rPr lang="en-IN" sz="2600" dirty="0">
                          <a:effectLst/>
                        </a:rPr>
                        <a:t>170.4% of base svc.</a:t>
                      </a:r>
                    </a:p>
                  </a:txBody>
                  <a:tcPr marL="31322" marR="31322" marT="23491" marB="23491" anchor="ctr">
                    <a:lnL w="12700" cap="flat" cmpd="sng" algn="ctr">
                      <a:solidFill>
                        <a:srgbClr val="302431"/>
                      </a:solidFill>
                      <a:prstDash val="solid"/>
                      <a:round/>
                      <a:headEnd type="none" w="med" len="med"/>
                      <a:tailEnd type="none" w="med" len="med"/>
                    </a:lnL>
                    <a:lnR w="12700" cap="flat" cmpd="sng" algn="ctr">
                      <a:solidFill>
                        <a:srgbClr val="302431"/>
                      </a:solidFill>
                      <a:prstDash val="solid"/>
                      <a:round/>
                      <a:headEnd type="none" w="med" len="med"/>
                      <a:tailEnd type="none" w="med" len="med"/>
                    </a:lnR>
                    <a:lnT w="12700" cap="flat" cmpd="sng" algn="ctr">
                      <a:solidFill>
                        <a:srgbClr val="3024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extLst>
                  <a:ext uri="{0D108BD9-81ED-4DB2-BD59-A6C34878D82A}">
                    <a16:rowId xmlns:a16="http://schemas.microsoft.com/office/drawing/2014/main" val="1549703515"/>
                  </a:ext>
                </a:extLst>
              </a:tr>
            </a:tbl>
          </a:graphicData>
        </a:graphic>
      </p:graphicFrame>
      <p:sp>
        <p:nvSpPr>
          <p:cNvPr id="12" name="TextBox 11">
            <a:extLst>
              <a:ext uri="{FF2B5EF4-FFF2-40B4-BE49-F238E27FC236}">
                <a16:creationId xmlns:a16="http://schemas.microsoft.com/office/drawing/2014/main" id="{3F989F6D-84FC-618B-DD2D-8EED9495518C}"/>
              </a:ext>
            </a:extLst>
          </p:cNvPr>
          <p:cNvSpPr txBox="1"/>
          <p:nvPr/>
        </p:nvSpPr>
        <p:spPr>
          <a:xfrm>
            <a:off x="11830145" y="1863556"/>
            <a:ext cx="6276109" cy="8279190"/>
          </a:xfrm>
          <a:prstGeom prst="rect">
            <a:avLst/>
          </a:prstGeom>
          <a:noFill/>
        </p:spPr>
        <p:txBody>
          <a:bodyPr wrap="square" rtlCol="0">
            <a:spAutoFit/>
          </a:bodyPr>
          <a:lstStyle/>
          <a:p>
            <a:r>
              <a:rPr lang="en-US" sz="2800" dirty="0">
                <a:solidFill>
                  <a:srgbClr val="FF0000"/>
                </a:solidFill>
              </a:rPr>
              <a:t>Assumptions:</a:t>
            </a:r>
          </a:p>
          <a:p>
            <a:pPr marL="457200" indent="-457200">
              <a:buFont typeface="Arial" panose="020B0604020202020204" pitchFamily="34" charset="0"/>
              <a:buChar char="•"/>
            </a:pPr>
            <a:r>
              <a:rPr lang="en-US" sz="2800" dirty="0"/>
              <a:t>Monthly service requests: 1,000</a:t>
            </a:r>
          </a:p>
          <a:p>
            <a:pPr marL="457200" indent="-457200">
              <a:buFont typeface="Arial" panose="020B0604020202020204" pitchFamily="34" charset="0"/>
              <a:buChar char="•"/>
            </a:pPr>
            <a:r>
              <a:rPr lang="en-US" sz="2800" dirty="0"/>
              <a:t>Average cost per service request: ₹400</a:t>
            </a:r>
          </a:p>
          <a:p>
            <a:pPr marL="457200" indent="-457200">
              <a:buFont typeface="Arial" panose="020B0604020202020204" pitchFamily="34" charset="0"/>
              <a:buChar char="•"/>
            </a:pPr>
            <a:r>
              <a:rPr lang="en-US" sz="2800" dirty="0"/>
              <a:t>Total monthly revenue from services: ₹4,00,000 (1,000 × ₹400)</a:t>
            </a:r>
          </a:p>
          <a:p>
            <a:pPr marL="457200" indent="-457200">
              <a:buFont typeface="Arial" panose="020B0604020202020204" pitchFamily="34" charset="0"/>
              <a:buChar char="•"/>
            </a:pPr>
            <a:r>
              <a:rPr lang="en-US" sz="2800" dirty="0"/>
              <a:t>Number of vendors: 100</a:t>
            </a:r>
          </a:p>
          <a:p>
            <a:pPr marL="457200" indent="-457200">
              <a:buFont typeface="Arial" panose="020B0604020202020204" pitchFamily="34" charset="0"/>
              <a:buChar char="•"/>
            </a:pPr>
            <a:r>
              <a:rPr lang="en-US" sz="2800" dirty="0"/>
              <a:t>Vendor registration fee: ₹500 per vendor</a:t>
            </a:r>
          </a:p>
          <a:p>
            <a:pPr marL="457200" indent="-457200">
              <a:buFont typeface="Arial" panose="020B0604020202020204" pitchFamily="34" charset="0"/>
              <a:buChar char="•"/>
            </a:pPr>
            <a:r>
              <a:rPr lang="en-US" sz="2800" dirty="0"/>
              <a:t>Training fee (assumed 20% vendors need training): ₹1,500 each</a:t>
            </a:r>
          </a:p>
          <a:p>
            <a:pPr marL="457200" indent="-457200">
              <a:buFont typeface="Arial" panose="020B0604020202020204" pitchFamily="34" charset="0"/>
              <a:buChar char="•"/>
            </a:pPr>
            <a:r>
              <a:rPr lang="en-US" sz="2800" dirty="0"/>
              <a:t>Commission rate on services: average 12%</a:t>
            </a:r>
          </a:p>
          <a:p>
            <a:pPr marL="457200" indent="-457200">
              <a:buFont typeface="Arial" panose="020B0604020202020204" pitchFamily="34" charset="0"/>
              <a:buChar char="•"/>
            </a:pPr>
            <a:r>
              <a:rPr lang="en-US" sz="2800" dirty="0"/>
              <a:t>Lead generation credits: 10% vendors subscribe, paying ₹2,000 per month</a:t>
            </a:r>
          </a:p>
          <a:p>
            <a:pPr marL="457200" indent="-457200">
              <a:buFont typeface="Arial" panose="020B0604020202020204" pitchFamily="34" charset="0"/>
              <a:buChar char="•"/>
            </a:pPr>
            <a:r>
              <a:rPr lang="en-US" sz="2800" dirty="0"/>
              <a:t>Advertising revenue: estimated at 8% of total service revenue</a:t>
            </a:r>
          </a:p>
          <a:p>
            <a:pPr marL="457200" indent="-457200">
              <a:buFont typeface="Arial" panose="020B0604020202020204" pitchFamily="34" charset="0"/>
              <a:buChar char="•"/>
            </a:pPr>
            <a:r>
              <a:rPr lang="en-US" sz="2800" dirty="0"/>
              <a:t>Cancellation fee: 8% of cancelled requests (assume 5% cancellation rate)</a:t>
            </a:r>
          </a:p>
          <a:p>
            <a:endParaRPr lang="en-IN" sz="2800" dirty="0"/>
          </a:p>
        </p:txBody>
      </p:sp>
    </p:spTree>
    <p:extLst>
      <p:ext uri="{BB962C8B-B14F-4D97-AF65-F5344CB8AC3E}">
        <p14:creationId xmlns:p14="http://schemas.microsoft.com/office/powerpoint/2010/main" val="1817555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AF2D2A-04C9-8889-EE44-B66EEFEC3936}"/>
              </a:ext>
            </a:extLst>
          </p:cNvPr>
          <p:cNvPicPr>
            <a:picLocks noChangeAspect="1"/>
          </p:cNvPicPr>
          <p:nvPr/>
        </p:nvPicPr>
        <p:blipFill>
          <a:blip r:embed="rId2" cstate="print"/>
          <a:stretch>
            <a:fillRect/>
          </a:stretch>
        </p:blipFill>
        <p:spPr>
          <a:xfrm>
            <a:off x="1" y="289561"/>
            <a:ext cx="3200400" cy="846332"/>
          </a:xfrm>
          <a:prstGeom prst="rect">
            <a:avLst/>
          </a:prstGeom>
        </p:spPr>
      </p:pic>
      <p:pic>
        <p:nvPicPr>
          <p:cNvPr id="3" name="Picture 2">
            <a:extLst>
              <a:ext uri="{FF2B5EF4-FFF2-40B4-BE49-F238E27FC236}">
                <a16:creationId xmlns:a16="http://schemas.microsoft.com/office/drawing/2014/main" id="{36712C4E-8BFA-F829-60D5-7BAD7F997037}"/>
              </a:ext>
            </a:extLst>
          </p:cNvPr>
          <p:cNvPicPr>
            <a:picLocks noChangeAspect="1"/>
          </p:cNvPicPr>
          <p:nvPr/>
        </p:nvPicPr>
        <p:blipFill>
          <a:blip r:embed="rId3" cstate="print"/>
          <a:stretch>
            <a:fillRect/>
          </a:stretch>
        </p:blipFill>
        <p:spPr>
          <a:xfrm>
            <a:off x="15369540" y="0"/>
            <a:ext cx="2918460" cy="1060031"/>
          </a:xfrm>
          <a:prstGeom prst="rect">
            <a:avLst/>
          </a:prstGeom>
        </p:spPr>
      </p:pic>
      <p:sp>
        <p:nvSpPr>
          <p:cNvPr id="6" name="TextBox 5">
            <a:extLst>
              <a:ext uri="{FF2B5EF4-FFF2-40B4-BE49-F238E27FC236}">
                <a16:creationId xmlns:a16="http://schemas.microsoft.com/office/drawing/2014/main" id="{0B40FDD1-A857-B67B-F0DE-4C51B005362D}"/>
              </a:ext>
            </a:extLst>
          </p:cNvPr>
          <p:cNvSpPr txBox="1"/>
          <p:nvPr/>
        </p:nvSpPr>
        <p:spPr>
          <a:xfrm>
            <a:off x="914400" y="4533900"/>
            <a:ext cx="6553200" cy="1815882"/>
          </a:xfrm>
          <a:prstGeom prst="rect">
            <a:avLst/>
          </a:prstGeom>
          <a:noFill/>
        </p:spPr>
        <p:txBody>
          <a:bodyPr wrap="square">
            <a:spAutoFit/>
          </a:bodyPr>
          <a:lstStyle/>
          <a:p>
            <a:pPr algn="ctr">
              <a:buNone/>
            </a:pPr>
            <a:r>
              <a:rPr lang="en-IN" sz="2800" b="0" i="0" dirty="0">
                <a:effectLst/>
                <a:latin typeface="+mj-lt"/>
              </a:rPr>
              <a:t>Net Profit Estimate:</a:t>
            </a:r>
          </a:p>
          <a:p>
            <a:pPr algn="l">
              <a:buNone/>
            </a:pPr>
            <a:endParaRPr lang="en-IN" sz="2800" b="0" i="0" dirty="0">
              <a:effectLst/>
              <a:latin typeface="+mj-lt"/>
            </a:endParaRPr>
          </a:p>
          <a:p>
            <a:pPr algn="ctr">
              <a:buNone/>
            </a:pPr>
            <a:r>
              <a:rPr lang="en-IN" sz="2800" b="0" i="0" dirty="0">
                <a:effectLst/>
                <a:latin typeface="+mj-lt"/>
              </a:rPr>
              <a:t>Net Profit = Total Revenue − Total Cost = ₹6,81,600 − ₹31,000 = ₹6,50,600</a:t>
            </a:r>
            <a:endParaRPr lang="en-IN" sz="2800" dirty="0">
              <a:latin typeface="+mj-lt"/>
            </a:endParaRPr>
          </a:p>
        </p:txBody>
      </p:sp>
      <p:graphicFrame>
        <p:nvGraphicFramePr>
          <p:cNvPr id="7" name="Table 6">
            <a:extLst>
              <a:ext uri="{FF2B5EF4-FFF2-40B4-BE49-F238E27FC236}">
                <a16:creationId xmlns:a16="http://schemas.microsoft.com/office/drawing/2014/main" id="{6F6941BF-9EA2-2CA5-CD58-90F4FF44D7B5}"/>
              </a:ext>
            </a:extLst>
          </p:cNvPr>
          <p:cNvGraphicFramePr>
            <a:graphicFrameLocks noGrp="1"/>
          </p:cNvGraphicFramePr>
          <p:nvPr>
            <p:extLst>
              <p:ext uri="{D42A27DB-BD31-4B8C-83A1-F6EECF244321}">
                <p14:modId xmlns:p14="http://schemas.microsoft.com/office/powerpoint/2010/main" val="481750366"/>
              </p:ext>
            </p:extLst>
          </p:nvPr>
        </p:nvGraphicFramePr>
        <p:xfrm>
          <a:off x="8610600" y="2019300"/>
          <a:ext cx="9448800" cy="8004248"/>
        </p:xfrm>
        <a:graphic>
          <a:graphicData uri="http://schemas.openxmlformats.org/drawingml/2006/table">
            <a:tbl>
              <a:tblPr/>
              <a:tblGrid>
                <a:gridCol w="5791200">
                  <a:extLst>
                    <a:ext uri="{9D8B030D-6E8A-4147-A177-3AD203B41FA5}">
                      <a16:colId xmlns:a16="http://schemas.microsoft.com/office/drawing/2014/main" val="2367151344"/>
                    </a:ext>
                  </a:extLst>
                </a:gridCol>
                <a:gridCol w="3657600">
                  <a:extLst>
                    <a:ext uri="{9D8B030D-6E8A-4147-A177-3AD203B41FA5}">
                      <a16:colId xmlns:a16="http://schemas.microsoft.com/office/drawing/2014/main" val="1621261707"/>
                    </a:ext>
                  </a:extLst>
                </a:gridCol>
              </a:tblGrid>
              <a:tr h="560876">
                <a:tc>
                  <a:txBody>
                    <a:bodyPr/>
                    <a:lstStyle/>
                    <a:p>
                      <a:pPr algn="l" fontAlgn="t" latinLnBrk="0">
                        <a:buNone/>
                      </a:pPr>
                      <a:r>
                        <a:rPr lang="en-IN" sz="2800" b="0">
                          <a:effectLst/>
                        </a:rPr>
                        <a:t>Expense</a:t>
                      </a:r>
                    </a:p>
                  </a:txBody>
                  <a:tcPr marL="60960" marR="60960" marT="60960" marB="60960">
                    <a:lnL>
                      <a:noFill/>
                    </a:lnL>
                    <a:lnR>
                      <a:noFill/>
                    </a:lnR>
                    <a:lnT>
                      <a:noFill/>
                    </a:lnT>
                    <a:lnB w="12700" cap="flat" cmpd="sng" algn="ctr">
                      <a:solidFill>
                        <a:srgbClr val="706931"/>
                      </a:solidFill>
                      <a:prstDash val="solid"/>
                      <a:round/>
                      <a:headEnd type="none" w="med" len="med"/>
                      <a:tailEnd type="none" w="med" len="med"/>
                    </a:lnB>
                    <a:noFill/>
                  </a:tcPr>
                </a:tc>
                <a:tc>
                  <a:txBody>
                    <a:bodyPr/>
                    <a:lstStyle/>
                    <a:p>
                      <a:pPr algn="l" fontAlgn="t" latinLnBrk="0">
                        <a:buNone/>
                      </a:pPr>
                      <a:r>
                        <a:rPr lang="en-IN" sz="2800" b="0" dirty="0">
                          <a:effectLst/>
                        </a:rPr>
                        <a:t>Amount (₹ per month)</a:t>
                      </a:r>
                    </a:p>
                  </a:txBody>
                  <a:tcPr marL="60960" marR="60960" marT="60960" marB="60960">
                    <a:lnL>
                      <a:noFill/>
                    </a:lnL>
                    <a:lnR>
                      <a:noFill/>
                    </a:lnR>
                    <a:lnT>
                      <a:noFill/>
                    </a:lnT>
                    <a:lnB w="12700" cap="flat" cmpd="sng" algn="ctr">
                      <a:solidFill>
                        <a:srgbClr val="706931"/>
                      </a:solidFill>
                      <a:prstDash val="solid"/>
                      <a:round/>
                      <a:headEnd type="none" w="med" len="med"/>
                      <a:tailEnd type="none" w="med" len="med"/>
                    </a:lnB>
                    <a:noFill/>
                  </a:tcPr>
                </a:tc>
                <a:extLst>
                  <a:ext uri="{0D108BD9-81ED-4DB2-BD59-A6C34878D82A}">
                    <a16:rowId xmlns:a16="http://schemas.microsoft.com/office/drawing/2014/main" val="133823301"/>
                  </a:ext>
                </a:extLst>
              </a:tr>
              <a:tr h="1975930">
                <a:tc>
                  <a:txBody>
                    <a:bodyPr/>
                    <a:lstStyle/>
                    <a:p>
                      <a:pPr fontAlgn="base" latinLnBrk="0">
                        <a:buNone/>
                      </a:pPr>
                      <a:r>
                        <a:rPr lang="en-US" sz="2800" dirty="0">
                          <a:effectLst/>
                        </a:rPr>
                        <a:t>Development &amp; Hosting (e.g., Firebase, Node.js backend)</a:t>
                      </a:r>
                    </a:p>
                  </a:txBody>
                  <a:tcPr marL="60960" marR="60960" anchor="ctr">
                    <a:lnL w="12700" cap="flat" cmpd="sng" algn="ctr">
                      <a:solidFill>
                        <a:srgbClr val="706931"/>
                      </a:solidFill>
                      <a:prstDash val="solid"/>
                      <a:round/>
                      <a:headEnd type="none" w="med" len="med"/>
                      <a:tailEnd type="none" w="med" len="med"/>
                    </a:lnL>
                    <a:lnR w="12700" cap="flat" cmpd="sng" algn="ctr">
                      <a:solidFill>
                        <a:srgbClr val="706931"/>
                      </a:solidFill>
                      <a:prstDash val="solid"/>
                      <a:round/>
                      <a:headEnd type="none" w="med" len="med"/>
                      <a:tailEnd type="none" w="med" len="med"/>
                    </a:lnR>
                    <a:lnT w="12700" cap="flat" cmpd="sng" algn="ctr">
                      <a:solidFill>
                        <a:srgbClr val="706931"/>
                      </a:solidFill>
                      <a:prstDash val="solid"/>
                      <a:round/>
                      <a:headEnd type="none" w="med" len="med"/>
                      <a:tailEnd type="none" w="med" len="med"/>
                    </a:lnT>
                    <a:lnB w="12700" cap="flat" cmpd="sng" algn="ctr">
                      <a:solidFill>
                        <a:srgbClr val="B06331"/>
                      </a:solidFill>
                      <a:prstDash val="solid"/>
                      <a:round/>
                      <a:headEnd type="none" w="med" len="med"/>
                      <a:tailEnd type="none" w="med" len="med"/>
                    </a:lnB>
                    <a:noFill/>
                  </a:tcPr>
                </a:tc>
                <a:tc>
                  <a:txBody>
                    <a:bodyPr/>
                    <a:lstStyle/>
                    <a:p>
                      <a:pPr fontAlgn="base" latinLnBrk="0">
                        <a:buNone/>
                      </a:pPr>
                      <a:r>
                        <a:rPr lang="en-IN" sz="2800" dirty="0">
                          <a:effectLst/>
                        </a:rPr>
                        <a:t>12,000</a:t>
                      </a:r>
                    </a:p>
                  </a:txBody>
                  <a:tcPr marL="60960" marR="60960" anchor="ctr">
                    <a:lnL w="12700" cap="flat" cmpd="sng" algn="ctr">
                      <a:solidFill>
                        <a:srgbClr val="706931"/>
                      </a:solidFill>
                      <a:prstDash val="solid"/>
                      <a:round/>
                      <a:headEnd type="none" w="med" len="med"/>
                      <a:tailEnd type="none" w="med" len="med"/>
                    </a:lnL>
                    <a:lnR w="12700" cap="flat" cmpd="sng" algn="ctr">
                      <a:solidFill>
                        <a:srgbClr val="706931"/>
                      </a:solidFill>
                      <a:prstDash val="solid"/>
                      <a:round/>
                      <a:headEnd type="none" w="med" len="med"/>
                      <a:tailEnd type="none" w="med" len="med"/>
                    </a:lnR>
                    <a:lnT w="12700" cap="flat" cmpd="sng" algn="ctr">
                      <a:solidFill>
                        <a:srgbClr val="706931"/>
                      </a:solidFill>
                      <a:prstDash val="solid"/>
                      <a:round/>
                      <a:headEnd type="none" w="med" len="med"/>
                      <a:tailEnd type="none" w="med" len="med"/>
                    </a:lnT>
                    <a:lnB w="12700" cap="flat" cmpd="sng" algn="ctr">
                      <a:solidFill>
                        <a:srgbClr val="B06331"/>
                      </a:solidFill>
                      <a:prstDash val="solid"/>
                      <a:round/>
                      <a:headEnd type="none" w="med" len="med"/>
                      <a:tailEnd type="none" w="med" len="med"/>
                    </a:lnB>
                    <a:noFill/>
                  </a:tcPr>
                </a:tc>
                <a:extLst>
                  <a:ext uri="{0D108BD9-81ED-4DB2-BD59-A6C34878D82A}">
                    <a16:rowId xmlns:a16="http://schemas.microsoft.com/office/drawing/2014/main" val="3904326774"/>
                  </a:ext>
                </a:extLst>
              </a:tr>
              <a:tr h="956789">
                <a:tc>
                  <a:txBody>
                    <a:bodyPr/>
                    <a:lstStyle/>
                    <a:p>
                      <a:pPr fontAlgn="base" latinLnBrk="0">
                        <a:buNone/>
                      </a:pPr>
                      <a:r>
                        <a:rPr lang="en-IN" sz="2800">
                          <a:effectLst/>
                        </a:rPr>
                        <a:t>AI Chatbot &amp; API Integration</a:t>
                      </a:r>
                    </a:p>
                  </a:txBody>
                  <a:tcPr marL="60960" marR="60960" anchor="ctr">
                    <a:lnL w="12700" cap="flat" cmpd="sng" algn="ctr">
                      <a:solidFill>
                        <a:srgbClr val="B06331"/>
                      </a:solidFill>
                      <a:prstDash val="solid"/>
                      <a:round/>
                      <a:headEnd type="none" w="med" len="med"/>
                      <a:tailEnd type="none" w="med" len="med"/>
                    </a:lnL>
                    <a:lnR w="12700" cap="flat" cmpd="sng" algn="ctr">
                      <a:solidFill>
                        <a:srgbClr val="B06331"/>
                      </a:solidFill>
                      <a:prstDash val="solid"/>
                      <a:round/>
                      <a:headEnd type="none" w="med" len="med"/>
                      <a:tailEnd type="none" w="med" len="med"/>
                    </a:lnR>
                    <a:lnT w="12700" cap="flat" cmpd="sng" algn="ctr">
                      <a:solidFill>
                        <a:srgbClr val="B06331"/>
                      </a:solidFill>
                      <a:prstDash val="solid"/>
                      <a:round/>
                      <a:headEnd type="none" w="med" len="med"/>
                      <a:tailEnd type="none" w="med" len="med"/>
                    </a:lnT>
                    <a:lnB w="12700" cap="flat" cmpd="sng" algn="ctr">
                      <a:solidFill>
                        <a:srgbClr val="F07831"/>
                      </a:solidFill>
                      <a:prstDash val="solid"/>
                      <a:round/>
                      <a:headEnd type="none" w="med" len="med"/>
                      <a:tailEnd type="none" w="med" len="med"/>
                    </a:lnB>
                    <a:noFill/>
                  </a:tcPr>
                </a:tc>
                <a:tc>
                  <a:txBody>
                    <a:bodyPr/>
                    <a:lstStyle/>
                    <a:p>
                      <a:pPr fontAlgn="base" latinLnBrk="0">
                        <a:buNone/>
                      </a:pPr>
                      <a:r>
                        <a:rPr lang="en-IN" sz="2800" dirty="0">
                          <a:effectLst/>
                        </a:rPr>
                        <a:t>8,000</a:t>
                      </a:r>
                    </a:p>
                  </a:txBody>
                  <a:tcPr marL="60960" marR="60960" anchor="ctr">
                    <a:lnL w="12700" cap="flat" cmpd="sng" algn="ctr">
                      <a:solidFill>
                        <a:srgbClr val="B06331"/>
                      </a:solidFill>
                      <a:prstDash val="solid"/>
                      <a:round/>
                      <a:headEnd type="none" w="med" len="med"/>
                      <a:tailEnd type="none" w="med" len="med"/>
                    </a:lnL>
                    <a:lnR w="12700" cap="flat" cmpd="sng" algn="ctr">
                      <a:solidFill>
                        <a:srgbClr val="B06331"/>
                      </a:solidFill>
                      <a:prstDash val="solid"/>
                      <a:round/>
                      <a:headEnd type="none" w="med" len="med"/>
                      <a:tailEnd type="none" w="med" len="med"/>
                    </a:lnR>
                    <a:lnT w="12700" cap="flat" cmpd="sng" algn="ctr">
                      <a:solidFill>
                        <a:srgbClr val="B06331"/>
                      </a:solidFill>
                      <a:prstDash val="solid"/>
                      <a:round/>
                      <a:headEnd type="none" w="med" len="med"/>
                      <a:tailEnd type="none" w="med" len="med"/>
                    </a:lnT>
                    <a:lnB w="12700" cap="flat" cmpd="sng" algn="ctr">
                      <a:solidFill>
                        <a:srgbClr val="F07831"/>
                      </a:solidFill>
                      <a:prstDash val="solid"/>
                      <a:round/>
                      <a:headEnd type="none" w="med" len="med"/>
                      <a:tailEnd type="none" w="med" len="med"/>
                    </a:lnB>
                    <a:noFill/>
                  </a:tcPr>
                </a:tc>
                <a:extLst>
                  <a:ext uri="{0D108BD9-81ED-4DB2-BD59-A6C34878D82A}">
                    <a16:rowId xmlns:a16="http://schemas.microsoft.com/office/drawing/2014/main" val="2450864256"/>
                  </a:ext>
                </a:extLst>
              </a:tr>
              <a:tr h="842676">
                <a:tc>
                  <a:txBody>
                    <a:bodyPr/>
                    <a:lstStyle/>
                    <a:p>
                      <a:pPr fontAlgn="base" latinLnBrk="0">
                        <a:buNone/>
                      </a:pPr>
                      <a:r>
                        <a:rPr lang="en-IN" sz="2800">
                          <a:effectLst/>
                        </a:rPr>
                        <a:t>Marketing &amp; SEO</a:t>
                      </a:r>
                    </a:p>
                  </a:txBody>
                  <a:tcPr marL="60960" marR="60960" anchor="ctr">
                    <a:lnL w="12700" cap="flat" cmpd="sng" algn="ctr">
                      <a:solidFill>
                        <a:srgbClr val="F07831"/>
                      </a:solidFill>
                      <a:prstDash val="solid"/>
                      <a:round/>
                      <a:headEnd type="none" w="med" len="med"/>
                      <a:tailEnd type="none" w="med" len="med"/>
                    </a:lnL>
                    <a:lnR w="12700" cap="flat" cmpd="sng" algn="ctr">
                      <a:solidFill>
                        <a:srgbClr val="F07831"/>
                      </a:solidFill>
                      <a:prstDash val="solid"/>
                      <a:round/>
                      <a:headEnd type="none" w="med" len="med"/>
                      <a:tailEnd type="none" w="med" len="med"/>
                    </a:lnR>
                    <a:lnT w="12700" cap="flat" cmpd="sng" algn="ctr">
                      <a:solidFill>
                        <a:srgbClr val="F07831"/>
                      </a:solidFill>
                      <a:prstDash val="solid"/>
                      <a:round/>
                      <a:headEnd type="none" w="med" len="med"/>
                      <a:tailEnd type="none" w="med" len="med"/>
                    </a:lnT>
                    <a:lnB w="12700" cap="flat" cmpd="sng" algn="ctr">
                      <a:solidFill>
                        <a:srgbClr val="708831"/>
                      </a:solidFill>
                      <a:prstDash val="solid"/>
                      <a:round/>
                      <a:headEnd type="none" w="med" len="med"/>
                      <a:tailEnd type="none" w="med" len="med"/>
                    </a:lnB>
                    <a:noFill/>
                  </a:tcPr>
                </a:tc>
                <a:tc>
                  <a:txBody>
                    <a:bodyPr/>
                    <a:lstStyle/>
                    <a:p>
                      <a:pPr fontAlgn="base" latinLnBrk="0">
                        <a:buNone/>
                      </a:pPr>
                      <a:r>
                        <a:rPr lang="en-IN" sz="2800" dirty="0">
                          <a:effectLst/>
                        </a:rPr>
                        <a:t>5,000</a:t>
                      </a:r>
                    </a:p>
                  </a:txBody>
                  <a:tcPr marL="60960" marR="60960" anchor="ctr">
                    <a:lnL w="12700" cap="flat" cmpd="sng" algn="ctr">
                      <a:solidFill>
                        <a:srgbClr val="F07831"/>
                      </a:solidFill>
                      <a:prstDash val="solid"/>
                      <a:round/>
                      <a:headEnd type="none" w="med" len="med"/>
                      <a:tailEnd type="none" w="med" len="med"/>
                    </a:lnL>
                    <a:lnR w="12700" cap="flat" cmpd="sng" algn="ctr">
                      <a:solidFill>
                        <a:srgbClr val="F07831"/>
                      </a:solidFill>
                      <a:prstDash val="solid"/>
                      <a:round/>
                      <a:headEnd type="none" w="med" len="med"/>
                      <a:tailEnd type="none" w="med" len="med"/>
                    </a:lnR>
                    <a:lnT w="12700" cap="flat" cmpd="sng" algn="ctr">
                      <a:solidFill>
                        <a:srgbClr val="F07831"/>
                      </a:solidFill>
                      <a:prstDash val="solid"/>
                      <a:round/>
                      <a:headEnd type="none" w="med" len="med"/>
                      <a:tailEnd type="none" w="med" len="med"/>
                    </a:lnT>
                    <a:lnB w="12700" cap="flat" cmpd="sng" algn="ctr">
                      <a:solidFill>
                        <a:srgbClr val="708831"/>
                      </a:solidFill>
                      <a:prstDash val="solid"/>
                      <a:round/>
                      <a:headEnd type="none" w="med" len="med"/>
                      <a:tailEnd type="none" w="med" len="med"/>
                    </a:lnB>
                    <a:noFill/>
                  </a:tcPr>
                </a:tc>
                <a:extLst>
                  <a:ext uri="{0D108BD9-81ED-4DB2-BD59-A6C34878D82A}">
                    <a16:rowId xmlns:a16="http://schemas.microsoft.com/office/drawing/2014/main" val="4289786231"/>
                  </a:ext>
                </a:extLst>
              </a:tr>
              <a:tr h="1220427">
                <a:tc>
                  <a:txBody>
                    <a:bodyPr/>
                    <a:lstStyle/>
                    <a:p>
                      <a:pPr fontAlgn="base" latinLnBrk="0">
                        <a:buNone/>
                      </a:pPr>
                      <a:r>
                        <a:rPr lang="en-IN" sz="2800">
                          <a:effectLst/>
                        </a:rPr>
                        <a:t>Platform Maintenance &amp; Updates</a:t>
                      </a:r>
                    </a:p>
                  </a:txBody>
                  <a:tcPr marL="60960" marR="60960" anchor="ctr">
                    <a:lnL w="12700" cap="flat" cmpd="sng" algn="ctr">
                      <a:solidFill>
                        <a:srgbClr val="708831"/>
                      </a:solidFill>
                      <a:prstDash val="solid"/>
                      <a:round/>
                      <a:headEnd type="none" w="med" len="med"/>
                      <a:tailEnd type="none" w="med" len="med"/>
                    </a:lnL>
                    <a:lnR w="12700" cap="flat" cmpd="sng" algn="ctr">
                      <a:solidFill>
                        <a:srgbClr val="708831"/>
                      </a:solidFill>
                      <a:prstDash val="solid"/>
                      <a:round/>
                      <a:headEnd type="none" w="med" len="med"/>
                      <a:tailEnd type="none" w="med" len="med"/>
                    </a:lnR>
                    <a:lnT w="12700" cap="flat" cmpd="sng" algn="ctr">
                      <a:solidFill>
                        <a:srgbClr val="708831"/>
                      </a:solidFill>
                      <a:prstDash val="solid"/>
                      <a:round/>
                      <a:headEnd type="none" w="med" len="med"/>
                      <a:tailEnd type="none" w="med" len="med"/>
                    </a:lnT>
                    <a:lnB w="12700" cap="flat" cmpd="sng" algn="ctr">
                      <a:solidFill>
                        <a:srgbClr val="B08331"/>
                      </a:solidFill>
                      <a:prstDash val="solid"/>
                      <a:round/>
                      <a:headEnd type="none" w="med" len="med"/>
                      <a:tailEnd type="none" w="med" len="med"/>
                    </a:lnB>
                    <a:noFill/>
                  </a:tcPr>
                </a:tc>
                <a:tc>
                  <a:txBody>
                    <a:bodyPr/>
                    <a:lstStyle/>
                    <a:p>
                      <a:pPr fontAlgn="base" latinLnBrk="0">
                        <a:buNone/>
                      </a:pPr>
                      <a:r>
                        <a:rPr lang="en-IN" sz="2800" dirty="0">
                          <a:effectLst/>
                        </a:rPr>
                        <a:t>4,000</a:t>
                      </a:r>
                    </a:p>
                  </a:txBody>
                  <a:tcPr marL="60960" marR="60960" anchor="ctr">
                    <a:lnL w="12700" cap="flat" cmpd="sng" algn="ctr">
                      <a:solidFill>
                        <a:srgbClr val="708831"/>
                      </a:solidFill>
                      <a:prstDash val="solid"/>
                      <a:round/>
                      <a:headEnd type="none" w="med" len="med"/>
                      <a:tailEnd type="none" w="med" len="med"/>
                    </a:lnL>
                    <a:lnR w="12700" cap="flat" cmpd="sng" algn="ctr">
                      <a:solidFill>
                        <a:srgbClr val="708831"/>
                      </a:solidFill>
                      <a:prstDash val="solid"/>
                      <a:round/>
                      <a:headEnd type="none" w="med" len="med"/>
                      <a:tailEnd type="none" w="med" len="med"/>
                    </a:lnR>
                    <a:lnT w="12700" cap="flat" cmpd="sng" algn="ctr">
                      <a:solidFill>
                        <a:srgbClr val="708831"/>
                      </a:solidFill>
                      <a:prstDash val="solid"/>
                      <a:round/>
                      <a:headEnd type="none" w="med" len="med"/>
                      <a:tailEnd type="none" w="med" len="med"/>
                    </a:lnT>
                    <a:lnB w="12700" cap="flat" cmpd="sng" algn="ctr">
                      <a:solidFill>
                        <a:srgbClr val="B08331"/>
                      </a:solidFill>
                      <a:prstDash val="solid"/>
                      <a:round/>
                      <a:headEnd type="none" w="med" len="med"/>
                      <a:tailEnd type="none" w="med" len="med"/>
                    </a:lnB>
                    <a:noFill/>
                  </a:tcPr>
                </a:tc>
                <a:extLst>
                  <a:ext uri="{0D108BD9-81ED-4DB2-BD59-A6C34878D82A}">
                    <a16:rowId xmlns:a16="http://schemas.microsoft.com/office/drawing/2014/main" val="1963648999"/>
                  </a:ext>
                </a:extLst>
              </a:tr>
              <a:tr h="1598179">
                <a:tc>
                  <a:txBody>
                    <a:bodyPr/>
                    <a:lstStyle/>
                    <a:p>
                      <a:pPr fontAlgn="base" latinLnBrk="0">
                        <a:buNone/>
                      </a:pPr>
                      <a:r>
                        <a:rPr lang="en-IN" sz="2800">
                          <a:effectLst/>
                        </a:rPr>
                        <a:t>Miscellaneous (App deployment, licenses)</a:t>
                      </a:r>
                    </a:p>
                  </a:txBody>
                  <a:tcPr marL="60960" marR="60960" anchor="ctr">
                    <a:lnL w="12700" cap="flat" cmpd="sng" algn="ctr">
                      <a:solidFill>
                        <a:srgbClr val="B08331"/>
                      </a:solidFill>
                      <a:prstDash val="solid"/>
                      <a:round/>
                      <a:headEnd type="none" w="med" len="med"/>
                      <a:tailEnd type="none" w="med" len="med"/>
                    </a:lnL>
                    <a:lnR w="12700" cap="flat" cmpd="sng" algn="ctr">
                      <a:solidFill>
                        <a:srgbClr val="B08331"/>
                      </a:solidFill>
                      <a:prstDash val="solid"/>
                      <a:round/>
                      <a:headEnd type="none" w="med" len="med"/>
                      <a:tailEnd type="none" w="med" len="med"/>
                    </a:lnR>
                    <a:lnT w="12700" cap="flat" cmpd="sng" algn="ctr">
                      <a:solidFill>
                        <a:srgbClr val="B08331"/>
                      </a:solidFill>
                      <a:prstDash val="solid"/>
                      <a:round/>
                      <a:headEnd type="none" w="med" len="med"/>
                      <a:tailEnd type="none" w="med" len="med"/>
                    </a:lnT>
                    <a:lnB w="12700" cap="flat" cmpd="sng" algn="ctr">
                      <a:solidFill>
                        <a:srgbClr val="B09331"/>
                      </a:solidFill>
                      <a:prstDash val="solid"/>
                      <a:round/>
                      <a:headEnd type="none" w="med" len="med"/>
                      <a:tailEnd type="none" w="med" len="med"/>
                    </a:lnB>
                    <a:noFill/>
                  </a:tcPr>
                </a:tc>
                <a:tc>
                  <a:txBody>
                    <a:bodyPr/>
                    <a:lstStyle/>
                    <a:p>
                      <a:pPr fontAlgn="base" latinLnBrk="0">
                        <a:buNone/>
                      </a:pPr>
                      <a:r>
                        <a:rPr lang="en-IN" sz="2800" dirty="0">
                          <a:effectLst/>
                        </a:rPr>
                        <a:t>2,000</a:t>
                      </a:r>
                    </a:p>
                  </a:txBody>
                  <a:tcPr marL="60960" marR="60960" anchor="ctr">
                    <a:lnL w="12700" cap="flat" cmpd="sng" algn="ctr">
                      <a:solidFill>
                        <a:srgbClr val="B08331"/>
                      </a:solidFill>
                      <a:prstDash val="solid"/>
                      <a:round/>
                      <a:headEnd type="none" w="med" len="med"/>
                      <a:tailEnd type="none" w="med" len="med"/>
                    </a:lnL>
                    <a:lnR w="12700" cap="flat" cmpd="sng" algn="ctr">
                      <a:solidFill>
                        <a:srgbClr val="B08331"/>
                      </a:solidFill>
                      <a:prstDash val="solid"/>
                      <a:round/>
                      <a:headEnd type="none" w="med" len="med"/>
                      <a:tailEnd type="none" w="med" len="med"/>
                    </a:lnR>
                    <a:lnT w="12700" cap="flat" cmpd="sng" algn="ctr">
                      <a:solidFill>
                        <a:srgbClr val="B08331"/>
                      </a:solidFill>
                      <a:prstDash val="solid"/>
                      <a:round/>
                      <a:headEnd type="none" w="med" len="med"/>
                      <a:tailEnd type="none" w="med" len="med"/>
                    </a:lnT>
                    <a:lnB w="12700" cap="flat" cmpd="sng" algn="ctr">
                      <a:solidFill>
                        <a:srgbClr val="B09331"/>
                      </a:solidFill>
                      <a:prstDash val="solid"/>
                      <a:round/>
                      <a:headEnd type="none" w="med" len="med"/>
                      <a:tailEnd type="none" w="med" len="med"/>
                    </a:lnB>
                    <a:noFill/>
                  </a:tcPr>
                </a:tc>
                <a:extLst>
                  <a:ext uri="{0D108BD9-81ED-4DB2-BD59-A6C34878D82A}">
                    <a16:rowId xmlns:a16="http://schemas.microsoft.com/office/drawing/2014/main" val="3146479232"/>
                  </a:ext>
                </a:extLst>
              </a:tr>
              <a:tr h="849371">
                <a:tc>
                  <a:txBody>
                    <a:bodyPr/>
                    <a:lstStyle/>
                    <a:p>
                      <a:pPr fontAlgn="base" latinLnBrk="0">
                        <a:buNone/>
                      </a:pPr>
                      <a:r>
                        <a:rPr lang="en-IN" sz="2800" b="0">
                          <a:effectLst/>
                        </a:rPr>
                        <a:t>Total Monthly Cost</a:t>
                      </a:r>
                      <a:endParaRPr lang="en-IN" sz="2800">
                        <a:effectLst/>
                      </a:endParaRPr>
                    </a:p>
                  </a:txBody>
                  <a:tcPr marL="60960" marR="60960" anchor="ctr">
                    <a:lnL w="12700" cap="flat" cmpd="sng" algn="ctr">
                      <a:solidFill>
                        <a:srgbClr val="B09331"/>
                      </a:solidFill>
                      <a:prstDash val="solid"/>
                      <a:round/>
                      <a:headEnd type="none" w="med" len="med"/>
                      <a:tailEnd type="none" w="med" len="med"/>
                    </a:lnL>
                    <a:lnR w="12700" cap="flat" cmpd="sng" algn="ctr">
                      <a:solidFill>
                        <a:srgbClr val="B09331"/>
                      </a:solidFill>
                      <a:prstDash val="solid"/>
                      <a:round/>
                      <a:headEnd type="none" w="med" len="med"/>
                      <a:tailEnd type="none" w="med" len="med"/>
                    </a:lnR>
                    <a:lnT w="12700" cap="flat" cmpd="sng" algn="ctr">
                      <a:solidFill>
                        <a:srgbClr val="B09331"/>
                      </a:solidFill>
                      <a:prstDash val="solid"/>
                      <a:round/>
                      <a:headEnd type="none" w="med" len="med"/>
                      <a:tailEnd type="none" w="med" len="med"/>
                    </a:lnT>
                    <a:lnB w="12700" cap="flat" cmpd="sng" algn="ctr">
                      <a:solidFill>
                        <a:srgbClr val="B09331"/>
                      </a:solidFill>
                      <a:prstDash val="solid"/>
                      <a:round/>
                      <a:headEnd type="none" w="med" len="med"/>
                      <a:tailEnd type="none" w="med" len="med"/>
                    </a:lnB>
                    <a:noFill/>
                  </a:tcPr>
                </a:tc>
                <a:tc>
                  <a:txBody>
                    <a:bodyPr/>
                    <a:lstStyle/>
                    <a:p>
                      <a:pPr fontAlgn="base" latinLnBrk="0">
                        <a:buNone/>
                      </a:pPr>
                      <a:r>
                        <a:rPr lang="en-IN" sz="2800" b="0" dirty="0">
                          <a:effectLst/>
                        </a:rPr>
                        <a:t>31,000</a:t>
                      </a:r>
                      <a:endParaRPr lang="en-IN" sz="2800" dirty="0">
                        <a:effectLst/>
                      </a:endParaRPr>
                    </a:p>
                  </a:txBody>
                  <a:tcPr marL="60960" marR="60960" anchor="ctr">
                    <a:lnL w="12700" cap="flat" cmpd="sng" algn="ctr">
                      <a:solidFill>
                        <a:srgbClr val="B09331"/>
                      </a:solidFill>
                      <a:prstDash val="solid"/>
                      <a:round/>
                      <a:headEnd type="none" w="med" len="med"/>
                      <a:tailEnd type="none" w="med" len="med"/>
                    </a:lnL>
                    <a:lnR w="12700" cap="flat" cmpd="sng" algn="ctr">
                      <a:solidFill>
                        <a:srgbClr val="B09331"/>
                      </a:solidFill>
                      <a:prstDash val="solid"/>
                      <a:round/>
                      <a:headEnd type="none" w="med" len="med"/>
                      <a:tailEnd type="none" w="med" len="med"/>
                    </a:lnR>
                    <a:lnT w="12700" cap="flat" cmpd="sng" algn="ctr">
                      <a:solidFill>
                        <a:srgbClr val="B09331"/>
                      </a:solidFill>
                      <a:prstDash val="solid"/>
                      <a:round/>
                      <a:headEnd type="none" w="med" len="med"/>
                      <a:tailEnd type="none" w="med" len="med"/>
                    </a:lnT>
                    <a:lnB w="12700" cap="flat" cmpd="sng" algn="ctr">
                      <a:solidFill>
                        <a:srgbClr val="B09331"/>
                      </a:solidFill>
                      <a:prstDash val="solid"/>
                      <a:round/>
                      <a:headEnd type="none" w="med" len="med"/>
                      <a:tailEnd type="none" w="med" len="med"/>
                    </a:lnB>
                    <a:noFill/>
                  </a:tcPr>
                </a:tc>
                <a:extLst>
                  <a:ext uri="{0D108BD9-81ED-4DB2-BD59-A6C34878D82A}">
                    <a16:rowId xmlns:a16="http://schemas.microsoft.com/office/drawing/2014/main" val="1648768955"/>
                  </a:ext>
                </a:extLst>
              </a:tr>
            </a:tbl>
          </a:graphicData>
        </a:graphic>
      </p:graphicFrame>
    </p:spTree>
    <p:extLst>
      <p:ext uri="{BB962C8B-B14F-4D97-AF65-F5344CB8AC3E}">
        <p14:creationId xmlns:p14="http://schemas.microsoft.com/office/powerpoint/2010/main" val="3206806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1620401" y="2665854"/>
            <a:ext cx="15047200" cy="2172846"/>
            <a:chOff x="0" y="0"/>
            <a:chExt cx="4274726" cy="952936"/>
          </a:xfrm>
        </p:grpSpPr>
        <p:sp>
          <p:nvSpPr>
            <p:cNvPr id="3" name="Freeform 3"/>
            <p:cNvSpPr/>
            <p:nvPr/>
          </p:nvSpPr>
          <p:spPr>
            <a:xfrm>
              <a:off x="0" y="0"/>
              <a:ext cx="4274726" cy="952936"/>
            </a:xfrm>
            <a:custGeom>
              <a:avLst/>
              <a:gdLst/>
              <a:ahLst/>
              <a:cxnLst/>
              <a:rect l="l" t="t" r="r" b="b"/>
              <a:pathLst>
                <a:path w="4274726" h="952936">
                  <a:moveTo>
                    <a:pt x="24327" y="0"/>
                  </a:moveTo>
                  <a:lnTo>
                    <a:pt x="4250399" y="0"/>
                  </a:lnTo>
                  <a:cubicBezTo>
                    <a:pt x="4263834" y="0"/>
                    <a:pt x="4274726" y="10891"/>
                    <a:pt x="4274726" y="24327"/>
                  </a:cubicBezTo>
                  <a:lnTo>
                    <a:pt x="4274726" y="928609"/>
                  </a:lnTo>
                  <a:cubicBezTo>
                    <a:pt x="4274726" y="935061"/>
                    <a:pt x="4272163" y="941248"/>
                    <a:pt x="4267601" y="945810"/>
                  </a:cubicBezTo>
                  <a:cubicBezTo>
                    <a:pt x="4263039" y="950373"/>
                    <a:pt x="4256851" y="952936"/>
                    <a:pt x="4250399" y="952936"/>
                  </a:cubicBezTo>
                  <a:lnTo>
                    <a:pt x="24327" y="952936"/>
                  </a:lnTo>
                  <a:cubicBezTo>
                    <a:pt x="10891" y="952936"/>
                    <a:pt x="0" y="942044"/>
                    <a:pt x="0" y="928609"/>
                  </a:cubicBezTo>
                  <a:lnTo>
                    <a:pt x="0" y="24327"/>
                  </a:lnTo>
                  <a:cubicBezTo>
                    <a:pt x="0" y="10891"/>
                    <a:pt x="10891" y="0"/>
                    <a:pt x="24327" y="0"/>
                  </a:cubicBezTo>
                  <a:close/>
                </a:path>
              </a:pathLst>
            </a:custGeom>
            <a:solidFill>
              <a:srgbClr val="F5F5F5"/>
            </a:solidFill>
          </p:spPr>
          <p:txBody>
            <a:bodyPr/>
            <a:lstStyle/>
            <a:p>
              <a:endParaRPr lang="en-IN"/>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5" name="Group 5"/>
          <p:cNvGrpSpPr/>
          <p:nvPr/>
        </p:nvGrpSpPr>
        <p:grpSpPr>
          <a:xfrm>
            <a:off x="1417220" y="5443121"/>
            <a:ext cx="3372968" cy="3060445"/>
            <a:chOff x="0" y="0"/>
            <a:chExt cx="1816235" cy="1647951"/>
          </a:xfrm>
        </p:grpSpPr>
        <p:sp>
          <p:nvSpPr>
            <p:cNvPr id="6" name="Freeform 6"/>
            <p:cNvSpPr/>
            <p:nvPr/>
          </p:nvSpPr>
          <p:spPr>
            <a:xfrm>
              <a:off x="0" y="0"/>
              <a:ext cx="1816235" cy="1647951"/>
            </a:xfrm>
            <a:custGeom>
              <a:avLst/>
              <a:gdLst/>
              <a:ahLst/>
              <a:cxnLst/>
              <a:rect l="l" t="t" r="r" b="b"/>
              <a:pathLst>
                <a:path w="1816235" h="1647951">
                  <a:moveTo>
                    <a:pt x="117059" y="0"/>
                  </a:moveTo>
                  <a:lnTo>
                    <a:pt x="1699175" y="0"/>
                  </a:lnTo>
                  <a:cubicBezTo>
                    <a:pt x="1763825" y="0"/>
                    <a:pt x="1816235" y="52409"/>
                    <a:pt x="1816235" y="117059"/>
                  </a:cubicBezTo>
                  <a:lnTo>
                    <a:pt x="1816235" y="1530892"/>
                  </a:lnTo>
                  <a:cubicBezTo>
                    <a:pt x="1816235" y="1595542"/>
                    <a:pt x="1763825" y="1647951"/>
                    <a:pt x="1699175" y="1647951"/>
                  </a:cubicBezTo>
                  <a:lnTo>
                    <a:pt x="117059" y="1647951"/>
                  </a:lnTo>
                  <a:cubicBezTo>
                    <a:pt x="52409" y="1647951"/>
                    <a:pt x="0" y="1595542"/>
                    <a:pt x="0" y="1530892"/>
                  </a:cubicBezTo>
                  <a:lnTo>
                    <a:pt x="0" y="117059"/>
                  </a:lnTo>
                  <a:cubicBezTo>
                    <a:pt x="0" y="52409"/>
                    <a:pt x="52409" y="0"/>
                    <a:pt x="117059" y="0"/>
                  </a:cubicBezTo>
                  <a:close/>
                </a:path>
              </a:pathLst>
            </a:custGeom>
            <a:solidFill>
              <a:srgbClr val="F5F5F5"/>
            </a:solidFill>
          </p:spPr>
          <p:txBody>
            <a:bodyPr/>
            <a:lstStyle/>
            <a:p>
              <a:endParaRPr lang="en-IN"/>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 name="Group 8"/>
          <p:cNvGrpSpPr/>
          <p:nvPr/>
        </p:nvGrpSpPr>
        <p:grpSpPr>
          <a:xfrm>
            <a:off x="5446880" y="5443121"/>
            <a:ext cx="3372968" cy="3060445"/>
            <a:chOff x="0" y="0"/>
            <a:chExt cx="1816235" cy="1647951"/>
          </a:xfrm>
        </p:grpSpPr>
        <p:sp>
          <p:nvSpPr>
            <p:cNvPr id="9" name="Freeform 9"/>
            <p:cNvSpPr/>
            <p:nvPr/>
          </p:nvSpPr>
          <p:spPr>
            <a:xfrm>
              <a:off x="0" y="0"/>
              <a:ext cx="1816235" cy="1647951"/>
            </a:xfrm>
            <a:custGeom>
              <a:avLst/>
              <a:gdLst/>
              <a:ahLst/>
              <a:cxnLst/>
              <a:rect l="l" t="t" r="r" b="b"/>
              <a:pathLst>
                <a:path w="1816235" h="1647951">
                  <a:moveTo>
                    <a:pt x="117059" y="0"/>
                  </a:moveTo>
                  <a:lnTo>
                    <a:pt x="1699175" y="0"/>
                  </a:lnTo>
                  <a:cubicBezTo>
                    <a:pt x="1763825" y="0"/>
                    <a:pt x="1816235" y="52409"/>
                    <a:pt x="1816235" y="117059"/>
                  </a:cubicBezTo>
                  <a:lnTo>
                    <a:pt x="1816235" y="1530892"/>
                  </a:lnTo>
                  <a:cubicBezTo>
                    <a:pt x="1816235" y="1595542"/>
                    <a:pt x="1763825" y="1647951"/>
                    <a:pt x="1699175" y="1647951"/>
                  </a:cubicBezTo>
                  <a:lnTo>
                    <a:pt x="117059" y="1647951"/>
                  </a:lnTo>
                  <a:cubicBezTo>
                    <a:pt x="52409" y="1647951"/>
                    <a:pt x="0" y="1595542"/>
                    <a:pt x="0" y="1530892"/>
                  </a:cubicBezTo>
                  <a:lnTo>
                    <a:pt x="0" y="117059"/>
                  </a:lnTo>
                  <a:cubicBezTo>
                    <a:pt x="0" y="52409"/>
                    <a:pt x="52409" y="0"/>
                    <a:pt x="117059" y="0"/>
                  </a:cubicBezTo>
                  <a:close/>
                </a:path>
              </a:pathLst>
            </a:custGeom>
            <a:solidFill>
              <a:srgbClr val="F5F5F5"/>
            </a:solidFill>
          </p:spPr>
          <p:txBody>
            <a:bodyPr/>
            <a:lstStyle/>
            <a:p>
              <a:endParaRPr lang="en-IN"/>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a:off x="9470948" y="5443121"/>
            <a:ext cx="3372968" cy="3060445"/>
            <a:chOff x="0" y="0"/>
            <a:chExt cx="1816235" cy="1647951"/>
          </a:xfrm>
        </p:grpSpPr>
        <p:sp>
          <p:nvSpPr>
            <p:cNvPr id="12" name="Freeform 12"/>
            <p:cNvSpPr/>
            <p:nvPr/>
          </p:nvSpPr>
          <p:spPr>
            <a:xfrm>
              <a:off x="0" y="0"/>
              <a:ext cx="1816235" cy="1647951"/>
            </a:xfrm>
            <a:custGeom>
              <a:avLst/>
              <a:gdLst/>
              <a:ahLst/>
              <a:cxnLst/>
              <a:rect l="l" t="t" r="r" b="b"/>
              <a:pathLst>
                <a:path w="1816235" h="1647951">
                  <a:moveTo>
                    <a:pt x="117059" y="0"/>
                  </a:moveTo>
                  <a:lnTo>
                    <a:pt x="1699175" y="0"/>
                  </a:lnTo>
                  <a:cubicBezTo>
                    <a:pt x="1763825" y="0"/>
                    <a:pt x="1816235" y="52409"/>
                    <a:pt x="1816235" y="117059"/>
                  </a:cubicBezTo>
                  <a:lnTo>
                    <a:pt x="1816235" y="1530892"/>
                  </a:lnTo>
                  <a:cubicBezTo>
                    <a:pt x="1816235" y="1595542"/>
                    <a:pt x="1763825" y="1647951"/>
                    <a:pt x="1699175" y="1647951"/>
                  </a:cubicBezTo>
                  <a:lnTo>
                    <a:pt x="117059" y="1647951"/>
                  </a:lnTo>
                  <a:cubicBezTo>
                    <a:pt x="52409" y="1647951"/>
                    <a:pt x="0" y="1595542"/>
                    <a:pt x="0" y="1530892"/>
                  </a:cubicBezTo>
                  <a:lnTo>
                    <a:pt x="0" y="117059"/>
                  </a:lnTo>
                  <a:cubicBezTo>
                    <a:pt x="0" y="52409"/>
                    <a:pt x="52409" y="0"/>
                    <a:pt x="117059" y="0"/>
                  </a:cubicBezTo>
                  <a:close/>
                </a:path>
              </a:pathLst>
            </a:custGeom>
            <a:solidFill>
              <a:srgbClr val="F5F5F5"/>
            </a:solidFill>
          </p:spPr>
          <p:txBody>
            <a:bodyPr/>
            <a:lstStyle/>
            <a:p>
              <a:endParaRPr lang="en-IN"/>
            </a:p>
          </p:txBody>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4" name="Group 14"/>
          <p:cNvGrpSpPr/>
          <p:nvPr/>
        </p:nvGrpSpPr>
        <p:grpSpPr>
          <a:xfrm>
            <a:off x="13501141" y="5426037"/>
            <a:ext cx="3372968" cy="3060445"/>
            <a:chOff x="0" y="0"/>
            <a:chExt cx="1816235" cy="1647951"/>
          </a:xfrm>
        </p:grpSpPr>
        <p:sp>
          <p:nvSpPr>
            <p:cNvPr id="15" name="Freeform 15"/>
            <p:cNvSpPr/>
            <p:nvPr/>
          </p:nvSpPr>
          <p:spPr>
            <a:xfrm>
              <a:off x="0" y="0"/>
              <a:ext cx="1816235" cy="1647951"/>
            </a:xfrm>
            <a:custGeom>
              <a:avLst/>
              <a:gdLst/>
              <a:ahLst/>
              <a:cxnLst/>
              <a:rect l="l" t="t" r="r" b="b"/>
              <a:pathLst>
                <a:path w="1816235" h="1647951">
                  <a:moveTo>
                    <a:pt x="117059" y="0"/>
                  </a:moveTo>
                  <a:lnTo>
                    <a:pt x="1699175" y="0"/>
                  </a:lnTo>
                  <a:cubicBezTo>
                    <a:pt x="1763825" y="0"/>
                    <a:pt x="1816235" y="52409"/>
                    <a:pt x="1816235" y="117059"/>
                  </a:cubicBezTo>
                  <a:lnTo>
                    <a:pt x="1816235" y="1530892"/>
                  </a:lnTo>
                  <a:cubicBezTo>
                    <a:pt x="1816235" y="1595542"/>
                    <a:pt x="1763825" y="1647951"/>
                    <a:pt x="1699175" y="1647951"/>
                  </a:cubicBezTo>
                  <a:lnTo>
                    <a:pt x="117059" y="1647951"/>
                  </a:lnTo>
                  <a:cubicBezTo>
                    <a:pt x="52409" y="1647951"/>
                    <a:pt x="0" y="1595542"/>
                    <a:pt x="0" y="1530892"/>
                  </a:cubicBezTo>
                  <a:lnTo>
                    <a:pt x="0" y="117059"/>
                  </a:lnTo>
                  <a:cubicBezTo>
                    <a:pt x="0" y="52409"/>
                    <a:pt x="52409" y="0"/>
                    <a:pt x="117059" y="0"/>
                  </a:cubicBezTo>
                  <a:close/>
                </a:path>
              </a:pathLst>
            </a:custGeom>
            <a:solidFill>
              <a:srgbClr val="F5F5F5"/>
            </a:solidFill>
          </p:spPr>
          <p:txBody>
            <a:bodyPr/>
            <a:lstStyle/>
            <a:p>
              <a:endParaRPr lang="en-IN"/>
            </a:p>
          </p:txBody>
        </p:sp>
        <p:sp>
          <p:nvSpPr>
            <p:cNvPr id="16" name="TextBox 16"/>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7" name="Group 17"/>
          <p:cNvGrpSpPr/>
          <p:nvPr/>
        </p:nvGrpSpPr>
        <p:grpSpPr>
          <a:xfrm>
            <a:off x="2348970" y="7748832"/>
            <a:ext cx="1509468" cy="1509468"/>
            <a:chOff x="0" y="0"/>
            <a:chExt cx="812800" cy="812800"/>
          </a:xfrm>
        </p:grpSpPr>
        <p:sp>
          <p:nvSpPr>
            <p:cNvPr id="18" name="Freeform 18"/>
            <p:cNvSpPr/>
            <p:nvPr/>
          </p:nvSpPr>
          <p:spPr>
            <a:xfrm>
              <a:off x="0" y="0"/>
              <a:ext cx="812800" cy="812800"/>
            </a:xfrm>
            <a:custGeom>
              <a:avLst/>
              <a:gdLst/>
              <a:ahLst/>
              <a:cxnLst/>
              <a:rect l="l" t="t" r="r" b="b"/>
              <a:pathLst>
                <a:path w="812800" h="812800">
                  <a:moveTo>
                    <a:pt x="261574" y="0"/>
                  </a:moveTo>
                  <a:lnTo>
                    <a:pt x="551226" y="0"/>
                  </a:lnTo>
                  <a:cubicBezTo>
                    <a:pt x="620600" y="0"/>
                    <a:pt x="687132" y="27559"/>
                    <a:pt x="736187" y="76613"/>
                  </a:cubicBezTo>
                  <a:cubicBezTo>
                    <a:pt x="785241" y="125668"/>
                    <a:pt x="812800" y="192200"/>
                    <a:pt x="812800" y="261574"/>
                  </a:cubicBezTo>
                  <a:lnTo>
                    <a:pt x="812800" y="551226"/>
                  </a:lnTo>
                  <a:cubicBezTo>
                    <a:pt x="812800" y="620600"/>
                    <a:pt x="785241" y="687132"/>
                    <a:pt x="736187" y="736187"/>
                  </a:cubicBezTo>
                  <a:cubicBezTo>
                    <a:pt x="687132" y="785241"/>
                    <a:pt x="620600" y="812800"/>
                    <a:pt x="551226" y="812800"/>
                  </a:cubicBezTo>
                  <a:lnTo>
                    <a:pt x="261574" y="812800"/>
                  </a:lnTo>
                  <a:cubicBezTo>
                    <a:pt x="192200" y="812800"/>
                    <a:pt x="125668" y="785241"/>
                    <a:pt x="76613" y="736187"/>
                  </a:cubicBezTo>
                  <a:cubicBezTo>
                    <a:pt x="27559" y="687132"/>
                    <a:pt x="0" y="620600"/>
                    <a:pt x="0" y="551226"/>
                  </a:cubicBezTo>
                  <a:lnTo>
                    <a:pt x="0" y="261574"/>
                  </a:lnTo>
                  <a:cubicBezTo>
                    <a:pt x="0" y="192200"/>
                    <a:pt x="27559" y="125668"/>
                    <a:pt x="76613" y="76613"/>
                  </a:cubicBezTo>
                  <a:cubicBezTo>
                    <a:pt x="125668" y="27559"/>
                    <a:pt x="192200" y="0"/>
                    <a:pt x="261574" y="0"/>
                  </a:cubicBezTo>
                  <a:close/>
                </a:path>
              </a:pathLst>
            </a:custGeom>
            <a:solidFill>
              <a:srgbClr val="ECA406"/>
            </a:solidFill>
          </p:spPr>
          <p:txBody>
            <a:bodyPr/>
            <a:lstStyle/>
            <a:p>
              <a:endParaRPr lang="en-IN"/>
            </a:p>
          </p:txBody>
        </p:sp>
        <p:sp>
          <p:nvSpPr>
            <p:cNvPr id="19" name="TextBox 19"/>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20" name="Group 20"/>
          <p:cNvGrpSpPr/>
          <p:nvPr/>
        </p:nvGrpSpPr>
        <p:grpSpPr>
          <a:xfrm>
            <a:off x="6378630" y="7748832"/>
            <a:ext cx="1509468" cy="1509468"/>
            <a:chOff x="0" y="0"/>
            <a:chExt cx="812800" cy="812800"/>
          </a:xfrm>
        </p:grpSpPr>
        <p:sp>
          <p:nvSpPr>
            <p:cNvPr id="21" name="Freeform 21"/>
            <p:cNvSpPr/>
            <p:nvPr/>
          </p:nvSpPr>
          <p:spPr>
            <a:xfrm>
              <a:off x="0" y="0"/>
              <a:ext cx="812800" cy="812800"/>
            </a:xfrm>
            <a:custGeom>
              <a:avLst/>
              <a:gdLst/>
              <a:ahLst/>
              <a:cxnLst/>
              <a:rect l="l" t="t" r="r" b="b"/>
              <a:pathLst>
                <a:path w="812800" h="812800">
                  <a:moveTo>
                    <a:pt x="261574" y="0"/>
                  </a:moveTo>
                  <a:lnTo>
                    <a:pt x="551226" y="0"/>
                  </a:lnTo>
                  <a:cubicBezTo>
                    <a:pt x="620600" y="0"/>
                    <a:pt x="687132" y="27559"/>
                    <a:pt x="736187" y="76613"/>
                  </a:cubicBezTo>
                  <a:cubicBezTo>
                    <a:pt x="785241" y="125668"/>
                    <a:pt x="812800" y="192200"/>
                    <a:pt x="812800" y="261574"/>
                  </a:cubicBezTo>
                  <a:lnTo>
                    <a:pt x="812800" y="551226"/>
                  </a:lnTo>
                  <a:cubicBezTo>
                    <a:pt x="812800" y="620600"/>
                    <a:pt x="785241" y="687132"/>
                    <a:pt x="736187" y="736187"/>
                  </a:cubicBezTo>
                  <a:cubicBezTo>
                    <a:pt x="687132" y="785241"/>
                    <a:pt x="620600" y="812800"/>
                    <a:pt x="551226" y="812800"/>
                  </a:cubicBezTo>
                  <a:lnTo>
                    <a:pt x="261574" y="812800"/>
                  </a:lnTo>
                  <a:cubicBezTo>
                    <a:pt x="192200" y="812800"/>
                    <a:pt x="125668" y="785241"/>
                    <a:pt x="76613" y="736187"/>
                  </a:cubicBezTo>
                  <a:cubicBezTo>
                    <a:pt x="27559" y="687132"/>
                    <a:pt x="0" y="620600"/>
                    <a:pt x="0" y="551226"/>
                  </a:cubicBezTo>
                  <a:lnTo>
                    <a:pt x="0" y="261574"/>
                  </a:lnTo>
                  <a:cubicBezTo>
                    <a:pt x="0" y="192200"/>
                    <a:pt x="27559" y="125668"/>
                    <a:pt x="76613" y="76613"/>
                  </a:cubicBezTo>
                  <a:cubicBezTo>
                    <a:pt x="125668" y="27559"/>
                    <a:pt x="192200" y="0"/>
                    <a:pt x="261574" y="0"/>
                  </a:cubicBezTo>
                  <a:close/>
                </a:path>
              </a:pathLst>
            </a:custGeom>
            <a:solidFill>
              <a:srgbClr val="ECA406"/>
            </a:solidFill>
          </p:spPr>
          <p:txBody>
            <a:bodyPr/>
            <a:lstStyle/>
            <a:p>
              <a:endParaRPr lang="en-IN"/>
            </a:p>
          </p:txBody>
        </p:sp>
        <p:sp>
          <p:nvSpPr>
            <p:cNvPr id="22" name="TextBox 22"/>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23" name="Group 23"/>
          <p:cNvGrpSpPr/>
          <p:nvPr/>
        </p:nvGrpSpPr>
        <p:grpSpPr>
          <a:xfrm>
            <a:off x="10402698" y="7748832"/>
            <a:ext cx="1509468" cy="1509468"/>
            <a:chOff x="0" y="0"/>
            <a:chExt cx="812800" cy="812800"/>
          </a:xfrm>
        </p:grpSpPr>
        <p:sp>
          <p:nvSpPr>
            <p:cNvPr id="24" name="Freeform 24"/>
            <p:cNvSpPr/>
            <p:nvPr/>
          </p:nvSpPr>
          <p:spPr>
            <a:xfrm>
              <a:off x="0" y="0"/>
              <a:ext cx="812800" cy="812800"/>
            </a:xfrm>
            <a:custGeom>
              <a:avLst/>
              <a:gdLst/>
              <a:ahLst/>
              <a:cxnLst/>
              <a:rect l="l" t="t" r="r" b="b"/>
              <a:pathLst>
                <a:path w="812800" h="812800">
                  <a:moveTo>
                    <a:pt x="261574" y="0"/>
                  </a:moveTo>
                  <a:lnTo>
                    <a:pt x="551226" y="0"/>
                  </a:lnTo>
                  <a:cubicBezTo>
                    <a:pt x="620600" y="0"/>
                    <a:pt x="687132" y="27559"/>
                    <a:pt x="736187" y="76613"/>
                  </a:cubicBezTo>
                  <a:cubicBezTo>
                    <a:pt x="785241" y="125668"/>
                    <a:pt x="812800" y="192200"/>
                    <a:pt x="812800" y="261574"/>
                  </a:cubicBezTo>
                  <a:lnTo>
                    <a:pt x="812800" y="551226"/>
                  </a:lnTo>
                  <a:cubicBezTo>
                    <a:pt x="812800" y="620600"/>
                    <a:pt x="785241" y="687132"/>
                    <a:pt x="736187" y="736187"/>
                  </a:cubicBezTo>
                  <a:cubicBezTo>
                    <a:pt x="687132" y="785241"/>
                    <a:pt x="620600" y="812800"/>
                    <a:pt x="551226" y="812800"/>
                  </a:cubicBezTo>
                  <a:lnTo>
                    <a:pt x="261574" y="812800"/>
                  </a:lnTo>
                  <a:cubicBezTo>
                    <a:pt x="192200" y="812800"/>
                    <a:pt x="125668" y="785241"/>
                    <a:pt x="76613" y="736187"/>
                  </a:cubicBezTo>
                  <a:cubicBezTo>
                    <a:pt x="27559" y="687132"/>
                    <a:pt x="0" y="620600"/>
                    <a:pt x="0" y="551226"/>
                  </a:cubicBezTo>
                  <a:lnTo>
                    <a:pt x="0" y="261574"/>
                  </a:lnTo>
                  <a:cubicBezTo>
                    <a:pt x="0" y="192200"/>
                    <a:pt x="27559" y="125668"/>
                    <a:pt x="76613" y="76613"/>
                  </a:cubicBezTo>
                  <a:cubicBezTo>
                    <a:pt x="125668" y="27559"/>
                    <a:pt x="192200" y="0"/>
                    <a:pt x="261574" y="0"/>
                  </a:cubicBezTo>
                  <a:close/>
                </a:path>
              </a:pathLst>
            </a:custGeom>
            <a:solidFill>
              <a:srgbClr val="ECA406"/>
            </a:solidFill>
          </p:spPr>
          <p:txBody>
            <a:bodyPr/>
            <a:lstStyle/>
            <a:p>
              <a:endParaRPr lang="en-IN"/>
            </a:p>
          </p:txBody>
        </p:sp>
        <p:sp>
          <p:nvSpPr>
            <p:cNvPr id="25" name="TextBox 25"/>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26" name="Group 26"/>
          <p:cNvGrpSpPr/>
          <p:nvPr/>
        </p:nvGrpSpPr>
        <p:grpSpPr>
          <a:xfrm>
            <a:off x="14426766" y="7748832"/>
            <a:ext cx="1509468" cy="1509468"/>
            <a:chOff x="0" y="0"/>
            <a:chExt cx="812800" cy="812800"/>
          </a:xfrm>
        </p:grpSpPr>
        <p:sp>
          <p:nvSpPr>
            <p:cNvPr id="27" name="Freeform 27"/>
            <p:cNvSpPr/>
            <p:nvPr/>
          </p:nvSpPr>
          <p:spPr>
            <a:xfrm>
              <a:off x="0" y="0"/>
              <a:ext cx="812800" cy="812800"/>
            </a:xfrm>
            <a:custGeom>
              <a:avLst/>
              <a:gdLst/>
              <a:ahLst/>
              <a:cxnLst/>
              <a:rect l="l" t="t" r="r" b="b"/>
              <a:pathLst>
                <a:path w="812800" h="812800">
                  <a:moveTo>
                    <a:pt x="261574" y="0"/>
                  </a:moveTo>
                  <a:lnTo>
                    <a:pt x="551226" y="0"/>
                  </a:lnTo>
                  <a:cubicBezTo>
                    <a:pt x="620600" y="0"/>
                    <a:pt x="687132" y="27559"/>
                    <a:pt x="736187" y="76613"/>
                  </a:cubicBezTo>
                  <a:cubicBezTo>
                    <a:pt x="785241" y="125668"/>
                    <a:pt x="812800" y="192200"/>
                    <a:pt x="812800" y="261574"/>
                  </a:cubicBezTo>
                  <a:lnTo>
                    <a:pt x="812800" y="551226"/>
                  </a:lnTo>
                  <a:cubicBezTo>
                    <a:pt x="812800" y="620600"/>
                    <a:pt x="785241" y="687132"/>
                    <a:pt x="736187" y="736187"/>
                  </a:cubicBezTo>
                  <a:cubicBezTo>
                    <a:pt x="687132" y="785241"/>
                    <a:pt x="620600" y="812800"/>
                    <a:pt x="551226" y="812800"/>
                  </a:cubicBezTo>
                  <a:lnTo>
                    <a:pt x="261574" y="812800"/>
                  </a:lnTo>
                  <a:cubicBezTo>
                    <a:pt x="192200" y="812800"/>
                    <a:pt x="125668" y="785241"/>
                    <a:pt x="76613" y="736187"/>
                  </a:cubicBezTo>
                  <a:cubicBezTo>
                    <a:pt x="27559" y="687132"/>
                    <a:pt x="0" y="620600"/>
                    <a:pt x="0" y="551226"/>
                  </a:cubicBezTo>
                  <a:lnTo>
                    <a:pt x="0" y="261574"/>
                  </a:lnTo>
                  <a:cubicBezTo>
                    <a:pt x="0" y="192200"/>
                    <a:pt x="27559" y="125668"/>
                    <a:pt x="76613" y="76613"/>
                  </a:cubicBezTo>
                  <a:cubicBezTo>
                    <a:pt x="125668" y="27559"/>
                    <a:pt x="192200" y="0"/>
                    <a:pt x="261574" y="0"/>
                  </a:cubicBezTo>
                  <a:close/>
                </a:path>
              </a:pathLst>
            </a:custGeom>
            <a:solidFill>
              <a:srgbClr val="ECA406"/>
            </a:solidFill>
          </p:spPr>
          <p:txBody>
            <a:bodyPr/>
            <a:lstStyle/>
            <a:p>
              <a:endParaRPr lang="en-IN"/>
            </a:p>
          </p:txBody>
        </p:sp>
        <p:sp>
          <p:nvSpPr>
            <p:cNvPr id="28" name="TextBox 28"/>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29" name="AutoShape 29"/>
          <p:cNvSpPr/>
          <p:nvPr/>
        </p:nvSpPr>
        <p:spPr>
          <a:xfrm>
            <a:off x="3858438" y="8465466"/>
            <a:ext cx="2520192" cy="76200"/>
          </a:xfrm>
          <a:prstGeom prst="line">
            <a:avLst/>
          </a:prstGeom>
          <a:ln w="76200" cap="flat">
            <a:solidFill>
              <a:srgbClr val="1A1A1A"/>
            </a:solidFill>
            <a:prstDash val="solid"/>
            <a:headEnd type="none" w="sm" len="sm"/>
            <a:tailEnd type="triangle" w="lg" len="med"/>
          </a:ln>
        </p:spPr>
        <p:txBody>
          <a:bodyPr/>
          <a:lstStyle/>
          <a:p>
            <a:endParaRPr lang="en-IN"/>
          </a:p>
        </p:txBody>
      </p:sp>
      <p:sp>
        <p:nvSpPr>
          <p:cNvPr id="30" name="AutoShape 30"/>
          <p:cNvSpPr/>
          <p:nvPr/>
        </p:nvSpPr>
        <p:spPr>
          <a:xfrm>
            <a:off x="7888098" y="8465466"/>
            <a:ext cx="2520192" cy="0"/>
          </a:xfrm>
          <a:prstGeom prst="line">
            <a:avLst/>
          </a:prstGeom>
          <a:ln w="76200" cap="flat">
            <a:solidFill>
              <a:srgbClr val="1A1A1A"/>
            </a:solidFill>
            <a:prstDash val="solid"/>
            <a:headEnd type="none" w="sm" len="sm"/>
            <a:tailEnd type="triangle" w="lg" len="med"/>
          </a:ln>
        </p:spPr>
        <p:txBody>
          <a:bodyPr/>
          <a:lstStyle/>
          <a:p>
            <a:endParaRPr lang="en-IN"/>
          </a:p>
        </p:txBody>
      </p:sp>
      <p:sp>
        <p:nvSpPr>
          <p:cNvPr id="31" name="AutoShape 31"/>
          <p:cNvSpPr/>
          <p:nvPr/>
        </p:nvSpPr>
        <p:spPr>
          <a:xfrm>
            <a:off x="11912166" y="8465466"/>
            <a:ext cx="2520192" cy="0"/>
          </a:xfrm>
          <a:prstGeom prst="line">
            <a:avLst/>
          </a:prstGeom>
          <a:ln w="76200" cap="flat">
            <a:solidFill>
              <a:srgbClr val="1A1A1A"/>
            </a:solidFill>
            <a:prstDash val="solid"/>
            <a:headEnd type="none" w="sm" len="sm"/>
            <a:tailEnd type="triangle" w="lg" len="med"/>
          </a:ln>
        </p:spPr>
        <p:txBody>
          <a:bodyPr/>
          <a:lstStyle/>
          <a:p>
            <a:endParaRPr lang="en-IN"/>
          </a:p>
        </p:txBody>
      </p:sp>
      <p:sp>
        <p:nvSpPr>
          <p:cNvPr id="32" name="Freeform 32"/>
          <p:cNvSpPr/>
          <p:nvPr/>
        </p:nvSpPr>
        <p:spPr>
          <a:xfrm>
            <a:off x="2624010" y="8084052"/>
            <a:ext cx="959388" cy="839028"/>
          </a:xfrm>
          <a:custGeom>
            <a:avLst/>
            <a:gdLst/>
            <a:ahLst/>
            <a:cxnLst/>
            <a:rect l="l" t="t" r="r" b="b"/>
            <a:pathLst>
              <a:path w="959388" h="839028">
                <a:moveTo>
                  <a:pt x="0" y="0"/>
                </a:moveTo>
                <a:lnTo>
                  <a:pt x="959388" y="0"/>
                </a:lnTo>
                <a:lnTo>
                  <a:pt x="959388" y="839028"/>
                </a:lnTo>
                <a:lnTo>
                  <a:pt x="0" y="839028"/>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3" name="Freeform 33"/>
          <p:cNvSpPr/>
          <p:nvPr/>
        </p:nvSpPr>
        <p:spPr>
          <a:xfrm>
            <a:off x="6602094" y="8244400"/>
            <a:ext cx="1056948" cy="594533"/>
          </a:xfrm>
          <a:custGeom>
            <a:avLst/>
            <a:gdLst/>
            <a:ahLst/>
            <a:cxnLst/>
            <a:rect l="l" t="t" r="r" b="b"/>
            <a:pathLst>
              <a:path w="1056948" h="594533">
                <a:moveTo>
                  <a:pt x="0" y="0"/>
                </a:moveTo>
                <a:lnTo>
                  <a:pt x="1056948" y="0"/>
                </a:lnTo>
                <a:lnTo>
                  <a:pt x="1056948" y="594533"/>
                </a:lnTo>
                <a:lnTo>
                  <a:pt x="0" y="594533"/>
                </a:lnTo>
                <a:lnTo>
                  <a:pt x="0" y="0"/>
                </a:lnTo>
                <a:close/>
              </a:path>
            </a:pathLst>
          </a:custGeom>
          <a:blipFill>
            <a:blip r:embed="rId4" cstate="print">
              <a:extLst>
                <a:ext uri="{96DAC541-7B7A-43D3-8B79-37D633B846F1}">
                  <asvg:svgBlip xmlns:asvg="http://schemas.microsoft.com/office/drawing/2016/SVG/main" r:embed="rId5"/>
                </a:ext>
              </a:extLst>
            </a:blip>
            <a:stretch>
              <a:fillRect/>
            </a:stretch>
          </a:blipFill>
        </p:spPr>
        <p:txBody>
          <a:bodyPr/>
          <a:lstStyle/>
          <a:p>
            <a:endParaRPr lang="en-IN"/>
          </a:p>
        </p:txBody>
      </p:sp>
      <p:sp>
        <p:nvSpPr>
          <p:cNvPr id="34" name="Freeform 34"/>
          <p:cNvSpPr/>
          <p:nvPr/>
        </p:nvSpPr>
        <p:spPr>
          <a:xfrm>
            <a:off x="10616828" y="8155239"/>
            <a:ext cx="1081208" cy="662486"/>
          </a:xfrm>
          <a:custGeom>
            <a:avLst/>
            <a:gdLst/>
            <a:ahLst/>
            <a:cxnLst/>
            <a:rect l="l" t="t" r="r" b="b"/>
            <a:pathLst>
              <a:path w="1081208" h="662486">
                <a:moveTo>
                  <a:pt x="0" y="0"/>
                </a:moveTo>
                <a:lnTo>
                  <a:pt x="1081208" y="0"/>
                </a:lnTo>
                <a:lnTo>
                  <a:pt x="1081208" y="662486"/>
                </a:lnTo>
                <a:lnTo>
                  <a:pt x="0" y="66248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35" name="Freeform 35"/>
          <p:cNvSpPr/>
          <p:nvPr/>
        </p:nvSpPr>
        <p:spPr>
          <a:xfrm>
            <a:off x="14840287" y="7976629"/>
            <a:ext cx="694675" cy="1019707"/>
          </a:xfrm>
          <a:custGeom>
            <a:avLst/>
            <a:gdLst/>
            <a:ahLst/>
            <a:cxnLst/>
            <a:rect l="l" t="t" r="r" b="b"/>
            <a:pathLst>
              <a:path w="694675" h="1019707">
                <a:moveTo>
                  <a:pt x="0" y="0"/>
                </a:moveTo>
                <a:lnTo>
                  <a:pt x="694675" y="0"/>
                </a:lnTo>
                <a:lnTo>
                  <a:pt x="694675" y="1019707"/>
                </a:lnTo>
                <a:lnTo>
                  <a:pt x="0" y="1019707"/>
                </a:lnTo>
                <a:lnTo>
                  <a:pt x="0" y="0"/>
                </a:lnTo>
                <a:close/>
              </a:path>
            </a:pathLst>
          </a:custGeom>
          <a:blipFill>
            <a:blip r:embed="rId8" cstate="print">
              <a:extLst>
                <a:ext uri="{96DAC541-7B7A-43D3-8B79-37D633B846F1}">
                  <asvg:svgBlip xmlns:asvg="http://schemas.microsoft.com/office/drawing/2016/SVG/main" r:embed="rId9"/>
                </a:ext>
              </a:extLst>
            </a:blip>
            <a:stretch>
              <a:fillRect/>
            </a:stretch>
          </a:blipFill>
        </p:spPr>
        <p:txBody>
          <a:bodyPr/>
          <a:lstStyle/>
          <a:p>
            <a:endParaRPr lang="en-IN"/>
          </a:p>
        </p:txBody>
      </p:sp>
      <p:sp>
        <p:nvSpPr>
          <p:cNvPr id="36" name="TextBox 36"/>
          <p:cNvSpPr txBox="1"/>
          <p:nvPr/>
        </p:nvSpPr>
        <p:spPr>
          <a:xfrm>
            <a:off x="1845487" y="6956260"/>
            <a:ext cx="2516435" cy="365100"/>
          </a:xfrm>
          <a:prstGeom prst="rect">
            <a:avLst/>
          </a:prstGeom>
        </p:spPr>
        <p:txBody>
          <a:bodyPr lIns="0" tIns="0" rIns="0" bIns="0" rtlCol="0" anchor="t">
            <a:spAutoFit/>
          </a:bodyPr>
          <a:lstStyle/>
          <a:p>
            <a:pPr marL="0" lvl="0" indent="0" algn="ctr">
              <a:lnSpc>
                <a:spcPts val="2879"/>
              </a:lnSpc>
            </a:pPr>
            <a:r>
              <a:rPr lang="en-US" sz="2400" dirty="0">
                <a:solidFill>
                  <a:srgbClr val="1A1A1A"/>
                </a:solidFill>
                <a:latin typeface="Poppins"/>
              </a:rPr>
              <a:t>Q3 2025</a:t>
            </a:r>
          </a:p>
        </p:txBody>
      </p:sp>
      <p:sp>
        <p:nvSpPr>
          <p:cNvPr id="37" name="TextBox 37"/>
          <p:cNvSpPr txBox="1"/>
          <p:nvPr/>
        </p:nvSpPr>
        <p:spPr>
          <a:xfrm>
            <a:off x="1620401" y="6134252"/>
            <a:ext cx="2966607" cy="778002"/>
          </a:xfrm>
          <a:prstGeom prst="rect">
            <a:avLst/>
          </a:prstGeom>
        </p:spPr>
        <p:txBody>
          <a:bodyPr lIns="0" tIns="0" rIns="0" bIns="0" rtlCol="0" anchor="t">
            <a:spAutoFit/>
          </a:bodyPr>
          <a:lstStyle/>
          <a:p>
            <a:pPr marL="0" lvl="0" indent="0" algn="ctr">
              <a:lnSpc>
                <a:spcPts val="5964"/>
              </a:lnSpc>
            </a:pPr>
            <a:r>
              <a:rPr lang="en-US" sz="4200">
                <a:solidFill>
                  <a:srgbClr val="1A1A1A"/>
                </a:solidFill>
                <a:latin typeface="Telegraf Bold"/>
              </a:rPr>
              <a:t>Prototype</a:t>
            </a:r>
          </a:p>
        </p:txBody>
      </p:sp>
      <p:sp>
        <p:nvSpPr>
          <p:cNvPr id="38" name="TextBox 38"/>
          <p:cNvSpPr txBox="1"/>
          <p:nvPr/>
        </p:nvSpPr>
        <p:spPr>
          <a:xfrm>
            <a:off x="1845487" y="2889931"/>
            <a:ext cx="14090747" cy="2600455"/>
          </a:xfrm>
          <a:prstGeom prst="rect">
            <a:avLst/>
          </a:prstGeom>
        </p:spPr>
        <p:txBody>
          <a:bodyPr wrap="square" lIns="0" tIns="0" rIns="0" bIns="0" rtlCol="0" anchor="t">
            <a:spAutoFit/>
          </a:bodyPr>
          <a:lstStyle/>
          <a:p>
            <a:pPr lvl="0" algn="ctr">
              <a:lnSpc>
                <a:spcPts val="3359"/>
              </a:lnSpc>
            </a:pPr>
            <a:r>
              <a:rPr lang="en-US" sz="2600" dirty="0">
                <a:latin typeface="+mj-lt"/>
              </a:rPr>
              <a:t>Our next step is to scale </a:t>
            </a:r>
            <a:r>
              <a:rPr lang="en-US" sz="2600" dirty="0" err="1">
                <a:latin typeface="+mj-lt"/>
              </a:rPr>
              <a:t>Prihub's</a:t>
            </a:r>
            <a:r>
              <a:rPr lang="en-US" sz="2600" dirty="0">
                <a:latin typeface="+mj-lt"/>
              </a:rPr>
              <a:t> accessible platform nationwide, aiming to onboard 10,000 users in 12 months, and we seek ₹80 lakhs in investor support to fund enhanced AI development, broader outreach, institutional partnerships, </a:t>
            </a:r>
            <a:r>
              <a:rPr lang="en-US" altLang="en-US" sz="2600" dirty="0">
                <a:latin typeface="+mj-lt"/>
              </a:rPr>
              <a:t>Multilingual support, Integration with telehealth services, Personalized dashboards, Community forum integration and Offline support via PWA</a:t>
            </a:r>
          </a:p>
          <a:p>
            <a:pPr lvl="0" algn="just">
              <a:lnSpc>
                <a:spcPts val="3359"/>
              </a:lnSpc>
            </a:pPr>
            <a:endParaRPr lang="en-US" sz="2600" dirty="0">
              <a:latin typeface="+mj-lt"/>
            </a:endParaRPr>
          </a:p>
          <a:p>
            <a:pPr lvl="0" algn="just">
              <a:lnSpc>
                <a:spcPts val="3359"/>
              </a:lnSpc>
            </a:pPr>
            <a:endParaRPr lang="en-US" sz="2600" b="1" dirty="0">
              <a:solidFill>
                <a:srgbClr val="1A1A1A"/>
              </a:solidFill>
              <a:latin typeface="+mj-lt"/>
            </a:endParaRPr>
          </a:p>
        </p:txBody>
      </p:sp>
      <p:sp>
        <p:nvSpPr>
          <p:cNvPr id="39" name="TextBox 39"/>
          <p:cNvSpPr txBox="1"/>
          <p:nvPr/>
        </p:nvSpPr>
        <p:spPr>
          <a:xfrm>
            <a:off x="3328604" y="1493250"/>
            <a:ext cx="11511683" cy="1107996"/>
          </a:xfrm>
          <a:prstGeom prst="rect">
            <a:avLst/>
          </a:prstGeom>
        </p:spPr>
        <p:txBody>
          <a:bodyPr wrap="square" lIns="0" tIns="0" rIns="0" bIns="0" rtlCol="0" anchor="t">
            <a:spAutoFit/>
          </a:bodyPr>
          <a:lstStyle/>
          <a:p>
            <a:pPr marL="0" lvl="0" indent="0" algn="ctr">
              <a:lnSpc>
                <a:spcPts val="8000"/>
              </a:lnSpc>
            </a:pPr>
            <a:r>
              <a:rPr lang="en-US" sz="10000" dirty="0">
                <a:solidFill>
                  <a:schemeClr val="accent6">
                    <a:lumMod val="60000"/>
                    <a:lumOff val="40000"/>
                  </a:schemeClr>
                </a:solidFill>
                <a:latin typeface="Telegraf Bold Bold"/>
              </a:rPr>
              <a:t>Future</a:t>
            </a:r>
            <a:r>
              <a:rPr lang="en-US" sz="8000" dirty="0">
                <a:solidFill>
                  <a:srgbClr val="ECA406"/>
                </a:solidFill>
                <a:latin typeface="Telegraf Bold Bold"/>
              </a:rPr>
              <a:t> </a:t>
            </a:r>
            <a:r>
              <a:rPr lang="en-US" sz="10000" dirty="0">
                <a:latin typeface="Telegraf Bold Bold"/>
              </a:rPr>
              <a:t>Roadmap</a:t>
            </a:r>
          </a:p>
        </p:txBody>
      </p:sp>
      <p:sp>
        <p:nvSpPr>
          <p:cNvPr id="40" name="TextBox 40"/>
          <p:cNvSpPr txBox="1"/>
          <p:nvPr/>
        </p:nvSpPr>
        <p:spPr>
          <a:xfrm>
            <a:off x="5872351" y="6956260"/>
            <a:ext cx="2516435" cy="365100"/>
          </a:xfrm>
          <a:prstGeom prst="rect">
            <a:avLst/>
          </a:prstGeom>
        </p:spPr>
        <p:txBody>
          <a:bodyPr lIns="0" tIns="0" rIns="0" bIns="0" rtlCol="0" anchor="t">
            <a:spAutoFit/>
          </a:bodyPr>
          <a:lstStyle/>
          <a:p>
            <a:pPr marL="0" lvl="0" indent="0" algn="ctr">
              <a:lnSpc>
                <a:spcPts val="2879"/>
              </a:lnSpc>
            </a:pPr>
            <a:r>
              <a:rPr lang="en-US" sz="2400" dirty="0">
                <a:solidFill>
                  <a:srgbClr val="1A1A1A"/>
                </a:solidFill>
                <a:latin typeface="Poppins"/>
              </a:rPr>
              <a:t>Q4 2026</a:t>
            </a:r>
          </a:p>
        </p:txBody>
      </p:sp>
      <p:sp>
        <p:nvSpPr>
          <p:cNvPr id="41" name="TextBox 41"/>
          <p:cNvSpPr txBox="1"/>
          <p:nvPr/>
        </p:nvSpPr>
        <p:spPr>
          <a:xfrm>
            <a:off x="5647265" y="6134252"/>
            <a:ext cx="2966607" cy="778002"/>
          </a:xfrm>
          <a:prstGeom prst="rect">
            <a:avLst/>
          </a:prstGeom>
        </p:spPr>
        <p:txBody>
          <a:bodyPr lIns="0" tIns="0" rIns="0" bIns="0" rtlCol="0" anchor="t">
            <a:spAutoFit/>
          </a:bodyPr>
          <a:lstStyle/>
          <a:p>
            <a:pPr marL="0" lvl="0" indent="0" algn="ctr">
              <a:lnSpc>
                <a:spcPts val="5964"/>
              </a:lnSpc>
            </a:pPr>
            <a:r>
              <a:rPr lang="en-US" sz="4200">
                <a:solidFill>
                  <a:srgbClr val="1A1A1A"/>
                </a:solidFill>
                <a:latin typeface="Telegraf Bold"/>
              </a:rPr>
              <a:t>Launch</a:t>
            </a:r>
          </a:p>
        </p:txBody>
      </p:sp>
      <p:sp>
        <p:nvSpPr>
          <p:cNvPr id="42" name="TextBox 42"/>
          <p:cNvSpPr txBox="1"/>
          <p:nvPr/>
        </p:nvSpPr>
        <p:spPr>
          <a:xfrm>
            <a:off x="9899215" y="6956260"/>
            <a:ext cx="2516435" cy="365100"/>
          </a:xfrm>
          <a:prstGeom prst="rect">
            <a:avLst/>
          </a:prstGeom>
        </p:spPr>
        <p:txBody>
          <a:bodyPr lIns="0" tIns="0" rIns="0" bIns="0" rtlCol="0" anchor="t">
            <a:spAutoFit/>
          </a:bodyPr>
          <a:lstStyle/>
          <a:p>
            <a:pPr marL="0" lvl="0" indent="0" algn="ctr">
              <a:lnSpc>
                <a:spcPts val="2879"/>
              </a:lnSpc>
            </a:pPr>
            <a:r>
              <a:rPr lang="en-US" sz="2400" dirty="0">
                <a:solidFill>
                  <a:srgbClr val="1A1A1A"/>
                </a:solidFill>
                <a:latin typeface="Poppins"/>
              </a:rPr>
              <a:t>Q1 2027</a:t>
            </a:r>
          </a:p>
        </p:txBody>
      </p:sp>
      <p:sp>
        <p:nvSpPr>
          <p:cNvPr id="43" name="TextBox 43"/>
          <p:cNvSpPr txBox="1"/>
          <p:nvPr/>
        </p:nvSpPr>
        <p:spPr>
          <a:xfrm>
            <a:off x="9674129" y="6134252"/>
            <a:ext cx="2966607" cy="778002"/>
          </a:xfrm>
          <a:prstGeom prst="rect">
            <a:avLst/>
          </a:prstGeom>
        </p:spPr>
        <p:txBody>
          <a:bodyPr lIns="0" tIns="0" rIns="0" bIns="0" rtlCol="0" anchor="t">
            <a:spAutoFit/>
          </a:bodyPr>
          <a:lstStyle/>
          <a:p>
            <a:pPr marL="0" lvl="0" indent="0" algn="ctr">
              <a:lnSpc>
                <a:spcPts val="5964"/>
              </a:lnSpc>
            </a:pPr>
            <a:r>
              <a:rPr lang="en-US" sz="4200">
                <a:solidFill>
                  <a:srgbClr val="1A1A1A"/>
                </a:solidFill>
                <a:latin typeface="Telegraf Bold"/>
              </a:rPr>
              <a:t>V2.0</a:t>
            </a:r>
          </a:p>
        </p:txBody>
      </p:sp>
      <p:sp>
        <p:nvSpPr>
          <p:cNvPr id="44" name="TextBox 44"/>
          <p:cNvSpPr txBox="1"/>
          <p:nvPr/>
        </p:nvSpPr>
        <p:spPr>
          <a:xfrm>
            <a:off x="13926079" y="6956260"/>
            <a:ext cx="2516435" cy="365100"/>
          </a:xfrm>
          <a:prstGeom prst="rect">
            <a:avLst/>
          </a:prstGeom>
        </p:spPr>
        <p:txBody>
          <a:bodyPr lIns="0" tIns="0" rIns="0" bIns="0" rtlCol="0" anchor="t">
            <a:spAutoFit/>
          </a:bodyPr>
          <a:lstStyle/>
          <a:p>
            <a:pPr marL="0" lvl="0" indent="0" algn="ctr">
              <a:lnSpc>
                <a:spcPts val="2879"/>
              </a:lnSpc>
            </a:pPr>
            <a:r>
              <a:rPr lang="en-US" sz="2400" dirty="0">
                <a:solidFill>
                  <a:srgbClr val="1A1A1A"/>
                </a:solidFill>
                <a:latin typeface="Poppins"/>
              </a:rPr>
              <a:t>Q1 2027</a:t>
            </a:r>
          </a:p>
        </p:txBody>
      </p:sp>
      <p:sp>
        <p:nvSpPr>
          <p:cNvPr id="45" name="TextBox 45"/>
          <p:cNvSpPr txBox="1"/>
          <p:nvPr/>
        </p:nvSpPr>
        <p:spPr>
          <a:xfrm>
            <a:off x="13700993" y="6134252"/>
            <a:ext cx="2966607" cy="778002"/>
          </a:xfrm>
          <a:prstGeom prst="rect">
            <a:avLst/>
          </a:prstGeom>
        </p:spPr>
        <p:txBody>
          <a:bodyPr lIns="0" tIns="0" rIns="0" bIns="0" rtlCol="0" anchor="t">
            <a:spAutoFit/>
          </a:bodyPr>
          <a:lstStyle/>
          <a:p>
            <a:pPr marL="0" lvl="0" indent="0" algn="ctr">
              <a:lnSpc>
                <a:spcPts val="5964"/>
              </a:lnSpc>
            </a:pPr>
            <a:r>
              <a:rPr lang="en-US" sz="4200">
                <a:solidFill>
                  <a:srgbClr val="1A1A1A"/>
                </a:solidFill>
                <a:latin typeface="Telegraf Bold"/>
              </a:rPr>
              <a:t>V2.2</a:t>
            </a:r>
          </a:p>
        </p:txBody>
      </p:sp>
      <p:pic>
        <p:nvPicPr>
          <p:cNvPr id="53" name="Picture 52">
            <a:extLst>
              <a:ext uri="{FF2B5EF4-FFF2-40B4-BE49-F238E27FC236}">
                <a16:creationId xmlns:a16="http://schemas.microsoft.com/office/drawing/2014/main" id="{38AA03C6-4BDB-79F1-6A54-3DDB6262D21A}"/>
              </a:ext>
            </a:extLst>
          </p:cNvPr>
          <p:cNvPicPr>
            <a:picLocks noChangeAspect="1"/>
          </p:cNvPicPr>
          <p:nvPr/>
        </p:nvPicPr>
        <p:blipFill>
          <a:blip r:embed="rId10" cstate="print"/>
          <a:stretch>
            <a:fillRect/>
          </a:stretch>
        </p:blipFill>
        <p:spPr>
          <a:xfrm>
            <a:off x="15369540" y="0"/>
            <a:ext cx="2918460" cy="1060031"/>
          </a:xfrm>
          <a:prstGeom prst="rect">
            <a:avLst/>
          </a:prstGeom>
        </p:spPr>
      </p:pic>
      <p:pic>
        <p:nvPicPr>
          <p:cNvPr id="54" name="Picture 53">
            <a:extLst>
              <a:ext uri="{FF2B5EF4-FFF2-40B4-BE49-F238E27FC236}">
                <a16:creationId xmlns:a16="http://schemas.microsoft.com/office/drawing/2014/main" id="{2C502715-8A2C-DD2B-E8FA-D67093EC82F3}"/>
              </a:ext>
            </a:extLst>
          </p:cNvPr>
          <p:cNvPicPr>
            <a:picLocks noChangeAspect="1"/>
          </p:cNvPicPr>
          <p:nvPr/>
        </p:nvPicPr>
        <p:blipFill>
          <a:blip r:embed="rId11" cstate="print"/>
          <a:stretch>
            <a:fillRect/>
          </a:stretch>
        </p:blipFill>
        <p:spPr>
          <a:xfrm>
            <a:off x="1" y="289561"/>
            <a:ext cx="3200400" cy="8463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Box 12"/>
          <p:cNvSpPr txBox="1"/>
          <p:nvPr/>
        </p:nvSpPr>
        <p:spPr>
          <a:xfrm>
            <a:off x="1293967" y="2544439"/>
            <a:ext cx="15700066" cy="2948138"/>
          </a:xfrm>
          <a:prstGeom prst="rect">
            <a:avLst/>
          </a:prstGeom>
        </p:spPr>
        <p:txBody>
          <a:bodyPr lIns="0" tIns="0" rIns="0" bIns="0" rtlCol="0" anchor="t">
            <a:spAutoFit/>
          </a:bodyPr>
          <a:lstStyle/>
          <a:p>
            <a:pPr algn="ctr">
              <a:lnSpc>
                <a:spcPts val="22741"/>
              </a:lnSpc>
            </a:pPr>
            <a:r>
              <a:rPr lang="en-US" sz="16243" dirty="0">
                <a:solidFill>
                  <a:srgbClr val="1A1A1A"/>
                </a:solidFill>
                <a:latin typeface="Telegraf Bold Bold"/>
              </a:rPr>
              <a:t>Thank You</a:t>
            </a:r>
          </a:p>
        </p:txBody>
      </p:sp>
      <p:sp>
        <p:nvSpPr>
          <p:cNvPr id="13" name="TextBox 13"/>
          <p:cNvSpPr txBox="1"/>
          <p:nvPr/>
        </p:nvSpPr>
        <p:spPr>
          <a:xfrm>
            <a:off x="1028700" y="5685934"/>
            <a:ext cx="16230600" cy="750570"/>
          </a:xfrm>
          <a:prstGeom prst="rect">
            <a:avLst/>
          </a:prstGeom>
        </p:spPr>
        <p:txBody>
          <a:bodyPr lIns="0" tIns="0" rIns="0" bIns="0" rtlCol="0" anchor="t">
            <a:spAutoFit/>
          </a:bodyPr>
          <a:lstStyle/>
          <a:p>
            <a:pPr algn="ctr">
              <a:lnSpc>
                <a:spcPts val="5880"/>
              </a:lnSpc>
            </a:pPr>
            <a:r>
              <a:rPr lang="en-US" sz="4200" spc="1058" dirty="0">
                <a:solidFill>
                  <a:srgbClr val="ECA406"/>
                </a:solidFill>
                <a:latin typeface="Poppins"/>
              </a:rPr>
              <a:t>FOR YOUR TIME</a:t>
            </a:r>
          </a:p>
        </p:txBody>
      </p:sp>
      <p:sp>
        <p:nvSpPr>
          <p:cNvPr id="14" name="TextBox 14"/>
          <p:cNvSpPr txBox="1"/>
          <p:nvPr/>
        </p:nvSpPr>
        <p:spPr>
          <a:xfrm>
            <a:off x="5486400" y="8981177"/>
            <a:ext cx="7667839" cy="975716"/>
          </a:xfrm>
          <a:prstGeom prst="rect">
            <a:avLst/>
          </a:prstGeom>
        </p:spPr>
        <p:txBody>
          <a:bodyPr wrap="square" lIns="0" tIns="0" rIns="0" bIns="0" rtlCol="0" anchor="t">
            <a:spAutoFit/>
          </a:bodyPr>
          <a:lstStyle/>
          <a:p>
            <a:pPr algn="ctr">
              <a:lnSpc>
                <a:spcPts val="3919"/>
              </a:lnSpc>
            </a:pPr>
            <a:r>
              <a:rPr lang="en-US" sz="2799" dirty="0">
                <a:solidFill>
                  <a:srgbClr val="1A1A1A"/>
                </a:solidFill>
                <a:latin typeface="Poppins"/>
              </a:rPr>
              <a:t>Supported by - Arya Incubation Cell</a:t>
            </a:r>
          </a:p>
          <a:p>
            <a:pPr algn="ctr">
              <a:lnSpc>
                <a:spcPts val="3919"/>
              </a:lnSpc>
            </a:pPr>
            <a:r>
              <a:rPr lang="en-US" sz="2799" dirty="0">
                <a:solidFill>
                  <a:srgbClr val="1A1A1A"/>
                </a:solidFill>
                <a:latin typeface="Poppins"/>
              </a:rPr>
              <a:t> Arya College of IT &amp; Engineering </a:t>
            </a:r>
          </a:p>
        </p:txBody>
      </p:sp>
      <p:pic>
        <p:nvPicPr>
          <p:cNvPr id="3" name="Picture 2">
            <a:extLst>
              <a:ext uri="{FF2B5EF4-FFF2-40B4-BE49-F238E27FC236}">
                <a16:creationId xmlns:a16="http://schemas.microsoft.com/office/drawing/2014/main" id="{9C071416-D799-74CE-F2B7-70338A84B363}"/>
              </a:ext>
            </a:extLst>
          </p:cNvPr>
          <p:cNvPicPr>
            <a:picLocks noChangeAspect="1"/>
          </p:cNvPicPr>
          <p:nvPr/>
        </p:nvPicPr>
        <p:blipFill>
          <a:blip r:embed="rId2" cstate="print"/>
          <a:stretch>
            <a:fillRect/>
          </a:stretch>
        </p:blipFill>
        <p:spPr>
          <a:xfrm>
            <a:off x="7348021" y="7719701"/>
            <a:ext cx="4013599" cy="1457803"/>
          </a:xfrm>
          <a:prstGeom prst="rect">
            <a:avLst/>
          </a:prstGeom>
        </p:spPr>
      </p:pic>
      <p:pic>
        <p:nvPicPr>
          <p:cNvPr id="7" name="Picture 6">
            <a:extLst>
              <a:ext uri="{FF2B5EF4-FFF2-40B4-BE49-F238E27FC236}">
                <a16:creationId xmlns:a16="http://schemas.microsoft.com/office/drawing/2014/main" id="{3F2ED2EA-8C4B-5726-4FA3-39E805F77410}"/>
              </a:ext>
            </a:extLst>
          </p:cNvPr>
          <p:cNvPicPr>
            <a:picLocks noChangeAspect="1"/>
          </p:cNvPicPr>
          <p:nvPr/>
        </p:nvPicPr>
        <p:blipFill>
          <a:blip r:embed="rId3" cstate="print"/>
          <a:stretch>
            <a:fillRect/>
          </a:stretch>
        </p:blipFill>
        <p:spPr>
          <a:xfrm>
            <a:off x="1" y="289561"/>
            <a:ext cx="3200400" cy="8463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itch Deck for SEm VI-Template" id="{3A8F7FCA-7A54-4C46-9F97-69CC3D1727AA}" vid="{5D6A5128-5061-43BC-8C12-9CB9404F0386}"/>
    </a:ext>
  </a:extLst>
</a:theme>
</file>

<file path=docProps/app.xml><?xml version="1.0" encoding="utf-8"?>
<Properties xmlns="http://schemas.openxmlformats.org/officeDocument/2006/extended-properties" xmlns:vt="http://schemas.openxmlformats.org/officeDocument/2006/docPropsVTypes">
  <Template>Pitch Deck for SEm VI-Template</Template>
  <TotalTime>1397</TotalTime>
  <Words>1050</Words>
  <Application>Microsoft Office PowerPoint</Application>
  <PresentationFormat>Custom</PresentationFormat>
  <Paragraphs>179</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Telegraf Bold</vt:lpstr>
      <vt:lpstr>Telegraf Bold Bold</vt:lpstr>
      <vt:lpstr>Poppins</vt:lpstr>
      <vt:lpstr>Times New Roman</vt:lpstr>
      <vt:lpstr>Arial Black</vt:lpstr>
      <vt:lpstr>Lucida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Vyas</dc:creator>
  <cp:lastModifiedBy>pranjal khandelwal</cp:lastModifiedBy>
  <cp:revision>50</cp:revision>
  <dcterms:created xsi:type="dcterms:W3CDTF">2023-06-03T08:00:31Z</dcterms:created>
  <dcterms:modified xsi:type="dcterms:W3CDTF">2026-01-19T06:25:26Z</dcterms:modified>
  <dc:identifier>DAFkpUhujCc</dc:identifier>
</cp:coreProperties>
</file>